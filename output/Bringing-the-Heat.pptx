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c943fc639849a9" /><Relationship Type="http://schemas.openxmlformats.org/officeDocument/2006/relationships/extended-properties" Target="/docProps/app.xml" Id="R6fbd979129de43c9" /><Relationship Type="http://schemas.openxmlformats.org/officeDocument/2006/relationships/officeDocument" Target="/ppt/presentation.xml" Id="R4e7fd5d353994426" /></Relationships>
</file>

<file path=ppt/presentation.xml><?xml version="1.0" encoding="utf-8"?>
<p:presentation xmlns:p="http://schemas.openxmlformats.org/presentationml/2006/main">
  <p:sldMasterIdLst>
    <p:sldMasterId xmlns:r="http://schemas.openxmlformats.org/officeDocument/2006/relationships" id="2147483648" r:id="R6b020836dd244439"/>
  </p:sldMasterIdLst>
  <p:notesMasterIdLst>
    <p:notesMasterId xmlns:r="http://schemas.openxmlformats.org/officeDocument/2006/relationships" r:id="R1b69ab9fc1794b92"/>
  </p:notesMasterIdLst>
  <p:sldIdLst>
    <p:sldId xmlns:r="http://schemas.openxmlformats.org/officeDocument/2006/relationships" id="256" r:id="R1b86b7a3836041f9"/>
    <p:sldId xmlns:r="http://schemas.openxmlformats.org/officeDocument/2006/relationships" id="257" r:id="Rb21cd10ffa9242c0"/>
    <p:sldId xmlns:r="http://schemas.openxmlformats.org/officeDocument/2006/relationships" id="258" r:id="R75f68fd207744013"/>
    <p:sldId xmlns:r="http://schemas.openxmlformats.org/officeDocument/2006/relationships" id="259" r:id="Rbd805e7879d742c6"/>
    <p:sldId xmlns:r="http://schemas.openxmlformats.org/officeDocument/2006/relationships" id="260" r:id="Ref26c4ffa00d43a3"/>
    <p:sldId xmlns:r="http://schemas.openxmlformats.org/officeDocument/2006/relationships" id="261" r:id="Rc7553532f68344e3"/>
    <p:sldId xmlns:r="http://schemas.openxmlformats.org/officeDocument/2006/relationships" id="262" r:id="R0e5e43e9273e4e5e"/>
    <p:sldId xmlns:r="http://schemas.openxmlformats.org/officeDocument/2006/relationships" id="263" r:id="Rf05c071d5ad643f7"/>
    <p:sldId xmlns:r="http://schemas.openxmlformats.org/officeDocument/2006/relationships" id="264" r:id="Rc3916ea88e8a4dea"/>
    <p:sldId xmlns:r="http://schemas.openxmlformats.org/officeDocument/2006/relationships" id="265" r:id="R70161f5ce0e3401e"/>
    <p:sldId xmlns:r="http://schemas.openxmlformats.org/officeDocument/2006/relationships" id="266" r:id="R96b74216fdde4c50"/>
    <p:sldId xmlns:r="http://schemas.openxmlformats.org/officeDocument/2006/relationships" id="267" r:id="R6a389ec511614f02"/>
    <p:sldId xmlns:r="http://schemas.openxmlformats.org/officeDocument/2006/relationships" id="268" r:id="R5aaae1a02f2941cd"/>
    <p:sldId xmlns:r="http://schemas.openxmlformats.org/officeDocument/2006/relationships" id="269" r:id="R8426eddb02014483"/>
    <p:sldId xmlns:r="http://schemas.openxmlformats.org/officeDocument/2006/relationships" id="270" r:id="R4da9463ebd324b2c"/>
    <p:sldId xmlns:r="http://schemas.openxmlformats.org/officeDocument/2006/relationships" id="271" r:id="R6aad3997d07b42b8"/>
    <p:sldId xmlns:r="http://schemas.openxmlformats.org/officeDocument/2006/relationships" id="272" r:id="R3423d6f1c8f344ea"/>
    <p:sldId xmlns:r="http://schemas.openxmlformats.org/officeDocument/2006/relationships" id="273" r:id="Recb1d6320f9b4a7f"/>
    <p:sldId xmlns:r="http://schemas.openxmlformats.org/officeDocument/2006/relationships" id="274" r:id="R1c568befc70b4783"/>
    <p:sldId xmlns:r="http://schemas.openxmlformats.org/officeDocument/2006/relationships" id="275" r:id="R18f6093793794bc2"/>
    <p:sldId xmlns:r="http://schemas.openxmlformats.org/officeDocument/2006/relationships" id="276" r:id="Rc3ccc9bdf42a4824"/>
    <p:sldId xmlns:r="http://schemas.openxmlformats.org/officeDocument/2006/relationships" id="277" r:id="R42f07726f0cd4a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aaaa4cb1a54863" /><Relationship Type="http://schemas.openxmlformats.org/officeDocument/2006/relationships/slideMaster" Target="/ppt/slideMasters/slideMaster1.xml" Id="R6b020836dd244439" /><Relationship Type="http://schemas.openxmlformats.org/officeDocument/2006/relationships/notesMaster" Target="/ppt/notesMasters/notesMaster1.xml" Id="R1b69ab9fc1794b92" /><Relationship Type="http://schemas.openxmlformats.org/officeDocument/2006/relationships/presProps" Target="/ppt/presProps.xml" Id="R29cd39087d884ffd" /><Relationship Type="http://schemas.openxmlformats.org/officeDocument/2006/relationships/tableStyles" Target="/ppt/tableStyles.xml" Id="R2fe87a2b4e444778" /><Relationship Type="http://schemas.openxmlformats.org/officeDocument/2006/relationships/slide" Target="/ppt/slides/slide1.xml" Id="R1b86b7a3836041f9" /><Relationship Type="http://schemas.openxmlformats.org/officeDocument/2006/relationships/slide" Target="/ppt/slides/slide2.xml" Id="Rb21cd10ffa9242c0" /><Relationship Type="http://schemas.openxmlformats.org/officeDocument/2006/relationships/slide" Target="/ppt/slides/slide3.xml" Id="R75f68fd207744013" /><Relationship Type="http://schemas.openxmlformats.org/officeDocument/2006/relationships/slide" Target="/ppt/slides/slide4.xml" Id="Rbd805e7879d742c6" /><Relationship Type="http://schemas.openxmlformats.org/officeDocument/2006/relationships/slide" Target="/ppt/slides/slide5.xml" Id="Ref26c4ffa00d43a3" /><Relationship Type="http://schemas.openxmlformats.org/officeDocument/2006/relationships/slide" Target="/ppt/slides/slide6.xml" Id="Rc7553532f68344e3" /><Relationship Type="http://schemas.openxmlformats.org/officeDocument/2006/relationships/slide" Target="/ppt/slides/slide7.xml" Id="R0e5e43e9273e4e5e" /><Relationship Type="http://schemas.openxmlformats.org/officeDocument/2006/relationships/slide" Target="/ppt/slides/slide8.xml" Id="Rf05c071d5ad643f7" /><Relationship Type="http://schemas.openxmlformats.org/officeDocument/2006/relationships/slide" Target="/ppt/slides/slide9.xml" Id="Rc3916ea88e8a4dea" /><Relationship Type="http://schemas.openxmlformats.org/officeDocument/2006/relationships/slide" Target="/ppt/slides/slide10.xml" Id="R70161f5ce0e3401e" /><Relationship Type="http://schemas.openxmlformats.org/officeDocument/2006/relationships/slide" Target="/ppt/slides/slide11.xml" Id="R96b74216fdde4c50" /><Relationship Type="http://schemas.openxmlformats.org/officeDocument/2006/relationships/slide" Target="/ppt/slides/slide12.xml" Id="R6a389ec511614f02" /><Relationship Type="http://schemas.openxmlformats.org/officeDocument/2006/relationships/slide" Target="/ppt/slides/slide13.xml" Id="R5aaae1a02f2941cd" /><Relationship Type="http://schemas.openxmlformats.org/officeDocument/2006/relationships/slide" Target="/ppt/slides/slide14.xml" Id="R8426eddb02014483" /><Relationship Type="http://schemas.openxmlformats.org/officeDocument/2006/relationships/slide" Target="/ppt/slides/slide15.xml" Id="R4da9463ebd324b2c" /><Relationship Type="http://schemas.openxmlformats.org/officeDocument/2006/relationships/slide" Target="/ppt/slides/slide16.xml" Id="R6aad3997d07b42b8" /><Relationship Type="http://schemas.openxmlformats.org/officeDocument/2006/relationships/slide" Target="/ppt/slides/slide17.xml" Id="R3423d6f1c8f344ea" /><Relationship Type="http://schemas.openxmlformats.org/officeDocument/2006/relationships/slide" Target="/ppt/slides/slide18.xml" Id="Recb1d6320f9b4a7f" /><Relationship Type="http://schemas.openxmlformats.org/officeDocument/2006/relationships/slide" Target="/ppt/slides/slide19.xml" Id="R1c568befc70b4783" /><Relationship Type="http://schemas.openxmlformats.org/officeDocument/2006/relationships/slide" Target="/ppt/slides/slide20.xml" Id="R18f6093793794bc2" /><Relationship Type="http://schemas.openxmlformats.org/officeDocument/2006/relationships/slide" Target="/ppt/slides/slide21.xml" Id="Rc3ccc9bdf42a4824" /><Relationship Type="http://schemas.openxmlformats.org/officeDocument/2006/relationships/slide" Target="/ppt/slides/slide22.xml" Id="R42f07726f0cd4a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fecc4c8c384d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4e8890fd5340da" /><Relationship Type="http://schemas.openxmlformats.org/officeDocument/2006/relationships/notesMaster" Target="/ppt/notesMasters/notesMaster1.xml" Id="R531ee0d1f4dc48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912ee14b7943a7" /><Relationship Type="http://schemas.openxmlformats.org/officeDocument/2006/relationships/notesMaster" Target="/ppt/notesMasters/notesMaster1.xml" Id="R861ea8b78d4d48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4a75fea8564efe" /><Relationship Type="http://schemas.openxmlformats.org/officeDocument/2006/relationships/notesMaster" Target="/ppt/notesMasters/notesMaster1.xml" Id="R6f855b02f25f4f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abb9b8b0404f94" /><Relationship Type="http://schemas.openxmlformats.org/officeDocument/2006/relationships/notesMaster" Target="/ppt/notesMasters/notesMaster1.xml" Id="R5894ebd9f5574e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26006156ed4cac" /><Relationship Type="http://schemas.openxmlformats.org/officeDocument/2006/relationships/notesMaster" Target="/ppt/notesMasters/notesMaster1.xml" Id="Raeb697d010ae47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68227893844c4d" /><Relationship Type="http://schemas.openxmlformats.org/officeDocument/2006/relationships/notesMaster" Target="/ppt/notesMasters/notesMaster1.xml" Id="R595eefc44be742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ae6efaccc94fde" /><Relationship Type="http://schemas.openxmlformats.org/officeDocument/2006/relationships/notesMaster" Target="/ppt/notesMasters/notesMaster1.xml" Id="R3eed43a896df41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dee099daaa4066" /><Relationship Type="http://schemas.openxmlformats.org/officeDocument/2006/relationships/notesMaster" Target="/ppt/notesMasters/notesMaster1.xml" Id="Rdd7cf932228842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a36f4718494b30" /><Relationship Type="http://schemas.openxmlformats.org/officeDocument/2006/relationships/notesMaster" Target="/ppt/notesMasters/notesMaster1.xml" Id="R171b0f4f353d4a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5f547fb3b14902" /><Relationship Type="http://schemas.openxmlformats.org/officeDocument/2006/relationships/notesMaster" Target="/ppt/notesMasters/notesMaster1.xml" Id="R61f015557e6347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227f7909984f1c" /><Relationship Type="http://schemas.openxmlformats.org/officeDocument/2006/relationships/notesMaster" Target="/ppt/notesMasters/notesMaster1.xml" Id="Rcf83fa4fee8946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b36e5808a14be5" /><Relationship Type="http://schemas.openxmlformats.org/officeDocument/2006/relationships/notesMaster" Target="/ppt/notesMasters/notesMaster1.xml" Id="R295889fec5014d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54016881124a52" /><Relationship Type="http://schemas.openxmlformats.org/officeDocument/2006/relationships/notesMaster" Target="/ppt/notesMasters/notesMaster1.xml" Id="R5b96cb8e4e3b49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0939b770b24e09" /><Relationship Type="http://schemas.openxmlformats.org/officeDocument/2006/relationships/notesMaster" Target="/ppt/notesMasters/notesMaster1.xml" Id="R4862ad9ce01046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471b8a3c924dba" /><Relationship Type="http://schemas.openxmlformats.org/officeDocument/2006/relationships/notesMaster" Target="/ppt/notesMasters/notesMaster1.xml" Id="Rfa18485414e044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768c2a076f4e8f" /><Relationship Type="http://schemas.openxmlformats.org/officeDocument/2006/relationships/notesMaster" Target="/ppt/notesMasters/notesMaster1.xml" Id="R8f8c673d96ae4ae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1f61953d3243bd" /><Relationship Type="http://schemas.openxmlformats.org/officeDocument/2006/relationships/notesMaster" Target="/ppt/notesMasters/notesMaster1.xml" Id="R2e78dc77da6a43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e9c1adcef348dd" /><Relationship Type="http://schemas.openxmlformats.org/officeDocument/2006/relationships/notesMaster" Target="/ppt/notesMasters/notesMaster1.xml" Id="R17b8dba1e59043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e3cf6320204331" /><Relationship Type="http://schemas.openxmlformats.org/officeDocument/2006/relationships/notesMaster" Target="/ppt/notesMasters/notesMaster1.xml" Id="Re3ae4082ed454d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a1e16b22904c5d" /><Relationship Type="http://schemas.openxmlformats.org/officeDocument/2006/relationships/notesMaster" Target="/ppt/notesMasters/notesMaster1.xml" Id="R077989249eeb47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584656a783474c" /><Relationship Type="http://schemas.openxmlformats.org/officeDocument/2006/relationships/notesMaster" Target="/ppt/notesMasters/notesMaster1.xml" Id="R91f068400a504c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426c0bca254020" /><Relationship Type="http://schemas.openxmlformats.org/officeDocument/2006/relationships/notesMaster" Target="/ppt/notesMasters/notesMaster1.xml" Id="Rd76fe757ce604f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0:00–0:45</a:t>
            </a:r>
          </a:p>
          <a:p xmlns:a="http://schemas.openxmlformats.org/drawingml/2006/main">
            <a:r>
              <a:t/>
            </a:r>
          </a:p>
          <a:p xmlns:a="http://schemas.openxmlformats.org/drawingml/2006/main">
            <a:r>
              <a:t>OPEN (45 seconds). Ask for a quick show of hands: who has downloaded a model from the Hub, and who has had to support one after deployment? Pause briefly. Say: Today we will follow one model through a repeatable workflow. You will see the code, the evidence that could block a release, and the choices that change when the target hardware changes. Introduce yourself with the supplied bio: Muntaser Syed, Lead GenAI Engineer at Insight Global, formerly NVIDIA. Venue: Miami Dade College. Do not add employer performance claims.</a:t>
            </a:r>
          </a:p>
          <a:p xmlns:a="http://schemas.openxmlformats.org/drawingml/2006/main">
            <a:r>
              <a:t>Transition: A notebook prediction is the beginning of the story.</a:t>
            </a:r>
          </a:p>
          <a:p xmlns:a="http://schemas.openxmlformats.org/drawingml/2006/main">
            <a:r>
              <a:t/>
            </a:r>
          </a:p>
          <a:p xmlns:a="http://schemas.openxmlformats.org/drawingml/2006/main">
            <a:r>
              <a:t>SOURCES</a:t>
            </a:r>
          </a:p>
          <a:p xmlns:a="http://schemas.openxmlformats.org/drawingml/2006/main">
            <a:r>
              <a:t>https://muntasersyed.com</a:t>
            </a:r>
          </a:p>
          <a:p xmlns:a="http://schemas.openxmlformats.org/drawingml/2006/main">
            <a:r>
              <a:t>https://drive.google.com/file/d/1cWJ_CbI899vkuPVZTnfYJgcGdz8jv3t7/view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0:45–2:00</a:t>
            </a:r>
          </a:p>
          <a:p xmlns:a="http://schemas.openxmlformats.org/drawingml/2006/main">
            <a:r>
              <a:t/>
            </a:r>
          </a:p>
          <a:p xmlns:a="http://schemas.openxmlformats.org/drawingml/2006/main">
            <a:r>
              <a:t>75 seconds. Point out the repo QR: it opens the code, Colab notebook, slides, and recorded results. Give a concrete failure: the notebook looks good, but a new package version changes preprocessing, or one minority class collapses behind a high average accuracy. The engineering question is what evidence travels with the weights. Introduce the contract: source revisions, preprocessing, test results, runtime configuration, and rollback. This is our proposed engineering framework, not a promise provided by a library. Students should listen for the role of each tool. Engineers should listen for the boundary between training code and an operational service.</a:t>
            </a:r>
          </a:p>
          <a:p xmlns:a="http://schemas.openxmlformats.org/drawingml/2006/main">
            <a:r>
              <a:t>Transition: First, a real artifact you can inspect.</a:t>
            </a:r>
          </a:p>
          <a:p xmlns:a="http://schemas.openxmlformats.org/drawingml/2006/main">
            <a:r>
              <a:t/>
            </a:r>
          </a:p>
          <a:p xmlns:a="http://schemas.openxmlformats.org/drawingml/2006/main">
            <a:r>
              <a:t>SOURCES</a:t>
            </a:r>
          </a:p>
          <a:p xmlns:a="http://schemas.openxmlformats.org/drawingml/2006/main">
            <a:r>
              <a:t>https://huggingface.co/docs/hub/model-cards</a:t>
            </a:r>
          </a:p>
          <a:p xmlns:a="http://schemas.openxmlformats.org/drawingml/2006/main">
            <a:r>
              <a:t>https://huggingface.co/docs/huggingface_hub/guides/download</a:t>
            </a:r>
          </a:p>
          <a:p xmlns:a="http://schemas.openxmlformats.org/drawingml/2006/main">
            <a:r>
              <a:t>https://github.com/jemsbhai/bringing-the-heat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2:00–4:00</a:t>
            </a:r>
          </a:p>
          <a:p xmlns:a="http://schemas.openxmlformats.org/drawingml/2006/main">
            <a:r>
              <a:t/>
            </a:r>
          </a:p>
          <a:p xmlns:a="http://schemas.openxmlformats.org/drawingml/2006/main">
            <a:r>
              <a:t>2 minutes including browser switch. Open https://huggingface.co/Jemsbhai, then the RGB model card, Files, and commit history. Explain that color channels can carry different payloads and the custom CNN helps unmix the layers. Show one real dataset sample. Open the RGB dataset viewer and point to train/validation/test splits. The palette6 dataset currently exposes a train split only, a useful reminder that evaluation splits need deliberate design. The model cards describe the custom multispecqr library, not a Transformers architecture. The library’s from_pretrained helper is a familiar interface but does not imply automatic PEFT or Optimum support. Do not promise hosted inference from an arbitrary uploaded checkpoint.</a:t>
            </a:r>
          </a:p>
          <a:p xmlns:a="http://schemas.openxmlformats.org/drawingml/2006/main">
            <a:r>
              <a:t>If the venue network stalls, use showcase/README.md, hub_manifest.json, and the embedded dataset sample.</a:t>
            </a:r>
          </a:p>
          <a:p xmlns:a="http://schemas.openxmlformats.org/drawingml/2006/main">
            <a:r>
              <a:t>Transition: The same Hub conventions support a small classifier, a vision model, or a large language model.</a:t>
            </a:r>
          </a:p>
          <a:p xmlns:a="http://schemas.openxmlformats.org/drawingml/2006/main">
            <a:r>
              <a:t/>
            </a:r>
          </a:p>
          <a:p xmlns:a="http://schemas.openxmlformats.org/drawingml/2006/main">
            <a:r>
              <a:t>SOURCES</a:t>
            </a:r>
          </a:p>
          <a:p xmlns:a="http://schemas.openxmlformats.org/drawingml/2006/main">
            <a:r>
              <a:t>https://huggingface.co/Jemsbhai</a:t>
            </a:r>
          </a:p>
          <a:p xmlns:a="http://schemas.openxmlformats.org/drawingml/2006/main">
            <a:r>
              <a:t>https://huggingface.co/Jemsbhai/multispecqr-rgb</a:t>
            </a:r>
          </a:p>
          <a:p xmlns:a="http://schemas.openxmlformats.org/drawingml/2006/main">
            <a:r>
              <a:t>https://huggingface.co/datasets/Jemsbhai/multispecqr-rgb-dataset</a:t>
            </a:r>
          </a:p>
          <a:p xmlns:a="http://schemas.openxmlformats.org/drawingml/2006/main">
            <a:r>
              <a:t>https://github.com/jemsbhai/multispecqr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4:00–5:30</a:t>
            </a:r>
          </a:p>
          <a:p xmlns:a="http://schemas.openxmlformats.org/drawingml/2006/main">
            <a:r>
              <a:t/>
            </a:r>
          </a:p>
          <a:p xmlns:a="http://schemas.openxmlformats.org/drawingml/2006/main">
            <a:r>
              <a:t>90 seconds. Follow the four process nodes from source discovery to deployment. Each lower document is the artifact that travels with the model. This is the only broad ecosystem map before the demo. Distinguish the three named libraries precisely: PEFT changes how many parameters we train; Accelerate handles training execution and distributed concerns; Optimum provides hardware-oriented integrations, with ONNX in a dedicated package. None independently supplies all of production. Evaluate supplies reusable ML metrics; LightEval is a current option for LLM evaluation. Our classifier uses scikit-learn for transparent metric calculations rather than pretending one metric package is mandatory.</a:t>
            </a:r>
          </a:p>
          <a:p xmlns:a="http://schemas.openxmlformats.org/drawingml/2006/main">
            <a:r>
              <a:t>Transition: Keep the problem small enough to inspect the whole path.</a:t>
            </a:r>
          </a:p>
          <a:p xmlns:a="http://schemas.openxmlformats.org/drawingml/2006/main">
            <a:r>
              <a:t>Validation guides training choices. Each optimized runtime is tested again on the locked test set before release; the first evaluation stage is not the final evaluation of exported artifacts.</a:t>
            </a:r>
          </a:p>
          <a:p xmlns:a="http://schemas.openxmlformats.org/drawingml/2006/main">
            <a:r>
              <a:t/>
            </a:r>
          </a:p>
          <a:p xmlns:a="http://schemas.openxmlformats.org/drawingml/2006/main">
            <a:r>
              <a:t>SOURCES</a:t>
            </a:r>
          </a:p>
          <a:p xmlns:a="http://schemas.openxmlformats.org/drawingml/2006/main">
            <a:r>
              <a:t>https://huggingface.co/docs/peft/quicktour</a:t>
            </a:r>
          </a:p>
          <a:p xmlns:a="http://schemas.openxmlformats.org/drawingml/2006/main">
            <a:r>
              <a:t>https://huggingface.co/docs/accelerate/quicktour</a:t>
            </a:r>
          </a:p>
          <a:p xmlns:a="http://schemas.openxmlformats.org/drawingml/2006/main">
            <a:r>
              <a:t>https://huggingface.co/docs/optimum-onnx/index</a:t>
            </a:r>
          </a:p>
          <a:p xmlns:a="http://schemas.openxmlformats.org/drawingml/2006/main">
            <a:r>
              <a:t>https://huggingface.co/docs/evaluate/index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5:30–6:30</a:t>
            </a:r>
          </a:p>
          <a:p xmlns:a="http://schemas.openxmlformats.org/drawingml/2006/main">
            <a:r>
              <a:t/>
            </a:r>
          </a:p>
          <a:p xmlns:a="http://schemas.openxmlformats.org/drawingml/2006/main">
            <a:r>
              <a:t>1 minute. Explain why the main demo uses a compact classifier: students can inspect the errors and the same trained weights can pass through every advertised library. This task is separate from MultiSpecQR. Open the notebook or prepared terminal. All commands live in demo/README.md. Show the prepared data/model revisions and preflight output. Run preparation and the full training before the event; during the talk show a short training invocation only if rehearsal fits the allotted time, otherwise use recorded training results clearly labeled as a prior local run. Do not leave the audience waiting for downloads.</a:t>
            </a:r>
          </a:p>
          <a:p xmlns:a="http://schemas.openxmlformats.org/drawingml/2006/main">
            <a:r>
              <a:t>Transition: A reproducible run starts before the optimizer.</a:t>
            </a:r>
          </a:p>
          <a:p xmlns:a="http://schemas.openxmlformats.org/drawingml/2006/main">
            <a:r>
              <a:t/>
            </a:r>
          </a:p>
          <a:p xmlns:a="http://schemas.openxmlformats.org/drawingml/2006/main">
            <a:r>
              <a:t>SOURCES</a:t>
            </a:r>
          </a:p>
          <a:p xmlns:a="http://schemas.openxmlformats.org/drawingml/2006/main">
            <a:r>
              <a:t>https://huggingface.co/distilbert/distilbert-base-uncased</a:t>
            </a:r>
          </a:p>
          <a:p xmlns:a="http://schemas.openxmlformats.org/drawingml/2006/main">
            <a:r>
              <a:t>https://huggingface.co/datasets/fancyzhx/ag_news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6:30–8:00</a:t>
            </a:r>
          </a:p>
          <a:p xmlns:a="http://schemas.openxmlformats.org/drawingml/2006/main">
            <a:r>
              <a:t/>
            </a:r>
          </a:p>
          <a:p xmlns:a="http://schemas.openxmlformats.org/drawingml/2006/main">
            <a:r>
              <a:t>90 seconds. The diagram separates source provenance from the decisions made with each split. The executable script resolves and records full revisions; the model and tokenizer also have pinned versions. A repository name is an address, while a full commit SHA identifies a version. Show the actual manifest. Training fits parameters. Validation selects settings. The held-out test estimates performance after choices are locked. Normalize and check duplicate text across splits; real projects also split by user, source, or time when leakage follows those relationships. This classroom slice is not proof for a future news distribution. Streaming is useful for large sources, but requires explicit sampling and shuffling decisions.</a:t>
            </a:r>
          </a:p>
          <a:p xmlns:a="http://schemas.openxmlformats.org/drawingml/2006/main">
            <a:r>
              <a:t>Transition: Before adapting anything, we need an honest baseline.</a:t>
            </a:r>
          </a:p>
          <a:p xmlns:a="http://schemas.openxmlformats.org/drawingml/2006/main">
            <a:r>
              <a:t/>
            </a:r>
          </a:p>
          <a:p xmlns:a="http://schemas.openxmlformats.org/drawingml/2006/main">
            <a:r>
              <a:t>SOURCES</a:t>
            </a:r>
          </a:p>
          <a:p xmlns:a="http://schemas.openxmlformats.org/drawingml/2006/main">
            <a:r>
              <a:t>https://huggingface.co/docs/huggingface_hub/guides/download</a:t>
            </a:r>
          </a:p>
          <a:p xmlns:a="http://schemas.openxmlformats.org/drawingml/2006/main">
            <a:r>
              <a:t>https://huggingface.co/docs/datasets/stream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8:00–10:00</a:t>
            </a:r>
          </a:p>
          <a:p xmlns:a="http://schemas.openxmlformats.org/drawingml/2006/main">
            <a:r>
              <a:t/>
            </a:r>
          </a:p>
          <a:p xmlns:a="http://schemas.openxmlformats.org/drawingml/2006/main">
            <a:r>
              <a:t>2 minutes. Explain the matrix idea without requiring linear algebra: keep the main model, learn a compact adjustment. For a d_out by d_in matrix, full tuning updates d_out*d_in entries; rank-r LoRA adds r*(d_in+d_out), where r is usually much smaller than either dimension. This is parameter arithmetic, not a claim about equal quality or speed. The task classifier head still trains and must be saved. For this demo the starting classification head is newly initialized, so an untrained base would be a sanity check, not a strong pretrained news baseline. The evaluation report includes a majority-class baseline. A serious study would also compare full fine-tuning and simpler task-specific alternatives.</a:t>
            </a:r>
          </a:p>
          <a:p xmlns:a="http://schemas.openxmlformats.org/drawingml/2006/main">
            <a:r>
              <a:t>Transition: Here is the part that attaches the adapter.</a:t>
            </a:r>
          </a:p>
          <a:p xmlns:a="http://schemas.openxmlformats.org/drawingml/2006/main">
            <a:r>
              <a:t>Recorded laptop training.json: 741,124 trainable parameters out of 67,697,672 total (1.0947555%). This is trainable parameter share, not a measured speedup over full fine-tuning. No full-fine-tune baseline was run.</a:t>
            </a:r>
          </a:p>
          <a:p xmlns:a="http://schemas.openxmlformats.org/drawingml/2006/main">
            <a:r>
              <a:t/>
            </a:r>
          </a:p>
          <a:p xmlns:a="http://schemas.openxmlformats.org/drawingml/2006/main">
            <a:r>
              <a:t>SOURCES</a:t>
            </a:r>
          </a:p>
          <a:p xmlns:a="http://schemas.openxmlformats.org/drawingml/2006/main">
            <a:r>
              <a:t>https://huggingface.co/docs/peft/main/conceptual_guides/lora</a:t>
            </a:r>
          </a:p>
          <a:p xmlns:a="http://schemas.openxmlformats.org/drawingml/2006/main">
            <a:r>
              <a:t>https://huggingface.co/docs/peft/quicktour</a:t>
            </a:r>
          </a:p>
          <a:p xmlns:a="http://schemas.openxmlformats.org/drawingml/2006/main">
            <a:r>
              <a:t>demo/results/training.json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10:00–12:00</a:t>
            </a:r>
          </a:p>
          <a:p xmlns:a="http://schemas.openxmlformats.org/drawingml/2006/main">
            <a:r>
              <a:t/>
            </a:r>
          </a:p>
          <a:p xmlns:a="http://schemas.openxmlformats.org/drawingml/2006/main">
            <a:r>
              <a:t>2 minutes. Show the actual LoraConfig in demo.py and printed trainable count. q_lin and v_lin are DistilBERT-specific module names, not universal choices. Explain rank as a tunable capacity parameter, chosen with validation rather than the test set. PEFT SEQ_CLS handles standard classifier head saving; the executable code explicitly keeps the needed modules. The saved adapter is not a standalone full model. The lecture uses ordinary LoRA. The appendix explains QLoRA for a causal LLM without claiming our classifier run demonstrates it. Avoid promising inference gains from LoRA by itself.</a:t>
            </a:r>
          </a:p>
          <a:p xmlns:a="http://schemas.openxmlformats.org/drawingml/2006/main">
            <a:r>
              <a:t>Transition: The learning code also needs to run on the hardware we have.</a:t>
            </a:r>
          </a:p>
          <a:p xmlns:a="http://schemas.openxmlformats.org/drawingml/2006/main">
            <a:r>
              <a:t/>
            </a:r>
          </a:p>
          <a:p xmlns:a="http://schemas.openxmlformats.org/drawingml/2006/main">
            <a:r>
              <a:t>SOURCES</a:t>
            </a:r>
          </a:p>
          <a:p xmlns:a="http://schemas.openxmlformats.org/drawingml/2006/main">
            <a:r>
              <a:t>https://huggingface.co/docs/peft/quicktour</a:t>
            </a:r>
          </a:p>
          <a:p xmlns:a="http://schemas.openxmlformats.org/drawingml/2006/main">
            <a:r>
              <a:t>https://huggingface.co/docs/peft/developer_guides/quantization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a:t>
            </a:r>
          </a:p>
          <a:p xmlns:a="http://schemas.openxmlformats.org/drawingml/2006/main">
            <a:r>
              <a:t/>
            </a:r>
          </a:p>
          <a:p xmlns:a="http://schemas.openxmlformats.org/drawingml/2006/main">
            <a:r>
              <a:t>2 minutes. The top flow repeats for each batch. The bottom row shows launch strategies, with the one-device path demonstrated and distributed paths kept as extensions. In the full executable loop, the executable also clears gradients, moves data through prepared loaders, controls seeds, and saves on the main process. Explain that DDP replicates a model per process; more GPUs do not automatically make a too-large model fit. FSDP/DeepSpeed shard state but add configuration and communication costs. Show accelerate launch in the runbook. Our local rehearsal validates one process; multi-GPU is an explicit extension that needs a cluster test. Inference device_map='auto' is a different path and should not be taught as distributed training.</a:t>
            </a:r>
          </a:p>
          <a:p xmlns:a="http://schemas.openxmlformats.org/drawingml/2006/main">
            <a:r>
              <a:t>Transition: The trained adapter now becomes a candidate artifact.</a:t>
            </a:r>
          </a:p>
          <a:p xmlns:a="http://schemas.openxmlformats.org/drawingml/2006/main">
            <a:r>
              <a:t/>
            </a:r>
          </a:p>
          <a:p xmlns:a="http://schemas.openxmlformats.org/drawingml/2006/main">
            <a:r>
              <a:t>SOURCES</a:t>
            </a:r>
          </a:p>
          <a:p xmlns:a="http://schemas.openxmlformats.org/drawingml/2006/main">
            <a:r>
              <a:t>https://huggingface.co/docs/accelerate/quicktour</a:t>
            </a:r>
          </a:p>
          <a:p xmlns:a="http://schemas.openxmlformats.org/drawingml/2006/main">
            <a:r>
              <a:t>https://huggingface.co/docs/accelerate/concept_guides/big_model_inference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14:00–16:00</a:t>
            </a:r>
          </a:p>
          <a:p xmlns:a="http://schemas.openxmlformats.org/drawingml/2006/main">
            <a:r>
              <a:t/>
            </a:r>
          </a:p>
          <a:p xmlns:a="http://schemas.openxmlformats.org/drawingml/2006/main">
            <a:r>
              <a:t>2 minutes including the live checkpoint. These native charts read the three epochs directly from demo/results/training.json, the recorded laptop LoRA run. Training loss falls from 0.4946 to 0.2452, while validation macro-F1 stays near 0.907 and dips in epoch 2. The separate F1 axis spans 0 to 1 so small changes are not exaggerated. Epoch 3 has the highest validation macro-F1 (0.907437) and determines the saved checkpoint. The validation set has 400 rows. Training uses an RTX 4090 Laptop GPU; hosted Colab is a separate verified T4 run with different values. Do not claim a steady accuracy rise or compare LoRA speed with full fine-tuning, because no such baseline was run.</a:t>
            </a:r>
          </a:p>
          <a:p xmlns:a="http://schemas.openxmlformats.org/drawingml/2006/main">
            <a:r>
              <a:t>Open the saved adapter, its base revision and task head. Show one prediction and one failure. State whether the live run completed before the talk, and use the recorded artifacts if the job is still running.</a:t>
            </a:r>
          </a:p>
          <a:p xmlns:a="http://schemas.openxmlformats.org/drawingml/2006/main">
            <a:r>
              <a:t>Transition: A convincing example is not the release decision.</a:t>
            </a:r>
          </a:p>
          <a:p xmlns:a="http://schemas.openxmlformats.org/drawingml/2006/main">
            <a:r>
              <a:t>Chart values are rounded to 12 significant digits for portable native Excel workbooks; the referenced JSON preserves the complete recorded precision.</a:t>
            </a:r>
          </a:p>
          <a:p xmlns:a="http://schemas.openxmlformats.org/drawingml/2006/main">
            <a:r>
              <a:t/>
            </a:r>
          </a:p>
          <a:p xmlns:a="http://schemas.openxmlformats.org/drawingml/2006/main">
            <a:r>
              <a:t>SOURCES</a:t>
            </a:r>
          </a:p>
          <a:p xmlns:a="http://schemas.openxmlformats.org/drawingml/2006/main">
            <a:r>
              <a:t>demo/results/training.json</a:t>
            </a:r>
          </a:p>
          <a:p xmlns:a="http://schemas.openxmlformats.org/drawingml/2006/main">
            <a:r>
              <a:t>demo/results/colab_validation.json</a:t>
            </a:r>
          </a:p>
          <a:p xmlns:a="http://schemas.openxmlformats.org/drawingml/2006/main">
            <a:r>
              <a:t>https://huggingface.co/docs/peft/quicktour#save-model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16:00–18:30</a:t>
            </a:r>
          </a:p>
          <a:p xmlns:a="http://schemas.openxmlformats.org/drawingml/2006/main">
            <a:r>
              <a:t/>
            </a:r>
          </a:p>
          <a:p xmlns:a="http://schemas.openxmlformats.org/drawingml/2006/main">
            <a:r>
              <a:t>2 minutes 30 seconds. Show the actual evaluation JSON and confusion matrix. Accuracy is useful, but macro-F1 weights classes equally; per-class recall reveals a weak class. A small held-out slice has uncertainty, and news examples do not validate safety-critical decisions or distribution shift. Show gate thresholds set in config before the test run. Run the deliberately failing gate fixture, explicitly label it synthetic test data, and show the nonzero exit status. Then show the real candidate gate outcome without changing thresholds to obtain a pass. A failed gate is a successful engineering demonstration. For generative tasks, swap in task-specific exact match/schema checks, groundedness/factuality review, and calibrated human review; a single judge score is insufficient.</a:t>
            </a:r>
          </a:p>
          <a:p xmlns:a="http://schemas.openxmlformats.org/drawingml/2006/main">
            <a:r>
              <a:t>Transition: The runtime artifact gets evaluated too.</a:t>
            </a:r>
          </a:p>
          <a:p xmlns:a="http://schemas.openxmlformats.org/drawingml/2006/main">
            <a:r>
              <a:t>The decision flow shows the actual recorded laptop gate policy. The full gate also checks split identity, exact artifact hashes, benchmark protocol, and complete class reports. Hosted Colab uses its documented CPU budget and separate report; do not copy laptop latency expectations to its shared CPU.</a:t>
            </a:r>
          </a:p>
          <a:p xmlns:a="http://schemas.openxmlformats.org/drawingml/2006/main">
            <a:r>
              <a:t/>
            </a:r>
          </a:p>
          <a:p xmlns:a="http://schemas.openxmlformats.org/drawingml/2006/main">
            <a:r>
              <a:t>SOURCES</a:t>
            </a:r>
          </a:p>
          <a:p xmlns:a="http://schemas.openxmlformats.org/drawingml/2006/main">
            <a:r>
              <a:t>https://huggingface.co/docs/evaluate/index</a:t>
            </a:r>
          </a:p>
          <a:p xmlns:a="http://schemas.openxmlformats.org/drawingml/2006/main">
            <a:r>
              <a:t>https://huggingface.co/docs/lighteval/main/index</a:t>
            </a:r>
          </a:p>
          <a:p xmlns:a="http://schemas.openxmlformats.org/drawingml/2006/main">
            <a:r>
              <a:t>demo/results/gate.json</a:t>
            </a:r>
          </a:p>
          <a:p xmlns:a="http://schemas.openxmlformats.org/drawingml/2006/main">
            <a:r>
              <a:t>demo/results/gate_deliberate_failure.json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18:30–20:30</a:t>
            </a:r>
          </a:p>
          <a:p xmlns:a="http://schemas.openxmlformats.org/drawingml/2006/main">
            <a:r>
              <a:t/>
            </a:r>
          </a:p>
          <a:p xmlns:a="http://schemas.openxmlformats.org/drawingml/2006/main">
            <a:r>
              <a:t>2 minutes. Show the executable export command or the completed exported artifacts, according to rehearsal timing. Follow the merge, export and quantization arrows. The executable quantizer construction and save calls are in demo.py. Evaluate both ONNX FP32 and INT8 using the same held-out rows before promoting the runtime package. Our selected architecture supports this path. Dynamic INT8 changes runtime arithmetic and storage; it differs from QLoRA's 4-bit base loading for adapter training. AVX2 is our x86 target choice, not a universal configuration for ARM or GPUs. Static quantization would need representative calibration data from training/calibration sources, never tuning on the held-out test. Save tokenizer, configuration and label mapping beside the exported model.</a:t>
            </a:r>
          </a:p>
          <a:p xmlns:a="http://schemas.openxmlformats.org/drawingml/2006/main">
            <a:r>
              <a:t>Transition: Smaller files are only one part of the result.</a:t>
            </a:r>
          </a:p>
          <a:p xmlns:a="http://schemas.openxmlformats.org/drawingml/2006/main">
            <a:r>
              <a:t/>
            </a:r>
          </a:p>
          <a:p xmlns:a="http://schemas.openxmlformats.org/drawingml/2006/main">
            <a:r>
              <a:t>SOURCES</a:t>
            </a:r>
          </a:p>
          <a:p xmlns:a="http://schemas.openxmlformats.org/drawingml/2006/main">
            <a:r>
              <a:t>https://huggingface.co/docs/optimum-onnx/installation</a:t>
            </a:r>
          </a:p>
          <a:p xmlns:a="http://schemas.openxmlformats.org/drawingml/2006/main">
            <a:r>
              <a:t>https://huggingface.co/docs/optimum-onnx/onnxruntime/quickstart</a:t>
            </a:r>
          </a:p>
          <a:p xmlns:a="http://schemas.openxmlformats.org/drawingml/2006/main">
            <a:r>
              <a:t>https://huggingface.co/docs/optimum-onnx/onnxruntime/usage_guides/quantization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20:30–22:00</a:t>
            </a:r>
          </a:p>
          <a:p xmlns:a="http://schemas.openxmlformats.org/drawingml/2006/main">
            <a:r>
              <a:t/>
            </a:r>
          </a:p>
          <a:p xmlns:a="http://schemas.openxmlformats.org/drawingml/2006/main">
            <a:r>
              <a:t>90 seconds. These are actual measurements from the local rehearsal on September 17, 2026. The test set is a balanced, fixed 800-example slice with 200 examples per class. Quality uses the same held-out rows for the merged PyTorch model and the two exported packages. The benchmark is one warm sequential CPU run, not a concurrent service capacity test. All models use 4 CPU threads and fixed 128-token padding, 100 requests after 10 warm-ups. Timings include tokenization and forward execution, excluding startup, network, and queueing. Weight size excludes tokenizer/config files. Hardware: Intel Core i9-14900HX; training used an RTX 4090 Laptop GPU, but every latency here is CPU.</a:t>
            </a:r>
          </a:p>
          <a:p xmlns:a="http://schemas.openxmlformats.org/drawingml/2006/main">
            <a:r>
              <a:t/>
            </a:r>
          </a:p>
          <a:p xmlns:a="http://schemas.openxmlformats.org/drawingml/2006/main">
            <a:r>
              <a:t>PyTorch FP32: accuracy 90.25%, macro-F1 0.902308, p50 33.48 ms, p95 59.81 ms, weights 267838720 bytes.</a:t>
            </a:r>
          </a:p>
          <a:p xmlns:a="http://schemas.openxmlformats.org/drawingml/2006/main">
            <a:r>
              <a:t>ONNX FP32: accuracy 90.25%, macro-F1 0.902308, p50 30.33 ms, p95 41.56 ms, weights 267938323 bytes.</a:t>
            </a:r>
          </a:p>
          <a:p xmlns:a="http://schemas.openxmlformats.org/drawingml/2006/main">
            <a:r>
              <a:t>ONNX INT8: accuracy 90.50%, macro-F1 0.904809, p50 25.82 ms, p95 33.57 ms, weights 67370935 bytes.</a:t>
            </a:r>
          </a:p>
          <a:p xmlns:a="http://schemas.openxmlformats.org/drawingml/2006/main">
            <a:r>
              <a:t/>
            </a:r>
          </a:p>
          <a:p xmlns:a="http://schemas.openxmlformats.org/drawingml/2006/main">
            <a:r>
              <a:t>The small INT8 quality difference is not evidence of an accuracy improvement. Quantization can trade quality for footprint and speed, so inspect the actual errors and gate. This measured run does not predict a phone, microcontroller, or other CPU. Rehearse under event conditions. Show the source JSON and current artifact hashes if asked.</a:t>
            </a:r>
          </a:p>
          <a:p xmlns:a="http://schemas.openxmlformats.org/drawingml/2006/main">
            <a:r>
              <a:t>Transition: Deployment target determines the next branch.</a:t>
            </a:r>
          </a:p>
          <a:p xmlns:a="http://schemas.openxmlformats.org/drawingml/2006/main">
            <a:r>
              <a:t>The three native editable charts load their values directly from the recorded laptop evaluation and benchmark JSON. Each metric has its own axis and units. Macro-F1 spans 0–1; latency and weight-size bars start at zero. Weight size uses MiB = bytes / 1,048,576. The charts compare runtime representations of one trained candidate, not LoRA versus full fine-tuning. This laptop benchmark is separate from hosted Colab and its CPU measurements.</a:t>
            </a:r>
          </a:p>
          <a:p xmlns:a="http://schemas.openxmlformats.org/drawingml/2006/main">
            <a:r>
              <a:t>Chart values are rounded to 12 significant digits for portable native Excel workbooks; the referenced JSON preserves the complete recorded precision.</a:t>
            </a:r>
          </a:p>
          <a:p xmlns:a="http://schemas.openxmlformats.org/drawingml/2006/main">
            <a:r>
              <a:t/>
            </a:r>
          </a:p>
          <a:p xmlns:a="http://schemas.openxmlformats.org/drawingml/2006/main">
            <a:r>
              <a:t>SOURCES</a:t>
            </a:r>
          </a:p>
          <a:p xmlns:a="http://schemas.openxmlformats.org/drawingml/2006/main">
            <a:r>
              <a:t>demo/results/evaluation.json</a:t>
            </a:r>
          </a:p>
          <a:p xmlns:a="http://schemas.openxmlformats.org/drawingml/2006/main">
            <a:r>
              <a:t>demo/results/benchmark.json</a:t>
            </a:r>
          </a:p>
          <a:p xmlns:a="http://schemas.openxmlformats.org/drawingml/2006/main">
            <a:r>
              <a:t>demo/results/gate.json</a:t>
            </a:r>
          </a:p>
          <a:p xmlns:a="http://schemas.openxmlformats.org/drawingml/2006/main">
            <a:r>
              <a:t>https://huggingface.co/docs/optimum-onnx/onnxruntime/usage_guides/quantization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22:00–24:00</a:t>
            </a:r>
          </a:p>
          <a:p xmlns:a="http://schemas.openxmlformats.org/drawingml/2006/main">
            <a:r>
              <a:t/>
            </a:r>
          </a:p>
          <a:p xmlns:a="http://schemas.openxmlformats.org/drawingml/2006/main">
            <a:r>
              <a:t>2 minutes. Separate the demonstrated path from architecture guidance. The laptop classifier is a constrained CPU example, not an actual phone deployment. Transformers.js is a separate supported-model/export path. A causal LLM served with vLLM is a different model and runtime. Tensor parallelism partitions a model to fit/work across GPUs; replicas improve capacity for independent requests. KV cache and activation memory matter in addition to weights. Endpoints offers managed dedicated deployment but still needs appropriate hardware, limits, tests, and monitoring. TGI is in maintenance mode in current docs; vLLM/SGLang are current new-deployment examples.</a:t>
            </a:r>
          </a:p>
          <a:p xmlns:a="http://schemas.openxmlformats.org/drawingml/2006/main">
            <a:r>
              <a:t>Transition: Serving the file still leaves release operations.</a:t>
            </a:r>
          </a:p>
          <a:p xmlns:a="http://schemas.openxmlformats.org/drawingml/2006/main">
            <a:r>
              <a:t/>
            </a:r>
          </a:p>
          <a:p xmlns:a="http://schemas.openxmlformats.org/drawingml/2006/main">
            <a:r>
              <a:t>SOURCES</a:t>
            </a:r>
          </a:p>
          <a:p xmlns:a="http://schemas.openxmlformats.org/drawingml/2006/main">
            <a:r>
              <a:t>https://huggingface.co/docs/transformers.js/index</a:t>
            </a:r>
          </a:p>
          <a:p xmlns:a="http://schemas.openxmlformats.org/drawingml/2006/main">
            <a:r>
              <a:t>https://docs.vllm.ai/en/latest/serving/parallelism_scaling/</a:t>
            </a:r>
          </a:p>
          <a:p xmlns:a="http://schemas.openxmlformats.org/drawingml/2006/main">
            <a:r>
              <a:t>https://huggingface.co/docs/inference-endpoints/en/index</a:t>
            </a:r>
          </a:p>
          <a:p xmlns:a="http://schemas.openxmlformats.org/drawingml/2006/main">
            <a:r>
              <a:t>https://huggingface.co/docs/text-generation-inference/en/index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24:00–26:00</a:t>
            </a:r>
          </a:p>
          <a:p xmlns:a="http://schemas.openxmlformats.org/drawingml/2006/main">
            <a:r>
              <a:t/>
            </a:r>
          </a:p>
          <a:p xmlns:a="http://schemas.openxmlformats.org/drawingml/2006/main">
            <a:r>
              <a:t>2 minutes including the Colab demo. Open notebook section 8, change HEADLINES, and rerun the inference cell. Point to the exported INT8 artifact that the cell loads and show the resulting predictions. The local Gradio app is an optional fallback if Colab is unavailable. This demonstrates the exported model artifact in an interactive demo. Explain the remaining service work: auth for sensitive access, input limits, health/readiness checks, concurrency/load testing, structured logs, monitored quality, and rollback to an immutable artifact. A Space is useful for sharing a demo; a dedicated Endpoint or owned service can meet different operational requirements. No paid resources or public writes are required in this talk package.</a:t>
            </a:r>
          </a:p>
          <a:p xmlns:a="http://schemas.openxmlformats.org/drawingml/2006/main">
            <a:r>
              <a:t>Transition: The ecosystem also shortens work outside the training loop.</a:t>
            </a:r>
          </a:p>
          <a:p xmlns:a="http://schemas.openxmlformats.org/drawingml/2006/main">
            <a:r>
              <a:t/>
            </a:r>
          </a:p>
          <a:p xmlns:a="http://schemas.openxmlformats.org/drawingml/2006/main">
            <a:r>
              <a:t>SOURCES</a:t>
            </a:r>
          </a:p>
          <a:p xmlns:a="http://schemas.openxmlformats.org/drawingml/2006/main">
            <a:r>
              <a:t>https://huggingface.co/docs/hub/spaces-overview</a:t>
            </a:r>
          </a:p>
          <a:p xmlns:a="http://schemas.openxmlformats.org/drawingml/2006/main">
            <a:r>
              <a:t>https://huggingface.co/docs/inference-endpoints/en/index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26:00–28:00</a:t>
            </a:r>
          </a:p>
          <a:p xmlns:a="http://schemas.openxmlformats.org/drawingml/2006/main">
            <a:r>
              <a:t/>
            </a:r>
          </a:p>
          <a:p xmlns:a="http://schemas.openxmlformats.org/drawingml/2006/main">
            <a:r>
              <a:t>2 minutes. Use a quick tour rather than opening five unpredictable live tabs. Streaming can avoid a full initial download; approximate shuffle buffers still matter. Spaces connects a repository to a demo app. Current compute-space eligibility and pricing vary, so do not promise every audience member a free CPU Space. Jobs moves a script to hosted compute and may incur charges. Providers routes supported models to providers; uploading any custom model does not make it provider-hosted. Collections can organize the talk's models, data, docs, and Spaces when the speaker chooses to publish one. Optional take-home branches include Sentence Transformers for retrieval, Diffusers for generative media, and LeRobot for robotics.</a:t>
            </a:r>
          </a:p>
          <a:p xmlns:a="http://schemas.openxmlformats.org/drawingml/2006/main">
            <a:r>
              <a:t>Transition: Everyone can take one version of this workflow home.</a:t>
            </a:r>
          </a:p>
          <a:p xmlns:a="http://schemas.openxmlformats.org/drawingml/2006/main">
            <a:r>
              <a:t/>
            </a:r>
          </a:p>
          <a:p xmlns:a="http://schemas.openxmlformats.org/drawingml/2006/main">
            <a:r>
              <a:t>SOURCES</a:t>
            </a:r>
          </a:p>
          <a:p xmlns:a="http://schemas.openxmlformats.org/drawingml/2006/main">
            <a:r>
              <a:t>https://huggingface.co/docs/datasets/stream</a:t>
            </a:r>
          </a:p>
          <a:p xmlns:a="http://schemas.openxmlformats.org/drawingml/2006/main">
            <a:r>
              <a:t>https://huggingface.co/docs/hub/spaces-overview</a:t>
            </a:r>
          </a:p>
          <a:p xmlns:a="http://schemas.openxmlformats.org/drawingml/2006/main">
            <a:r>
              <a:t>https://huggingface.co/docs/hub/jobs</a:t>
            </a:r>
          </a:p>
          <a:p xmlns:a="http://schemas.openxmlformats.org/drawingml/2006/main">
            <a:r>
              <a:t>https://huggingface.co/docs/inference-providers/index</a:t>
            </a:r>
          </a:p>
          <a:p xmlns:a="http://schemas.openxmlformats.org/drawingml/2006/main">
            <a:r>
              <a:t>https://huggingface.co/docs/hub/collections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28:00–30:00</a:t>
            </a:r>
          </a:p>
          <a:p xmlns:a="http://schemas.openxmlformats.org/drawingml/2006/main">
            <a:r>
              <a:t/>
            </a:r>
          </a:p>
          <a:p xmlns:a="http://schemas.openxmlformats.org/drawingml/2006/main">
            <a:r>
              <a:t>2 minutes. Return to the promise: Hub conventions make artifacts accessible; PEFT reduces the trainable update; Accelerate handles training execution; Optimum targets the runtime; evaluation and operations turn these into an engineering workflow. Ask one audience prediction: if quantization cuts file size but harms a class recall floor, do we ship? Let someone answer, then point back to the release contract. Direct students to the notebook and handout. Direct engineers to the manifest, gate, benchmark protocol, and deployment notes. End on time at minute 30 and move to questions. No claim that the local demo validates a multi-GPU cluster or a real edge product.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30:00–35:00</a:t>
            </a:r>
          </a:p>
          <a:p xmlns:a="http://schemas.openxmlformats.org/drawingml/2006/main">
            <a:r>
              <a:t/>
            </a:r>
          </a:p>
          <a:p xmlns:a="http://schemas.openxmlformats.org/drawingml/2006/main">
            <a:r>
              <a:t>5 minutes. Take questions. Good prompts if the room is quiet: When would you use RAG instead of fine-tuning? How would you evaluate rare classes? What changes on a phone? What does a second GPU solve? The appendix covers QLoRA, multi-GPU strategy, evaluation beyond classification, and sources. Use the Q&amp;A guide for short answers. Keep the boundary clear between verified local results and unexecuted hardware recipes.</a:t>
            </a:r>
          </a:p>
          <a:p xmlns:a="http://schemas.openxmlformats.org/drawingml/2006/main">
            <a:r>
              <a:t/>
            </a:r>
          </a:p>
          <a:p xmlns:a="http://schemas.openxmlformats.org/drawingml/2006/main">
            <a:r>
              <a:t>SOURCES</a:t>
            </a:r>
          </a:p>
          <a:p xmlns:a="http://schemas.openxmlformats.org/drawingml/2006/main">
            <a:r>
              <a:t>https://huggingface.co/Jemsbhai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Appendix</a:t>
            </a:r>
          </a:p>
          <a:p xmlns:a="http://schemas.openxmlformats.org/drawingml/2006/main">
            <a:r>
              <a:t/>
            </a:r>
          </a:p>
          <a:p xmlns:a="http://schemas.openxmlformats.org/drawingml/2006/main">
            <a:r>
              <a:t>Use only if asked. QLoRA combines low-bit base loading and LoRA, often using bitsandbytes for supported hardware. It is not the ONNX INT8 export shown in the main talk. A causal model requires task-appropriate prompt formatting, data licenses, evaluation, and memory planning. Do not promise that a particular parameter count will fit solely from weight bits: activations, optimizer states, sequence length, and other overhead matter. Serving the adapter or merging depends on the selected model/runtime/quantization path. This package's executed results apply to the classifier only.</a:t>
            </a:r>
          </a:p>
          <a:p xmlns:a="http://schemas.openxmlformats.org/drawingml/2006/main">
            <a:r>
              <a:t/>
            </a:r>
          </a:p>
          <a:p xmlns:a="http://schemas.openxmlformats.org/drawingml/2006/main">
            <a:r>
              <a:t>SOURCES</a:t>
            </a:r>
          </a:p>
          <a:p xmlns:a="http://schemas.openxmlformats.org/drawingml/2006/main">
            <a:r>
              <a:t>https://huggingface.co/docs/peft/developer_guides/quantization</a:t>
            </a:r>
          </a:p>
          <a:p xmlns:a="http://schemas.openxmlformats.org/drawingml/2006/main">
            <a:r>
              <a:t>https://huggingface.co/docs/transformers/quantization/bitsandbytes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Appendix</a:t>
            </a:r>
          </a:p>
          <a:p xmlns:a="http://schemas.openxmlformats.org/drawingml/2006/main">
            <a:r>
              <a:t/>
            </a:r>
          </a:p>
          <a:p xmlns:a="http://schemas.openxmlformats.org/drawingml/2006/main">
            <a:r>
              <a:t>Answer the hardware question before naming a strategy. More devices can improve capacity, fit, or throughput, but each has a communication and operational cost. Show deployment-notes.md for a parameterized vLLM launch recipe and a multi-GPU Accelerate recipe. Those paths are not executed on this single-GPU machine. device_map='auto' provides big-model inference dispatch/offload, not a substitute for distributed training or throughput-oriented serving.</a:t>
            </a:r>
          </a:p>
          <a:p xmlns:a="http://schemas.openxmlformats.org/drawingml/2006/main">
            <a:r>
              <a:t/>
            </a:r>
          </a:p>
          <a:p xmlns:a="http://schemas.openxmlformats.org/drawingml/2006/main">
            <a:r>
              <a:t>SOURCES</a:t>
            </a:r>
          </a:p>
          <a:p xmlns:a="http://schemas.openxmlformats.org/drawingml/2006/main">
            <a:r>
              <a:t>https://huggingface.co/docs/accelerate/quicktour</a:t>
            </a:r>
          </a:p>
          <a:p xmlns:a="http://schemas.openxmlformats.org/drawingml/2006/main">
            <a:r>
              <a:t>https://docs.vllm.ai/en/latest/serving/parallelism_scaling/</a:t>
            </a:r>
          </a:p>
          <a:p xmlns:a="http://schemas.openxmlformats.org/drawingml/2006/main">
            <a:r>
              <a:t>https://huggingface.co/docs/accelerate/concept_guides/big_model_inference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Appendix</a:t>
            </a:r>
          </a:p>
          <a:p xmlns:a="http://schemas.openxmlformats.org/drawingml/2006/main">
            <a:r>
              <a:t/>
            </a:r>
          </a:p>
          <a:p xmlns:a="http://schemas.openxmlformats.org/drawingml/2006/main">
            <a:r>
              <a:t>Metrics become useful when tied to a concrete decision. Lock prompts, generation settings, datasets and model revisions. Test subgroup and adversarial cases where relevant. Calibrate automated judges against representative human review and track disagreement. A benchmark average does not establish correctness for every user. Quantify uncertainty for the intended use and keep final test examples out of iterative prompt/model selection. LightEval is an orchestration option for LLM evaluation, not a certification system.</a:t>
            </a:r>
          </a:p>
          <a:p xmlns:a="http://schemas.openxmlformats.org/drawingml/2006/main">
            <a:r>
              <a:t/>
            </a:r>
          </a:p>
          <a:p xmlns:a="http://schemas.openxmlformats.org/drawingml/2006/main">
            <a:r>
              <a:t>SOURCES</a:t>
            </a:r>
          </a:p>
          <a:p xmlns:a="http://schemas.openxmlformats.org/drawingml/2006/main">
            <a:r>
              <a:t>https://huggingface.co/docs/lighteval/main/index</a:t>
            </a:r>
          </a:p>
          <a:p xmlns:a="http://schemas.openxmlformats.org/drawingml/2006/main">
            <a:r>
              <a:t>https://huggingface.co/docs/evaluate/index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Appendix</a:t>
            </a:r>
          </a:p>
          <a:p xmlns:a="http://schemas.openxmlformats.org/drawingml/2006/main">
            <a:r>
              <a:t/>
            </a:r>
          </a:p>
          <a:p xmlns:a="http://schemas.openxmlformats.org/drawingml/2006/main">
            <a:r>
              <a:t>Point the audience to attendee-handout.md, the executable notebook, and the reference list. All externally researched slide claims have source links in notes. Documentation was checked September 17, 2026; rehearse with the included pinned environment and current hosting terms before the event. This is an independent community talk, not an official Hugging Face presentation.</a:t>
            </a:r>
          </a:p>
          <a:p xmlns:a="http://schemas.openxmlformats.org/drawingml/2006/main">
            <a:r>
              <a:t/>
            </a:r>
          </a:p>
          <a:p xmlns:a="http://schemas.openxmlformats.org/drawingml/2006/main">
            <a:r>
              <a:t>SOURCES</a:t>
            </a:r>
          </a:p>
          <a:p xmlns:a="http://schemas.openxmlformats.org/drawingml/2006/main">
            <a:r>
              <a:t>https://huggingface.co/Jemsbhai</a:t>
            </a:r>
          </a:p>
          <a:p xmlns:a="http://schemas.openxmlformats.org/drawingml/2006/main">
            <a:r>
              <a:t>https://huggingface.co/docs/peft</a:t>
            </a:r>
          </a:p>
          <a:p xmlns:a="http://schemas.openxmlformats.org/drawingml/2006/main">
            <a:r>
              <a:t>https://huggingface.co/docs/accelerate</a:t>
            </a:r>
          </a:p>
          <a:p xmlns:a="http://schemas.openxmlformats.org/drawingml/2006/main">
            <a:r>
              <a:t>https://huggingface.co/docs/optimum-onnx</a:t>
            </a:r>
          </a:p>
          <a:p xmlns:a="http://schemas.openxmlformats.org/drawingml/2006/main">
            <a:r>
              <a:t>https://huggingface.co/learn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5476977d6f4a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f71805320e4056" /><Relationship Type="http://schemas.openxmlformats.org/officeDocument/2006/relationships/slideLayout" Target="/ppt/slideLayouts/slideLayout1.xml" Id="R325dce84982743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5dce84982743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231c8b84c04c91" /><Relationship Type="http://schemas.openxmlformats.org/officeDocument/2006/relationships/hyperlink" Target="https://muntasersyed.com" TargetMode="External" Id="R3fa139aab6994aee" /><Relationship Type="http://schemas.openxmlformats.org/officeDocument/2006/relationships/image" Target="/ppt/media/image.png" Id="R4bf11aa95507453b" /><Relationship Type="http://schemas.openxmlformats.org/officeDocument/2006/relationships/notesSlide" Target="/ppt/notesSlides/notesSlide1.xml" Id="R74a118d5293941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6f3d1143624639" /><Relationship Type="http://schemas.openxmlformats.org/officeDocument/2006/relationships/image" Target="/ppt/media/image2.png" Id="R815ee80f6b1f4e61" /><Relationship Type="http://schemas.openxmlformats.org/officeDocument/2006/relationships/hyperlink" Target="https://github.com/jemsbhai/bringing-the-heat" TargetMode="External" Id="R83fa31619b1a431d" /><Relationship Type="http://schemas.openxmlformats.org/officeDocument/2006/relationships/hyperlink" Target="https://github.com/jemsbhai/bringing-the-heat" TargetMode="External" Id="R03a63f6708a74b50" /><Relationship Type="http://schemas.openxmlformats.org/officeDocument/2006/relationships/notesSlide" Target="/ppt/notesSlides/notesSlide2.xml" Id="R74e409af1fa742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ae8a08b377407a" /><Relationship Type="http://schemas.openxmlformats.org/officeDocument/2006/relationships/image" Target="/ppt/media/image3.png" Id="Rfb264aa17c414064" /><Relationship Type="http://schemas.openxmlformats.org/officeDocument/2006/relationships/notesSlide" Target="/ppt/notesSlides/notesSlide3.xml" Id="Rdf2a04a1557b4c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57f5b028764a53" /><Relationship Type="http://schemas.openxmlformats.org/officeDocument/2006/relationships/notesSlide" Target="/ppt/notesSlides/notesSlide4.xml" Id="Rc95269e96d1445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f12cf542614ec9" /><Relationship Type="http://schemas.openxmlformats.org/officeDocument/2006/relationships/notesSlide" Target="/ppt/notesSlides/notesSlide5.xml" Id="R99661e39635d40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cdfafd507f49b5" /><Relationship Type="http://schemas.openxmlformats.org/officeDocument/2006/relationships/notesSlide" Target="/ppt/notesSlides/notesSlide6.xml" Id="R4832aad1eff74a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a72a1f53194e96" /><Relationship Type="http://schemas.openxmlformats.org/officeDocument/2006/relationships/notesSlide" Target="/ppt/notesSlides/notesSlide7.xml" Id="Rc8c192ebfe334b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35d51677c34d84" /><Relationship Type="http://schemas.openxmlformats.org/officeDocument/2006/relationships/notesSlide" Target="/ppt/notesSlides/notesSlide8.xml" Id="R09a096ef38a949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0189347807473b" /><Relationship Type="http://schemas.openxmlformats.org/officeDocument/2006/relationships/notesSlide" Target="/ppt/notesSlides/notesSlide9.xml" Id="R46c9c7e7c75444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08c1f2ed7540b2" /><Relationship Type="http://schemas.openxmlformats.org/officeDocument/2006/relationships/chart" Target="/ppt/slides/charts/chart1.xml" Id="R7a571b4aca604aa4" /><Relationship Type="http://schemas.openxmlformats.org/officeDocument/2006/relationships/chart" Target="/ppt/slides/charts/chart2.xml" Id="R0b019b6a3e7844da" /><Relationship Type="http://schemas.openxmlformats.org/officeDocument/2006/relationships/notesSlide" Target="/ppt/notesSlides/notesSlide10.xml" Id="R83ac0d92261541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cf6039b7f04f47" /><Relationship Type="http://schemas.openxmlformats.org/officeDocument/2006/relationships/notesSlide" Target="/ppt/notesSlides/notesSlide11.xml" Id="R2601e0deeb4045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494086350a48bb" /><Relationship Type="http://schemas.openxmlformats.org/officeDocument/2006/relationships/notesSlide" Target="/ppt/notesSlides/notesSlide12.xml" Id="Re0de4c857af549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3658be2a0046cf" /><Relationship Type="http://schemas.openxmlformats.org/officeDocument/2006/relationships/chart" Target="/ppt/slides/charts/chart3.xml" Id="Rcfde943aa7d3442b" /><Relationship Type="http://schemas.openxmlformats.org/officeDocument/2006/relationships/chart" Target="/ppt/slides/charts/chart4.xml" Id="Rca809445d89d4989" /><Relationship Type="http://schemas.openxmlformats.org/officeDocument/2006/relationships/chart" Target="/ppt/slides/charts/chart5.xml" Id="R8cec0c88df9b416b" /><Relationship Type="http://schemas.openxmlformats.org/officeDocument/2006/relationships/notesSlide" Target="/ppt/notesSlides/notesSlide13.xml" Id="Rff00740e20d047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4cb8279c5f4b32" /><Relationship Type="http://schemas.openxmlformats.org/officeDocument/2006/relationships/notesSlide" Target="/ppt/notesSlides/notesSlide14.xml" Id="Rd1312092364444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38c363308c4275" /><Relationship Type="http://schemas.openxmlformats.org/officeDocument/2006/relationships/notesSlide" Target="/ppt/notesSlides/notesSlide15.xml" Id="Rd2cabd6dac7c42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8d0d85d1fd4d71" /><Relationship Type="http://schemas.openxmlformats.org/officeDocument/2006/relationships/notesSlide" Target="/ppt/notesSlides/notesSlide16.xml" Id="R3dcfc19cd10a46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0ddd60d65464a8c" /><Relationship Type="http://schemas.openxmlformats.org/officeDocument/2006/relationships/notesSlide" Target="/ppt/notesSlides/notesSlide17.xml" Id="Ra1bf434d1fba4e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d19a10d21be459b" /><Relationship Type="http://schemas.openxmlformats.org/officeDocument/2006/relationships/notesSlide" Target="/ppt/notesSlides/notesSlide18.xml" Id="Rdfa6795530da42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4eab41449f54514" /><Relationship Type="http://schemas.openxmlformats.org/officeDocument/2006/relationships/notesSlide" Target="/ppt/notesSlides/notesSlide19.xml" Id="Ra35dbd18fa53466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8cf71ba359f47ed" /><Relationship Type="http://schemas.openxmlformats.org/officeDocument/2006/relationships/notesSlide" Target="/ppt/notesSlides/notesSlide20.xml" Id="R92d58cb954884e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d16c99a6d904938" /><Relationship Type="http://schemas.openxmlformats.org/officeDocument/2006/relationships/notesSlide" Target="/ppt/notesSlides/notesSlide21.xml" Id="Rcdb76287ea6644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0735c1a8e4946b8" /><Relationship Type="http://schemas.openxmlformats.org/officeDocument/2006/relationships/notesSlide" Target="/ppt/notesSlides/notesSlide22.xml" Id="Ra67873a0b31342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FFF9ED"/>
                </a:solidFill>
                <a:latin typeface="Arial"/>
                <a:ea typeface="Arial"/>
                <a:cs typeface="Arial"/>
              </a:rPr>
              <a:t>Mean training loss</a:t>
            </a:r>
          </a:p>
        </c:rich>
      </c:tx>
      <c:overlay val="0"/>
      <c:txPr>
        <a:bodyPr xmlns:a="http://schemas.openxmlformats.org/drawingml/2006/main" anchorCtr="1"/>
        <a:lstStyle xmlns:a="http://schemas.openxmlformats.org/drawingml/2006/main"/>
        <a:p xmlns:a="http://schemas.openxmlformats.org/drawingml/2006/main">
          <a:pPr>
            <a:defRPr sz="2100" b="1">
              <a:solidFill>
                <a:srgbClr val="FFF9ED"/>
              </a:solidFill>
              <a:latin typeface="Arial"/>
              <a:ea typeface="Arial"/>
              <a:cs typeface="Arial"/>
            </a:defRPr>
          </a:pPr>
        </a:p>
      </c:txPr>
    </c:title>
    <c:plotArea>
      <c:lineChart>
        <c:grouping val="standard"/>
        <c:varyColors val="0"/>
        <c:ser>
          <c:idx val="0"/>
          <c:order val="0"/>
          <c:tx>
            <c:v>Mean training loss</c:v>
          </c:tx>
          <c:spPr>
            <a:solidFill xmlns:a="http://schemas.openxmlformats.org/drawingml/2006/main">
              <a:srgbClr val="FF9D55"/>
            </a:solidFill>
            <a:ln xmlns:a="http://schemas.openxmlformats.org/drawingml/2006/main" w="38100">
              <a:solidFill>
                <a:srgbClr val="FF9D55"/>
              </a:solidFill>
              <a:prstDash val="solid"/>
            </a:ln>
          </c:spPr>
          <c:marker>
            <c:symbol val="circle"/>
            <c:size val="9"/>
            <c:spPr>
              <a:solidFill xmlns:a="http://schemas.openxmlformats.org/drawingml/2006/main">
                <a:srgbClr val="FF9D55"/>
              </a:solidFill>
            </c:spPr>
          </c:marker>
          <c:cat>
            <c:numRef>
              <c:f>'Chart Data'!$A$2:$A$4</c:f>
              <c:numCache>
                <c:formatCode>General</c:formatCode>
                <c:ptCount val="3"/>
                <c:pt idx="0">
                  <c:v>1</c:v>
                </c:pt>
                <c:pt idx="1">
                  <c:v>2</c:v>
                </c:pt>
                <c:pt idx="2">
                  <c:v>3</c:v>
                </c:pt>
              </c:numCache>
            </c:numRef>
          </c:cat>
          <c:val>
            <c:numRef>
              <c:f>'Chart Data'!$B$2:$B$4</c:f>
              <c:numCache>
                <c:formatCode>0.000</c:formatCode>
                <c:ptCount val="3"/>
                <c:pt idx="0">
                  <c:v>0.494572282583</c:v>
                </c:pt>
                <c:pt idx="1">
                  <c:v>0.28093422085</c:v>
                </c:pt>
                <c:pt idx="2">
                  <c:v>0.245168136396</c:v>
                </c:pt>
              </c:numCache>
            </c:numRef>
          </c:val>
          <c:smooth val="0"/>
        </c:ser>
        <c:dLbls>
          <c:txPr>
            <a:bodyPr xmlns:a="http://schemas.openxmlformats.org/drawingml/2006/main" anchorCtr="1"/>
            <a:lstStyle xmlns:a="http://schemas.openxmlformats.org/drawingml/2006/main"/>
            <a:p xmlns:a="http://schemas.openxmlformats.org/drawingml/2006/main">
              <a:pPr>
                <a:defRPr sz="1650" b="1">
                  <a:solidFill>
                    <a:srgbClr val="FFF9ED"/>
                  </a:solidFill>
                  <a:latin typeface="Arial"/>
                  <a:ea typeface="Arial"/>
                  <a:cs typeface="Arial"/>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FFF9ED"/>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575">
                  <a:solidFill>
                    <a:srgbClr val="FFF9ED"/>
                  </a:solidFill>
                  <a:latin typeface="Arial"/>
                  <a:ea typeface="Arial"/>
                  <a:cs typeface="Arial"/>
                </a:defRPr>
              </a:pPr>
            </a:p>
          </c:txPr>
        </c:title>
        <c:numFmt formatCode="General"/>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500">
                <a:solidFill>
                  <a:srgbClr val="FFF9ED"/>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434958"/>
              </a:solidFill>
              <a:prstDash val="solid"/>
            </a:ln>
          </c:spPr>
        </c:majorGridlines>
        <c:numFmt formatCode="0.0"/>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425">
                <a:solidFill>
                  <a:srgbClr val="FFF9ED"/>
                </a:solidFill>
                <a:latin typeface="Arial"/>
                <a:ea typeface="Arial"/>
                <a:cs typeface="Arial"/>
              </a:defRPr>
            </a:pPr>
          </a:p>
        </c:txPr>
        <c:crossAx val="48650112"/>
        <c:crossBetween val="between"/>
        <c:majorUnit val="0.2"/>
      </c:valAx>
      <c:spPr>
        <a:solidFill xmlns:a="http://schemas.openxmlformats.org/drawingml/2006/main">
          <a:srgbClr val="151820"/>
        </a:solidFill>
        <a:ln xmlns:a="http://schemas.openxmlformats.org/drawingml/2006/main" w="0">
          <a:noFill/>
        </a:ln>
      </c:spPr>
    </c:plotArea>
    <c:plotVisOnly val="1"/>
  </c:chart>
  <c:spPr>
    <a:solidFill xmlns:a="http://schemas.openxmlformats.org/drawingml/2006/main">
      <a:srgbClr val="15182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FFF9ED"/>
                </a:solidFill>
                <a:latin typeface="Arial"/>
                <a:ea typeface="Arial"/>
                <a:cs typeface="Arial"/>
              </a:rPr>
              <a:t>Validation macro-F1</a:t>
            </a:r>
          </a:p>
        </c:rich>
      </c:tx>
      <c:overlay val="0"/>
      <c:txPr>
        <a:bodyPr xmlns:a="http://schemas.openxmlformats.org/drawingml/2006/main" anchorCtr="1"/>
        <a:lstStyle xmlns:a="http://schemas.openxmlformats.org/drawingml/2006/main"/>
        <a:p xmlns:a="http://schemas.openxmlformats.org/drawingml/2006/main">
          <a:pPr>
            <a:defRPr sz="2100" b="1">
              <a:solidFill>
                <a:srgbClr val="FFF9ED"/>
              </a:solidFill>
              <a:latin typeface="Arial"/>
              <a:ea typeface="Arial"/>
              <a:cs typeface="Arial"/>
            </a:defRPr>
          </a:pPr>
        </a:p>
      </c:txPr>
    </c:title>
    <c:plotArea>
      <c:lineChart>
        <c:grouping val="standard"/>
        <c:varyColors val="0"/>
        <c:ser>
          <c:idx val="0"/>
          <c:order val="0"/>
          <c:tx>
            <c:v>Validation macro-F1</c:v>
          </c:tx>
          <c:spPr>
            <a:solidFill xmlns:a="http://schemas.openxmlformats.org/drawingml/2006/main">
              <a:srgbClr val="FFD21E"/>
            </a:solidFill>
            <a:ln xmlns:a="http://schemas.openxmlformats.org/drawingml/2006/main" w="38100">
              <a:solidFill>
                <a:srgbClr val="FFD21E"/>
              </a:solidFill>
              <a:prstDash val="solid"/>
            </a:ln>
          </c:spPr>
          <c:marker>
            <c:symbol val="circle"/>
            <c:size val="9"/>
            <c:spPr>
              <a:solidFill xmlns:a="http://schemas.openxmlformats.org/drawingml/2006/main">
                <a:srgbClr val="FFD21E"/>
              </a:solidFill>
            </c:spPr>
          </c:marker>
          <c:cat>
            <c:numRef>
              <c:f>'Chart Data'!$A$2:$A$4</c:f>
              <c:numCache>
                <c:formatCode>General</c:formatCode>
                <c:ptCount val="3"/>
                <c:pt idx="0">
                  <c:v>1</c:v>
                </c:pt>
                <c:pt idx="1">
                  <c:v>2</c:v>
                </c:pt>
                <c:pt idx="2">
                  <c:v>3</c:v>
                </c:pt>
              </c:numCache>
            </c:numRef>
          </c:cat>
          <c:val>
            <c:numRef>
              <c:f>'Chart Data'!$B$2:$B$4</c:f>
              <c:numCache>
                <c:formatCode>0.0000</c:formatCode>
                <c:ptCount val="3"/>
                <c:pt idx="0">
                  <c:v>0.906663426739</c:v>
                </c:pt>
                <c:pt idx="1">
                  <c:v>0.905204991087</c:v>
                </c:pt>
                <c:pt idx="2">
                  <c:v>0.907437259249</c:v>
                </c:pt>
              </c:numCache>
            </c:numRef>
          </c:val>
          <c:smooth val="0"/>
        </c:ser>
        <c:dLbls>
          <c:txPr>
            <a:bodyPr xmlns:a="http://schemas.openxmlformats.org/drawingml/2006/main" anchorCtr="1"/>
            <a:lstStyle xmlns:a="http://schemas.openxmlformats.org/drawingml/2006/main"/>
            <a:p xmlns:a="http://schemas.openxmlformats.org/drawingml/2006/main">
              <a:pPr>
                <a:defRPr sz="1650" b="1">
                  <a:solidFill>
                    <a:srgbClr val="FFF9ED"/>
                  </a:solidFill>
                  <a:latin typeface="Arial"/>
                  <a:ea typeface="Arial"/>
                  <a:cs typeface="Arial"/>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75">
                    <a:solidFill>
                      <a:srgbClr val="FFF9ED"/>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575">
                  <a:solidFill>
                    <a:srgbClr val="FFF9ED"/>
                  </a:solidFill>
                  <a:latin typeface="Arial"/>
                  <a:ea typeface="Arial"/>
                  <a:cs typeface="Arial"/>
                </a:defRPr>
              </a:pPr>
            </a:p>
          </c:txPr>
        </c:title>
        <c:numFmt formatCode="General"/>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500">
                <a:solidFill>
                  <a:srgbClr val="FFF9E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434958"/>
              </a:solidFill>
              <a:prstDash val="solid"/>
            </a:ln>
          </c:spPr>
        </c:majorGridlines>
        <c:numFmt formatCode="0.00"/>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425">
                <a:solidFill>
                  <a:srgbClr val="FFF9ED"/>
                </a:solidFill>
                <a:latin typeface="Arial"/>
                <a:ea typeface="Arial"/>
                <a:cs typeface="Arial"/>
              </a:defRPr>
            </a:pPr>
          </a:p>
        </c:txPr>
        <c:crossAx val="48650112"/>
        <c:crossBetween val="between"/>
        <c:majorUnit val="0.25"/>
      </c:valAx>
      <c:spPr>
        <a:solidFill xmlns:a="http://schemas.openxmlformats.org/drawingml/2006/main">
          <a:srgbClr val="151820"/>
        </a:solidFill>
        <a:ln xmlns:a="http://schemas.openxmlformats.org/drawingml/2006/main" w="0">
          <a:noFill/>
        </a:ln>
      </c:spPr>
    </c:plotArea>
    <c:plotVisOnly val="1"/>
  </c:chart>
  <c:spPr>
    <a:solidFill xmlns:a="http://schemas.openxmlformats.org/drawingml/2006/main">
      <a:srgbClr val="15182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FFF9ED"/>
                </a:solidFill>
                <a:latin typeface="Arial"/>
                <a:ea typeface="Arial"/>
                <a:cs typeface="Arial"/>
              </a:rPr>
              <a:t>Macro-F1</a:t>
            </a:r>
          </a:p>
        </c:rich>
      </c:tx>
      <c:overlay val="0"/>
      <c:txPr>
        <a:bodyPr xmlns:a="http://schemas.openxmlformats.org/drawingml/2006/main" anchorCtr="1"/>
        <a:lstStyle xmlns:a="http://schemas.openxmlformats.org/drawingml/2006/main"/>
        <a:p xmlns:a="http://schemas.openxmlformats.org/drawingml/2006/main">
          <a:pPr>
            <a:defRPr sz="2100" b="1">
              <a:solidFill>
                <a:srgbClr val="FFF9ED"/>
              </a:solidFill>
              <a:latin typeface="Arial"/>
              <a:ea typeface="Arial"/>
              <a:cs typeface="Arial"/>
            </a:defRPr>
          </a:pPr>
        </a:p>
      </c:txPr>
    </c:title>
    <c:plotArea>
      <c:barChart>
        <c:barDir val="col"/>
        <c:grouping val="clustered"/>
        <c:varyColors val="0"/>
        <c:ser>
          <c:idx val="0"/>
          <c:order val="0"/>
          <c:tx>
            <c:v>Macro-F1</c:v>
          </c:tx>
          <c:spPr>
            <a:solidFill xmlns:a="http://schemas.openxmlformats.org/drawingml/2006/main">
              <a:srgbClr val="FFD21E"/>
            </a:solidFill>
            <a:ln xmlns:a="http://schemas.openxmlformats.org/drawingml/2006/main" w="38100">
              <a:solidFill>
                <a:srgbClr val="FFD21E"/>
              </a:solidFill>
              <a:prstDash val="solid"/>
            </a:ln>
          </c:spPr>
          <c:dPt>
            <c:idx val="0"/>
            <c:invertIfNegative val="0"/>
            <c:spPr>
              <a:solidFill xmlns:a="http://schemas.openxmlformats.org/drawingml/2006/main">
                <a:srgbClr val="86BFFF"/>
              </a:solidFill>
              <a:ln xmlns:a="http://schemas.openxmlformats.org/drawingml/2006/main" w="0">
                <a:solidFill>
                  <a:srgbClr val="86BFFF"/>
                </a:solidFill>
              </a:ln>
            </c:spPr>
          </c:dPt>
          <c:dPt>
            <c:idx val="1"/>
            <c:invertIfNegative val="0"/>
            <c:spPr>
              <a:solidFill xmlns:a="http://schemas.openxmlformats.org/drawingml/2006/main">
                <a:srgbClr val="FF9D55"/>
              </a:solidFill>
              <a:ln xmlns:a="http://schemas.openxmlformats.org/drawingml/2006/main" w="0">
                <a:solidFill>
                  <a:srgbClr val="FF9D55"/>
                </a:solidFill>
              </a:ln>
            </c:spPr>
          </c:dPt>
          <c:dPt>
            <c:idx val="2"/>
            <c:invertIfNegative val="0"/>
            <c:spPr>
              <a:solidFill xmlns:a="http://schemas.openxmlformats.org/drawingml/2006/main">
                <a:srgbClr val="FFD21E"/>
              </a:solidFill>
              <a:ln xmlns:a="http://schemas.openxmlformats.org/drawingml/2006/main" w="0">
                <a:solidFill>
                  <a:srgbClr val="FFD21E"/>
                </a:solidFill>
              </a:ln>
            </c:spPr>
          </c:dPt>
          <c:cat>
            <c:strRef>
              <c:f>'Chart Data'!$A$2:$A$4</c:f>
              <c:strCache>
                <c:ptCount val="3"/>
                <c:pt idx="0">
                  <c:v>PyTorch
FP32</c:v>
                </c:pt>
                <c:pt idx="1">
                  <c:v>ONNX
FP32</c:v>
                </c:pt>
                <c:pt idx="2">
                  <c:v>ONNX
INT8</c:v>
                </c:pt>
              </c:strCache>
            </c:strRef>
          </c:cat>
          <c:val>
            <c:numRef>
              <c:f>'Chart Data'!$B$2:$B$4</c:f>
              <c:numCache>
                <c:formatCode>0.000</c:formatCode>
                <c:ptCount val="3"/>
                <c:pt idx="0">
                  <c:v>0.902308004123</c:v>
                </c:pt>
                <c:pt idx="1">
                  <c:v>0.902308004123</c:v>
                </c:pt>
                <c:pt idx="2">
                  <c:v>0.904808740023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FF9E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500">
                <a:solidFill>
                  <a:srgbClr val="FFF9E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434958"/>
              </a:solidFill>
              <a:prstDash val="solid"/>
            </a:ln>
          </c:spPr>
        </c:majorGridlines>
        <c:numFmt formatCode="0.00"/>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425">
                <a:solidFill>
                  <a:srgbClr val="FFF9ED"/>
                </a:solidFill>
                <a:latin typeface="Arial"/>
                <a:ea typeface="Arial"/>
                <a:cs typeface="Arial"/>
              </a:defRPr>
            </a:pPr>
          </a:p>
        </c:txPr>
        <c:crossAx val="48650112"/>
        <c:crossBetween val="between"/>
        <c:majorUnit val="0.25"/>
      </c:valAx>
      <c:spPr>
        <a:solidFill xmlns:a="http://schemas.openxmlformats.org/drawingml/2006/main">
          <a:srgbClr val="151820"/>
        </a:solidFill>
        <a:ln xmlns:a="http://schemas.openxmlformats.org/drawingml/2006/main" w="0">
          <a:noFill/>
        </a:ln>
      </c:spPr>
    </c:plotArea>
    <c:plotVisOnly val="1"/>
  </c:chart>
  <c:spPr>
    <a:solidFill xmlns:a="http://schemas.openxmlformats.org/drawingml/2006/main">
      <a:srgbClr val="151820"/>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FFF9ED"/>
                </a:solidFill>
                <a:latin typeface="Arial"/>
                <a:ea typeface="Arial"/>
                <a:cs typeface="Arial"/>
              </a:rPr>
              <a:t>p95 latency (ms)</a:t>
            </a:r>
          </a:p>
        </c:rich>
      </c:tx>
      <c:overlay val="0"/>
      <c:txPr>
        <a:bodyPr xmlns:a="http://schemas.openxmlformats.org/drawingml/2006/main" anchorCtr="1"/>
        <a:lstStyle xmlns:a="http://schemas.openxmlformats.org/drawingml/2006/main"/>
        <a:p xmlns:a="http://schemas.openxmlformats.org/drawingml/2006/main">
          <a:pPr>
            <a:defRPr sz="2100" b="1">
              <a:solidFill>
                <a:srgbClr val="FFF9ED"/>
              </a:solidFill>
              <a:latin typeface="Arial"/>
              <a:ea typeface="Arial"/>
              <a:cs typeface="Arial"/>
            </a:defRPr>
          </a:pPr>
        </a:p>
      </c:txPr>
    </c:title>
    <c:plotArea>
      <c:barChart>
        <c:barDir val="col"/>
        <c:grouping val="clustered"/>
        <c:varyColors val="0"/>
        <c:ser>
          <c:idx val="0"/>
          <c:order val="0"/>
          <c:tx>
            <c:v>p95 latency (ms)</c:v>
          </c:tx>
          <c:spPr>
            <a:solidFill xmlns:a="http://schemas.openxmlformats.org/drawingml/2006/main">
              <a:srgbClr val="FFD21E"/>
            </a:solidFill>
            <a:ln xmlns:a="http://schemas.openxmlformats.org/drawingml/2006/main" w="38100">
              <a:solidFill>
                <a:srgbClr val="FFD21E"/>
              </a:solidFill>
              <a:prstDash val="solid"/>
            </a:ln>
          </c:spPr>
          <c:dPt>
            <c:idx val="0"/>
            <c:invertIfNegative val="0"/>
            <c:spPr>
              <a:solidFill xmlns:a="http://schemas.openxmlformats.org/drawingml/2006/main">
                <a:srgbClr val="86BFFF"/>
              </a:solidFill>
              <a:ln xmlns:a="http://schemas.openxmlformats.org/drawingml/2006/main" w="0">
                <a:solidFill>
                  <a:srgbClr val="86BFFF"/>
                </a:solidFill>
              </a:ln>
            </c:spPr>
          </c:dPt>
          <c:dPt>
            <c:idx val="1"/>
            <c:invertIfNegative val="0"/>
            <c:spPr>
              <a:solidFill xmlns:a="http://schemas.openxmlformats.org/drawingml/2006/main">
                <a:srgbClr val="FF9D55"/>
              </a:solidFill>
              <a:ln xmlns:a="http://schemas.openxmlformats.org/drawingml/2006/main" w="0">
                <a:solidFill>
                  <a:srgbClr val="FF9D55"/>
                </a:solidFill>
              </a:ln>
            </c:spPr>
          </c:dPt>
          <c:dPt>
            <c:idx val="2"/>
            <c:invertIfNegative val="0"/>
            <c:spPr>
              <a:solidFill xmlns:a="http://schemas.openxmlformats.org/drawingml/2006/main">
                <a:srgbClr val="FFD21E"/>
              </a:solidFill>
              <a:ln xmlns:a="http://schemas.openxmlformats.org/drawingml/2006/main" w="0">
                <a:solidFill>
                  <a:srgbClr val="FFD21E"/>
                </a:solidFill>
              </a:ln>
            </c:spPr>
          </c:dPt>
          <c:cat>
            <c:strRef>
              <c:f>'Chart Data'!$A$2:$A$4</c:f>
              <c:strCache>
                <c:ptCount val="3"/>
                <c:pt idx="0">
                  <c:v>PyTorch
FP32</c:v>
                </c:pt>
                <c:pt idx="1">
                  <c:v>ONNX
FP32</c:v>
                </c:pt>
                <c:pt idx="2">
                  <c:v>ONNX
INT8</c:v>
                </c:pt>
              </c:strCache>
            </c:strRef>
          </c:cat>
          <c:val>
            <c:numRef>
              <c:f>'Chart Data'!$B$2:$B$4</c:f>
              <c:numCache>
                <c:formatCode>0.0</c:formatCode>
                <c:ptCount val="3"/>
                <c:pt idx="0">
                  <c:v>59.80953</c:v>
                </c:pt>
                <c:pt idx="1">
                  <c:v>41.55989</c:v>
                </c:pt>
                <c:pt idx="2">
                  <c:v>33.570475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FF9E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500">
                <a:solidFill>
                  <a:srgbClr val="FFF9ED"/>
                </a:solidFill>
                <a:latin typeface="Arial"/>
                <a:ea typeface="Arial"/>
                <a:cs typeface="Arial"/>
              </a:defRPr>
            </a:pPr>
          </a:p>
        </c:txPr>
        <c:crossAx val="48672768"/>
      </c:catAx>
      <c:valAx>
        <c:axId val="48672768"/>
        <c:scaling>
          <c:orientation val="minMax"/>
          <c:max val="75"/>
          <c:min val="0"/>
        </c:scaling>
        <c:delete val="0"/>
        <c:axPos val="l"/>
        <c:majorGridlines>
          <c:spPr>
            <a:ln xmlns:a="http://schemas.openxmlformats.org/drawingml/2006/main" w="9525">
              <a:solidFill>
                <a:srgbClr val="434958"/>
              </a:solidFill>
              <a:prstDash val="solid"/>
            </a:ln>
          </c:spPr>
        </c:majorGridlines>
        <c:numFmt formatCode="0"/>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425">
                <a:solidFill>
                  <a:srgbClr val="FFF9ED"/>
                </a:solidFill>
                <a:latin typeface="Arial"/>
                <a:ea typeface="Arial"/>
                <a:cs typeface="Arial"/>
              </a:defRPr>
            </a:pPr>
          </a:p>
        </c:txPr>
        <c:crossAx val="48650112"/>
        <c:crossBetween val="between"/>
        <c:majorUnit val="25"/>
      </c:valAx>
      <c:spPr>
        <a:solidFill xmlns:a="http://schemas.openxmlformats.org/drawingml/2006/main">
          <a:srgbClr val="151820"/>
        </a:solidFill>
        <a:ln xmlns:a="http://schemas.openxmlformats.org/drawingml/2006/main" w="0">
          <a:noFill/>
        </a:ln>
      </c:spPr>
    </c:plotArea>
    <c:plotVisOnly val="1"/>
  </c:chart>
  <c:spPr>
    <a:solidFill xmlns:a="http://schemas.openxmlformats.org/drawingml/2006/main">
      <a:srgbClr val="151820"/>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FFF9ED"/>
                </a:solidFill>
                <a:latin typeface="Arial"/>
                <a:ea typeface="Arial"/>
                <a:cs typeface="Arial"/>
              </a:rPr>
              <a:t>Weights (MiB)</a:t>
            </a:r>
          </a:p>
        </c:rich>
      </c:tx>
      <c:overlay val="0"/>
      <c:txPr>
        <a:bodyPr xmlns:a="http://schemas.openxmlformats.org/drawingml/2006/main" anchorCtr="1"/>
        <a:lstStyle xmlns:a="http://schemas.openxmlformats.org/drawingml/2006/main"/>
        <a:p xmlns:a="http://schemas.openxmlformats.org/drawingml/2006/main">
          <a:pPr>
            <a:defRPr sz="2100" b="1">
              <a:solidFill>
                <a:srgbClr val="FFF9ED"/>
              </a:solidFill>
              <a:latin typeface="Arial"/>
              <a:ea typeface="Arial"/>
              <a:cs typeface="Arial"/>
            </a:defRPr>
          </a:pPr>
        </a:p>
      </c:txPr>
    </c:title>
    <c:plotArea>
      <c:barChart>
        <c:barDir val="col"/>
        <c:grouping val="clustered"/>
        <c:varyColors val="0"/>
        <c:ser>
          <c:idx val="0"/>
          <c:order val="0"/>
          <c:tx>
            <c:v>Weights (MiB)</c:v>
          </c:tx>
          <c:spPr>
            <a:solidFill xmlns:a="http://schemas.openxmlformats.org/drawingml/2006/main">
              <a:srgbClr val="FFD21E"/>
            </a:solidFill>
            <a:ln xmlns:a="http://schemas.openxmlformats.org/drawingml/2006/main" w="38100">
              <a:solidFill>
                <a:srgbClr val="FFD21E"/>
              </a:solidFill>
              <a:prstDash val="solid"/>
            </a:ln>
          </c:spPr>
          <c:dPt>
            <c:idx val="0"/>
            <c:invertIfNegative val="0"/>
            <c:spPr>
              <a:solidFill xmlns:a="http://schemas.openxmlformats.org/drawingml/2006/main">
                <a:srgbClr val="86BFFF"/>
              </a:solidFill>
              <a:ln xmlns:a="http://schemas.openxmlformats.org/drawingml/2006/main" w="0">
                <a:solidFill>
                  <a:srgbClr val="86BFFF"/>
                </a:solidFill>
              </a:ln>
            </c:spPr>
          </c:dPt>
          <c:dPt>
            <c:idx val="1"/>
            <c:invertIfNegative val="0"/>
            <c:spPr>
              <a:solidFill xmlns:a="http://schemas.openxmlformats.org/drawingml/2006/main">
                <a:srgbClr val="FF9D55"/>
              </a:solidFill>
              <a:ln xmlns:a="http://schemas.openxmlformats.org/drawingml/2006/main" w="0">
                <a:solidFill>
                  <a:srgbClr val="FF9D55"/>
                </a:solidFill>
              </a:ln>
            </c:spPr>
          </c:dPt>
          <c:dPt>
            <c:idx val="2"/>
            <c:invertIfNegative val="0"/>
            <c:spPr>
              <a:solidFill xmlns:a="http://schemas.openxmlformats.org/drawingml/2006/main">
                <a:srgbClr val="FFD21E"/>
              </a:solidFill>
              <a:ln xmlns:a="http://schemas.openxmlformats.org/drawingml/2006/main" w="0">
                <a:solidFill>
                  <a:srgbClr val="FFD21E"/>
                </a:solidFill>
              </a:ln>
            </c:spPr>
          </c:dPt>
          <c:cat>
            <c:strRef>
              <c:f>'Chart Data'!$A$2:$A$4</c:f>
              <c:strCache>
                <c:ptCount val="3"/>
                <c:pt idx="0">
                  <c:v>PyTorch
FP32</c:v>
                </c:pt>
                <c:pt idx="1">
                  <c:v>ONNX
FP32</c:v>
                </c:pt>
                <c:pt idx="2">
                  <c:v>ONNX
INT8</c:v>
                </c:pt>
              </c:strCache>
            </c:strRef>
          </c:cat>
          <c:val>
            <c:numRef>
              <c:f>'Chart Data'!$B$2:$B$4</c:f>
              <c:numCache>
                <c:formatCode>0.0</c:formatCode>
                <c:ptCount val="3"/>
                <c:pt idx="0">
                  <c:v>255.430908203</c:v>
                </c:pt>
                <c:pt idx="1">
                  <c:v>255.525897026</c:v>
                </c:pt>
                <c:pt idx="2">
                  <c:v>64.2499303818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FF9E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500">
                <a:solidFill>
                  <a:srgbClr val="FFF9ED"/>
                </a:solidFill>
                <a:latin typeface="Arial"/>
                <a:ea typeface="Arial"/>
                <a:cs typeface="Arial"/>
              </a:defRPr>
            </a:pPr>
          </a:p>
        </c:txPr>
        <c:crossAx val="48672768"/>
      </c:catAx>
      <c:valAx>
        <c:axId val="48672768"/>
        <c:scaling>
          <c:orientation val="minMax"/>
          <c:max val="300"/>
          <c:min val="0"/>
        </c:scaling>
        <c:delete val="0"/>
        <c:axPos val="l"/>
        <c:majorGridlines>
          <c:spPr>
            <a:ln xmlns:a="http://schemas.openxmlformats.org/drawingml/2006/main" w="9525">
              <a:solidFill>
                <a:srgbClr val="434958"/>
              </a:solidFill>
              <a:prstDash val="solid"/>
            </a:ln>
          </c:spPr>
        </c:majorGridlines>
        <c:numFmt formatCode="0"/>
        <c:majorTickMark val="none"/>
        <c:minorTickMark val="none"/>
        <c:spPr>
          <a:ln xmlns:a="http://schemas.openxmlformats.org/drawingml/2006/main" w="9525">
            <a:solidFill>
              <a:srgbClr val="B9BECA"/>
            </a:solidFill>
          </a:ln>
        </c:spPr>
        <c:txPr>
          <a:bodyPr xmlns:a="http://schemas.openxmlformats.org/drawingml/2006/main" anchorCtr="1"/>
          <a:lstStyle xmlns:a="http://schemas.openxmlformats.org/drawingml/2006/main"/>
          <a:p xmlns:a="http://schemas.openxmlformats.org/drawingml/2006/main">
            <a:pPr>
              <a:defRPr sz="1425">
                <a:solidFill>
                  <a:srgbClr val="FFF9ED"/>
                </a:solidFill>
                <a:latin typeface="Arial"/>
                <a:ea typeface="Arial"/>
                <a:cs typeface="Arial"/>
              </a:defRPr>
            </a:pPr>
          </a:p>
        </c:txPr>
        <c:crossAx val="48650112"/>
        <c:crossBetween val="between"/>
        <c:majorUnit val="100"/>
      </c:valAx>
      <c:spPr>
        <a:solidFill xmlns:a="http://schemas.openxmlformats.org/drawingml/2006/main">
          <a:srgbClr val="151820"/>
        </a:solidFill>
        <a:ln xmlns:a="http://schemas.openxmlformats.org/drawingml/2006/main" w="0">
          <a:noFill/>
        </a:ln>
      </c:spPr>
    </c:plotArea>
    <c:plotVisOnly val="1"/>
  </c:chart>
  <c:spPr>
    <a:solidFill xmlns:a="http://schemas.openxmlformats.org/drawingml/2006/main">
      <a:srgbClr val="15182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66DA2E-5D57-4430-B7D6-02392A1617C6}"/>
              </a:ext>
            </a:extLst>
          </p:cNvPr>
          <p:cNvSpPr>
            <a:spLocks xmlns:a="http://schemas.openxmlformats.org/drawingml/2006/main" noGrp="1"/>
          </p:cNvSpPr>
          <p:nvPr/>
        </p:nvSpPr>
        <p:spPr>
          <a:xfrm xmlns:a="http://schemas.openxmlformats.org/drawingml/2006/main">
            <a:off x="723900" y="8572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000" b="1">
                <a:solidFill>
                  <a:srgbClr val="FFD21E"/>
                </a:solidFill>
                <a:latin typeface="Arial"/>
                <a:ea typeface="Arial"/>
                <a:cs typeface="Arial"/>
              </a:defRPr>
            </a:pPr>
            <a:r>
              <a:rPr sz="6000" b="1">
                <a:solidFill>
                  <a:srgbClr val="FFD21E"/>
                </a:solidFill>
                <a:latin typeface="Arial"/>
                <a:ea typeface="Arial"/>
                <a:cs typeface="Arial"/>
              </a:rPr>
              <a:t>Bringing the Heat</a:t>
            </a:r>
          </a:p>
        </p:txBody>
      </p:sp>
      <p:sp>
        <p:nvSpPr>
          <p:cNvPr id="2" name="">
            <a:extLst xmlns:a="http://schemas.openxmlformats.org/drawingml/2006/main">
              <a:ext uri="{FF2B5EF4-FFF2-40B4-BE49-F238E27FC236}">
                <a16:creationId xmlns:a16="http://schemas.microsoft.com/office/drawing/2014/main" id="{81D6DEFC-FC3D-4F12-BE44-3F5C2676CA77}"/>
              </a:ext>
            </a:extLst>
          </p:cNvPr>
          <p:cNvSpPr>
            <a:spLocks xmlns:a="http://schemas.openxmlformats.org/drawingml/2006/main" noGrp="1"/>
          </p:cNvSpPr>
          <p:nvPr/>
        </p:nvSpPr>
        <p:spPr>
          <a:xfrm xmlns:a="http://schemas.openxmlformats.org/drawingml/2006/main">
            <a:off x="762000" y="2190750"/>
            <a:ext cx="67246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0">
                <a:solidFill>
                  <a:srgbClr val="FFF9ED"/>
                </a:solidFill>
                <a:latin typeface="Arial"/>
                <a:ea typeface="Arial"/>
                <a:cs typeface="Arial"/>
              </a:defRPr>
            </a:pPr>
            <a:r>
              <a:rPr sz="3300" b="0">
                <a:solidFill>
                  <a:srgbClr val="FFF9ED"/>
                </a:solidFill>
                <a:latin typeface="Arial"/>
                <a:ea typeface="Arial"/>
                <a:cs typeface="Arial"/>
              </a:rPr>
              <a:t>Supercharging Your ML</a:t>
            </a:r>
          </a:p>
          <a:p xmlns:a="http://schemas.openxmlformats.org/drawingml/2006/main">
            <a:pPr>
              <a:defRPr sz="3300" b="0">
                <a:solidFill>
                  <a:srgbClr val="FFF9ED"/>
                </a:solidFill>
                <a:latin typeface="Arial"/>
                <a:ea typeface="Arial"/>
                <a:cs typeface="Arial"/>
              </a:defRPr>
            </a:pPr>
            <a:r>
              <a:rPr sz="3300" b="0">
                <a:solidFill>
                  <a:srgbClr val="FFF9ED"/>
                </a:solidFill>
                <a:latin typeface="Arial"/>
                <a:ea typeface="Arial"/>
                <a:cs typeface="Arial"/>
              </a:rPr>
              <a:t>Pipelines with HuggingFace</a:t>
            </a:r>
          </a:p>
        </p:txBody>
      </p:sp>
      <p:sp>
        <p:nvSpPr>
          <p:cNvPr id="3" name="">
            <a:extLst xmlns:a="http://schemas.openxmlformats.org/drawingml/2006/main">
              <a:ext uri="{FF2B5EF4-FFF2-40B4-BE49-F238E27FC236}">
                <a16:creationId xmlns:a16="http://schemas.microsoft.com/office/drawing/2014/main" id="{774037EE-A498-4896-834D-D20150D080F8}"/>
              </a:ext>
            </a:extLst>
          </p:cNvPr>
          <p:cNvSpPr>
            <a:spLocks xmlns:a="http://schemas.openxmlformats.org/drawingml/2006/main" noGrp="1"/>
          </p:cNvSpPr>
          <p:nvPr/>
        </p:nvSpPr>
        <p:spPr>
          <a:xfrm xmlns:a="http://schemas.openxmlformats.org/drawingml/2006/main">
            <a:off x="762000" y="4391025"/>
            <a:ext cx="672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9ED"/>
                </a:solidFill>
                <a:latin typeface="Arial"/>
                <a:ea typeface="Arial"/>
                <a:cs typeface="Arial"/>
              </a:defRPr>
            </a:pPr>
            <a:r>
              <a:rPr sz="3300" b="1">
                <a:solidFill>
                  <a:srgbClr val="FFF9ED"/>
                </a:solidFill>
                <a:latin typeface="Arial"/>
                <a:ea typeface="Arial"/>
                <a:cs typeface="Arial"/>
              </a:rPr>
              <a:t>Muntaser Syed</a:t>
            </a:r>
          </a:p>
        </p:txBody>
      </p:sp>
      <p:sp>
        <p:nvSpPr>
          <p:cNvPr id="4" name="">
            <a:extLst xmlns:a="http://schemas.openxmlformats.org/drawingml/2006/main">
              <a:ext uri="{FF2B5EF4-FFF2-40B4-BE49-F238E27FC236}">
                <a16:creationId xmlns:a16="http://schemas.microsoft.com/office/drawing/2014/main" id="{D1C6371E-A8B6-47EC-B9AF-96CF3176D196}"/>
              </a:ext>
            </a:extLst>
          </p:cNvPr>
          <p:cNvSpPr>
            <a:spLocks xmlns:a="http://schemas.openxmlformats.org/drawingml/2006/main" noGrp="1"/>
          </p:cNvSpPr>
          <p:nvPr/>
        </p:nvSpPr>
        <p:spPr>
          <a:xfrm xmlns:a="http://schemas.openxmlformats.org/drawingml/2006/main">
            <a:off x="762000" y="5095875"/>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9ED"/>
                </a:solidFill>
                <a:latin typeface="Arial"/>
                <a:ea typeface="Arial"/>
                <a:cs typeface="Arial"/>
              </a:defRPr>
            </a:pPr>
            <a:r>
              <a:rPr sz="2400" b="0">
                <a:solidFill>
                  <a:srgbClr val="FFF9ED"/>
                </a:solidFill>
                <a:latin typeface="Arial"/>
                <a:ea typeface="Arial"/>
                <a:cs typeface="Arial"/>
                <a:hlinkClick xmlns:r="http://schemas.openxmlformats.org/officeDocument/2006/relationships" r:id="R3fa139aab6994aee"/>
              </a:rPr>
              <a:t>muntasersyed.com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bf11aa95507453b"/>
          <a:stretch xmlns:a="http://schemas.openxmlformats.org/drawingml/2006/main"/>
        </p:blipFill>
        <p:spPr>
          <a:xfrm xmlns:a="http://schemas.openxmlformats.org/drawingml/2006/main">
            <a:off x="7810500" y="2143125"/>
            <a:ext cx="3733800" cy="3733800"/>
          </a:xfrm>
          <a:prstGeom xmlns:a="http://schemas.openxmlformats.org/drawingml/2006/main" prst="rect">
            <a:avLst/>
          </a:prstGeom>
        </p:spPr>
      </p:pic>
    </p:spTree>
    <p:extLst>
      <p:ext uri="{BB962C8B-B14F-4D97-AF65-F5344CB8AC3E}">
        <p14:creationId xmlns:p14="http://schemas.microsoft.com/office/powerpoint/2010/main" val="451615084"/>
      </p:ext>
    </p:extLst>
  </p:cSld>
</p:sld>
</file>

<file path=ppt/slides/slide2.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17EEBD-1E5F-468D-8117-B82819915346}"/>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The production contract</a:t>
            </a:r>
          </a:p>
        </p:txBody>
      </p:sp>
      <p:sp>
        <p:nvSpPr>
          <p:cNvPr id="2" name="">
            <a:extLst xmlns:a="http://schemas.openxmlformats.org/drawingml/2006/main">
              <a:ext uri="{FF2B5EF4-FFF2-40B4-BE49-F238E27FC236}">
                <a16:creationId xmlns:a16="http://schemas.microsoft.com/office/drawing/2014/main" id="{D46C9D84-D4F5-4EE5-91F0-3926DA318ED3}"/>
              </a:ext>
            </a:extLst>
          </p:cNvPr>
          <p:cNvSpPr>
            <a:spLocks xmlns:a="http://schemas.openxmlformats.org/drawingml/2006/main" noGrp="1"/>
          </p:cNvSpPr>
          <p:nvPr/>
        </p:nvSpPr>
        <p:spPr>
          <a:xfrm xmlns:a="http://schemas.openxmlformats.org/drawingml/2006/main">
            <a:off x="609600" y="17907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A useful prediction</a:t>
            </a:r>
          </a:p>
        </p:txBody>
      </p:sp>
      <p:sp>
        <p:nvSpPr>
          <p:cNvPr id="3" name="">
            <a:extLst xmlns:a="http://schemas.openxmlformats.org/drawingml/2006/main">
              <a:ext uri="{FF2B5EF4-FFF2-40B4-BE49-F238E27FC236}">
                <a16:creationId xmlns:a16="http://schemas.microsoft.com/office/drawing/2014/main" id="{8D21C182-02A9-4DAD-BBC7-5510924D5C97}"/>
              </a:ext>
            </a:extLst>
          </p:cNvPr>
          <p:cNvSpPr>
            <a:spLocks xmlns:a="http://schemas.openxmlformats.org/drawingml/2006/main" noGrp="1"/>
          </p:cNvSpPr>
          <p:nvPr/>
        </p:nvSpPr>
        <p:spPr>
          <a:xfrm xmlns:a="http://schemas.openxmlformats.org/drawingml/2006/main">
            <a:off x="609600" y="2419350"/>
            <a:ext cx="50101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The model gets this example right.</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We can explain the output.</a:t>
            </a:r>
          </a:p>
        </p:txBody>
      </p:sp>
      <p:sp>
        <p:nvSpPr>
          <p:cNvPr id="4" name="">
            <a:extLst xmlns:a="http://schemas.openxmlformats.org/drawingml/2006/main">
              <a:ext uri="{FF2B5EF4-FFF2-40B4-BE49-F238E27FC236}">
                <a16:creationId xmlns:a16="http://schemas.microsoft.com/office/drawing/2014/main" id="{27624A0D-E323-4B60-8433-31F6A320DF19}"/>
              </a:ext>
            </a:extLst>
          </p:cNvPr>
          <p:cNvSpPr>
            <a:spLocks xmlns:a="http://schemas.openxmlformats.org/drawingml/2006/main" noGrp="1"/>
          </p:cNvSpPr>
          <p:nvPr/>
        </p:nvSpPr>
        <p:spPr>
          <a:xfrm xmlns:a="http://schemas.openxmlformats.org/drawingml/2006/main">
            <a:off x="6610350" y="179070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A release we can defend</a:t>
            </a:r>
          </a:p>
        </p:txBody>
      </p:sp>
      <p:sp>
        <p:nvSpPr>
          <p:cNvPr id="5" name="">
            <a:extLst xmlns:a="http://schemas.openxmlformats.org/drawingml/2006/main">
              <a:ext uri="{FF2B5EF4-FFF2-40B4-BE49-F238E27FC236}">
                <a16:creationId xmlns:a16="http://schemas.microsoft.com/office/drawing/2014/main" id="{12A34D76-A16A-47AD-8ABC-57402687D98D}"/>
              </a:ext>
            </a:extLst>
          </p:cNvPr>
          <p:cNvSpPr>
            <a:spLocks xmlns:a="http://schemas.openxmlformats.org/drawingml/2006/main" noGrp="1"/>
          </p:cNvSpPr>
          <p:nvPr/>
        </p:nvSpPr>
        <p:spPr>
          <a:xfrm xmlns:a="http://schemas.openxmlformats.org/drawingml/2006/main">
            <a:off x="6610350" y="2419350"/>
            <a:ext cx="49720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We can reproduce its inputs.</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We know where it fails.</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We can meet a latency budget</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and roll back the artifact.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15ee80f6b1f4e61"/>
          <a:stretch xmlns:a="http://schemas.openxmlformats.org/drawingml/2006/main"/>
        </p:blipFill>
        <p:spPr>
          <a:xfrm xmlns:a="http://schemas.openxmlformats.org/drawingml/2006/main">
            <a:off x="609600" y="3695700"/>
            <a:ext cx="2133600" cy="2133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8B848B-BBD2-4E44-9C39-D250E7EB86F2}"/>
              </a:ext>
            </a:extLst>
          </p:cNvPr>
          <p:cNvSpPr>
            <a:spLocks xmlns:a="http://schemas.openxmlformats.org/drawingml/2006/main" noGrp="1"/>
          </p:cNvSpPr>
          <p:nvPr/>
        </p:nvSpPr>
        <p:spPr>
          <a:xfrm xmlns:a="http://schemas.openxmlformats.org/drawingml/2006/main">
            <a:off x="2952750" y="39052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Code + Colab notebook</a:t>
            </a:r>
          </a:p>
        </p:txBody>
      </p:sp>
      <p:sp>
        <p:nvSpPr>
          <p:cNvPr id="8" name="">
            <a:extLst xmlns:a="http://schemas.openxmlformats.org/drawingml/2006/main">
              <a:ext uri="{FF2B5EF4-FFF2-40B4-BE49-F238E27FC236}">
                <a16:creationId xmlns:a16="http://schemas.microsoft.com/office/drawing/2014/main" id="{1D4C51B3-CEB9-4D26-BDFE-538B3CE63668}"/>
              </a:ext>
            </a:extLst>
          </p:cNvPr>
          <p:cNvSpPr>
            <a:spLocks xmlns:a="http://schemas.openxmlformats.org/drawingml/2006/main" noGrp="1"/>
          </p:cNvSpPr>
          <p:nvPr/>
        </p:nvSpPr>
        <p:spPr>
          <a:xfrm xmlns:a="http://schemas.openxmlformats.org/drawingml/2006/main">
            <a:off x="2952750" y="4381500"/>
            <a:ext cx="342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9ED"/>
                </a:solidFill>
                <a:latin typeface="Arial"/>
                <a:ea typeface="Arial"/>
                <a:cs typeface="Arial"/>
              </a:defRPr>
            </a:pPr>
            <a:r>
              <a:rPr sz="1950" b="0">
                <a:solidFill>
                  <a:srgbClr val="FFF9ED"/>
                </a:solidFill>
                <a:latin typeface="Arial"/>
                <a:ea typeface="Arial"/>
                <a:cs typeface="Arial"/>
                <a:hlinkClick xmlns:r="http://schemas.openxmlformats.org/officeDocument/2006/relationships" r:id="R83fa31619b1a431d"/>
              </a:rPr>
              <a:t>github.com/jemsbhai/</a:t>
            </a:r>
          </a:p>
          <a:p xmlns:a="http://schemas.openxmlformats.org/drawingml/2006/main">
            <a:pPr>
              <a:defRPr sz="1950" b="0">
                <a:solidFill>
                  <a:srgbClr val="FFF9ED"/>
                </a:solidFill>
                <a:latin typeface="Arial"/>
                <a:ea typeface="Arial"/>
                <a:cs typeface="Arial"/>
              </a:defRPr>
            </a:pPr>
            <a:r>
              <a:rPr sz="1950" b="0">
                <a:solidFill>
                  <a:srgbClr val="FFF9ED"/>
                </a:solidFill>
                <a:latin typeface="Arial"/>
                <a:ea typeface="Arial"/>
                <a:cs typeface="Arial"/>
                <a:hlinkClick xmlns:r="http://schemas.openxmlformats.org/officeDocument/2006/relationships" r:id="R03a63f6708a74b50"/>
              </a:rPr>
              <a:t>bringing-the-heat</a:t>
            </a:r>
          </a:p>
        </p:txBody>
      </p:sp>
      <p:sp>
        <p:nvSpPr>
          <p:cNvPr id="9" name="">
            <a:extLst xmlns:a="http://schemas.openxmlformats.org/drawingml/2006/main">
              <a:ext uri="{FF2B5EF4-FFF2-40B4-BE49-F238E27FC236}">
                <a16:creationId xmlns:a16="http://schemas.microsoft.com/office/drawing/2014/main" id="{7A27A85B-CDEB-4A0E-8FBA-9A6363519474}"/>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Today’s unit of progress: an artifact plus evidence</a:t>
            </a:r>
          </a:p>
        </p:txBody>
      </p:sp>
      <p:sp>
        <p:nvSpPr>
          <p:cNvPr id="10" name="">
            <a:extLst xmlns:a="http://schemas.openxmlformats.org/drawingml/2006/main">
              <a:ext uri="{FF2B5EF4-FFF2-40B4-BE49-F238E27FC236}">
                <a16:creationId xmlns:a16="http://schemas.microsoft.com/office/drawing/2014/main" id="{E6A8072F-FA6F-45A6-8A79-46134E567B95}"/>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02</a:t>
            </a:r>
          </a:p>
        </p:txBody>
      </p:sp>
    </p:spTree>
    <p:extLst>
      <p:ext uri="{BB962C8B-B14F-4D97-AF65-F5344CB8AC3E}">
        <p14:creationId xmlns:p14="http://schemas.microsoft.com/office/powerpoint/2010/main" val="1501342977"/>
      </p:ext>
    </p:extLst>
  </p:cSld>
</p:sld>
</file>

<file path=ppt/slides/slide3.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B707DE-9C32-488D-B961-D06551F675FC}"/>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My Hub: MultiSpecQR</a:t>
            </a:r>
          </a:p>
        </p:txBody>
      </p:sp>
      <p:sp>
        <p:nvSpPr>
          <p:cNvPr id="2" name="">
            <a:extLst xmlns:a="http://schemas.openxmlformats.org/drawingml/2006/main">
              <a:ext uri="{FF2B5EF4-FFF2-40B4-BE49-F238E27FC236}">
                <a16:creationId xmlns:a16="http://schemas.microsoft.com/office/drawing/2014/main" id="{46772632-8054-4BD3-9938-D51195BA14C8}"/>
              </a:ext>
            </a:extLst>
          </p:cNvPr>
          <p:cNvSpPr>
            <a:spLocks xmlns:a="http://schemas.openxmlformats.org/drawingml/2006/main" noGrp="1"/>
          </p:cNvSpPr>
          <p:nvPr/>
        </p:nvSpPr>
        <p:spPr>
          <a:xfrm xmlns:a="http://schemas.openxmlformats.org/drawingml/2006/main">
            <a:off x="609600" y="1762125"/>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One public project, reusable pieces</a:t>
            </a:r>
          </a:p>
        </p:txBody>
      </p:sp>
      <p:sp>
        <p:nvSpPr>
          <p:cNvPr id="3" name="">
            <a:extLst xmlns:a="http://schemas.openxmlformats.org/drawingml/2006/main">
              <a:ext uri="{FF2B5EF4-FFF2-40B4-BE49-F238E27FC236}">
                <a16:creationId xmlns:a16="http://schemas.microsoft.com/office/drawing/2014/main" id="{8331C925-6BBF-479C-9ECD-8C0FC74666CB}"/>
              </a:ext>
            </a:extLst>
          </p:cNvPr>
          <p:cNvSpPr>
            <a:spLocks xmlns:a="http://schemas.openxmlformats.org/drawingml/2006/main" noGrp="1"/>
          </p:cNvSpPr>
          <p:nvPr/>
        </p:nvSpPr>
        <p:spPr>
          <a:xfrm xmlns:a="http://schemas.openxmlformats.org/drawingml/2006/main">
            <a:off x="609600" y="2362200"/>
            <a:ext cx="622935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4 decoder models</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RGB and 6 / 8 / 9 layer palettes</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2 public datasets</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Synthetic examples and split metadata</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Custom CNNs and a Python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b264aa17c414064"/>
          <a:stretch xmlns:a="http://schemas.openxmlformats.org/drawingml/2006/main"/>
        </p:blipFill>
        <p:spPr>
          <a:xfrm xmlns:a="http://schemas.openxmlformats.org/drawingml/2006/main">
            <a:off x="7734300" y="1676400"/>
            <a:ext cx="3581400" cy="3581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70615AD-43E7-4F45-9732-FCDF8D73B0F8}"/>
              </a:ext>
            </a:extLst>
          </p:cNvPr>
          <p:cNvSpPr>
            <a:spLocks xmlns:a="http://schemas.openxmlformats.org/drawingml/2006/main" noGrp="1"/>
          </p:cNvSpPr>
          <p:nvPr/>
        </p:nvSpPr>
        <p:spPr>
          <a:xfrm xmlns:a="http://schemas.openxmlformats.org/drawingml/2006/main">
            <a:off x="7734300" y="5362575"/>
            <a:ext cx="3600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9BECA"/>
                </a:solidFill>
                <a:latin typeface="Arial"/>
                <a:ea typeface="Arial"/>
                <a:cs typeface="Arial"/>
              </a:defRPr>
            </a:pPr>
            <a:r>
              <a:rPr sz="1725" b="0">
                <a:solidFill>
                  <a:srgbClr val="B9BECA"/>
                </a:solidFill>
                <a:latin typeface="Arial"/>
                <a:ea typeface="Arial"/>
                <a:cs typeface="Arial"/>
              </a:rPr>
              <a:t>Real RGB dataset sample</a:t>
            </a:r>
          </a:p>
          <a:p xmlns:a="http://schemas.openxmlformats.org/drawingml/2006/main">
            <a:pPr>
              <a:defRPr sz="1725" b="0">
                <a:solidFill>
                  <a:srgbClr val="B9BECA"/>
                </a:solidFill>
                <a:latin typeface="Arial"/>
                <a:ea typeface="Arial"/>
                <a:cs typeface="Arial"/>
              </a:defRPr>
            </a:pPr>
            <a:r>
              <a:rPr sz="1725" b="0">
                <a:solidFill>
                  <a:srgbClr val="B9BECA"/>
                </a:solidFill>
                <a:latin typeface="Arial"/>
                <a:ea typeface="Arial"/>
                <a:cs typeface="Arial"/>
              </a:rPr>
              <a:t>3 payload layers</a:t>
            </a:r>
          </a:p>
        </p:txBody>
      </p:sp>
      <p:sp>
        <p:nvSpPr>
          <p:cNvPr id="6" name="">
            <a:extLst xmlns:a="http://schemas.openxmlformats.org/drawingml/2006/main">
              <a:ext uri="{FF2B5EF4-FFF2-40B4-BE49-F238E27FC236}">
                <a16:creationId xmlns:a16="http://schemas.microsoft.com/office/drawing/2014/main" id="{7308C2E9-1CEE-45DA-97BD-AB09FAB74135}"/>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huggingface.co/Jemsbhai</a:t>
            </a:r>
          </a:p>
        </p:txBody>
      </p:sp>
      <p:sp>
        <p:nvSpPr>
          <p:cNvPr id="7" name="">
            <a:extLst xmlns:a="http://schemas.openxmlformats.org/drawingml/2006/main">
              <a:ext uri="{FF2B5EF4-FFF2-40B4-BE49-F238E27FC236}">
                <a16:creationId xmlns:a16="http://schemas.microsoft.com/office/drawing/2014/main" id="{0046A031-80A9-4426-B3D3-A4FAFF594FB3}"/>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03</a:t>
            </a:r>
          </a:p>
        </p:txBody>
      </p:sp>
    </p:spTree>
    <p:extLst>
      <p:ext uri="{BB962C8B-B14F-4D97-AF65-F5344CB8AC3E}">
        <p14:creationId xmlns:p14="http://schemas.microsoft.com/office/powerpoint/2010/main" val="322910369"/>
      </p:ext>
    </p:extLst>
  </p:cSld>
</p:sld>
</file>

<file path=ppt/slides/slide4.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61996E8-337A-4E9F-BBDC-731D88959D3C}"/>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A workflow through the ecosystem</a:t>
            </a:r>
          </a:p>
        </p:txBody>
      </p:sp>
      <p:sp>
        <p:nvSpPr>
          <p:cNvPr id="2" name="stage0">
            <a:extLst xmlns:a="http://schemas.openxmlformats.org/drawingml/2006/main">
              <a:ext uri="{FF2B5EF4-FFF2-40B4-BE49-F238E27FC236}">
                <a16:creationId xmlns:a16="http://schemas.microsoft.com/office/drawing/2014/main" id="{701676FE-C074-4325-9AC1-00E266D9ACE0}"/>
              </a:ext>
            </a:extLst>
          </p:cNvPr>
          <p:cNvSpPr>
            <a:spLocks xmlns:a="http://schemas.openxmlformats.org/drawingml/2006/main" noGrp="1"/>
          </p:cNvSpPr>
          <p:nvPr/>
        </p:nvSpPr>
        <p:spPr>
          <a:xfrm xmlns:a="http://schemas.openxmlformats.org/drawingml/2006/main">
            <a:off x="609600" y="1971675"/>
            <a:ext cx="2362200" cy="11620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Discover</a:t>
            </a:r>
          </a:p>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and version</a:t>
            </a:r>
          </a:p>
        </p:txBody>
      </p:sp>
      <p:sp>
        <p:nvSpPr>
          <p:cNvPr id="3" name="artifact0">
            <a:extLst xmlns:a="http://schemas.openxmlformats.org/drawingml/2006/main">
              <a:ext uri="{FF2B5EF4-FFF2-40B4-BE49-F238E27FC236}">
                <a16:creationId xmlns:a16="http://schemas.microsoft.com/office/drawing/2014/main" id="{23F30A69-1F1E-48CF-A972-470FC0C6D5BB}"/>
              </a:ext>
            </a:extLst>
          </p:cNvPr>
          <p:cNvSpPr>
            <a:spLocks xmlns:a="http://schemas.openxmlformats.org/drawingml/2006/main" noGrp="1"/>
          </p:cNvSpPr>
          <p:nvPr/>
        </p:nvSpPr>
        <p:spPr>
          <a:xfrm xmlns:a="http://schemas.openxmlformats.org/drawingml/2006/main">
            <a:off x="609600" y="4419600"/>
            <a:ext cx="2362200" cy="1028700"/>
          </a:xfrm>
          <a:prstGeom xmlns:a="http://schemas.openxmlformats.org/drawingml/2006/main" prst="flowChartDocumen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Commit IDs</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Split manifest</a:t>
            </a:r>
          </a:p>
        </p:txBody>
      </p:sp>
      <p:sp>
        <p:nvSpPr>
          <p:cNvPr id="4" name="stage1">
            <a:extLst xmlns:a="http://schemas.openxmlformats.org/drawingml/2006/main">
              <a:ext uri="{FF2B5EF4-FFF2-40B4-BE49-F238E27FC236}">
                <a16:creationId xmlns:a16="http://schemas.microsoft.com/office/drawing/2014/main" id="{080B4B99-FFCA-40C9-94BA-775EAA514543}"/>
              </a:ext>
            </a:extLst>
          </p:cNvPr>
          <p:cNvSpPr>
            <a:spLocks xmlns:a="http://schemas.openxmlformats.org/drawingml/2006/main" noGrp="1"/>
          </p:cNvSpPr>
          <p:nvPr/>
        </p:nvSpPr>
        <p:spPr>
          <a:xfrm xmlns:a="http://schemas.openxmlformats.org/drawingml/2006/main">
            <a:off x="3390900" y="1971675"/>
            <a:ext cx="2362200" cy="11620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Adapt the</a:t>
            </a:r>
          </a:p>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model</a:t>
            </a:r>
          </a:p>
        </p:txBody>
      </p:sp>
      <p:sp>
        <p:nvSpPr>
          <p:cNvPr id="5" name="artifact1">
            <a:extLst xmlns:a="http://schemas.openxmlformats.org/drawingml/2006/main">
              <a:ext uri="{FF2B5EF4-FFF2-40B4-BE49-F238E27FC236}">
                <a16:creationId xmlns:a16="http://schemas.microsoft.com/office/drawing/2014/main" id="{914F3D39-6153-42CE-B605-A9C614C8960C}"/>
              </a:ext>
            </a:extLst>
          </p:cNvPr>
          <p:cNvSpPr>
            <a:spLocks xmlns:a="http://schemas.openxmlformats.org/drawingml/2006/main" noGrp="1"/>
          </p:cNvSpPr>
          <p:nvPr/>
        </p:nvSpPr>
        <p:spPr>
          <a:xfrm xmlns:a="http://schemas.openxmlformats.org/drawingml/2006/main">
            <a:off x="3390900" y="4419600"/>
            <a:ext cx="2362200" cy="1028700"/>
          </a:xfrm>
          <a:prstGeom xmlns:a="http://schemas.openxmlformats.org/drawingml/2006/main" prst="flowChartDocumen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Adapter</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Training config</a:t>
            </a:r>
          </a:p>
        </p:txBody>
      </p:sp>
      <p:sp>
        <p:nvSpPr>
          <p:cNvPr id="6" name="stage2">
            <a:extLst xmlns:a="http://schemas.openxmlformats.org/drawingml/2006/main">
              <a:ext uri="{FF2B5EF4-FFF2-40B4-BE49-F238E27FC236}">
                <a16:creationId xmlns:a16="http://schemas.microsoft.com/office/drawing/2014/main" id="{9A50231B-20AA-4269-960A-976D1F1C3346}"/>
              </a:ext>
            </a:extLst>
          </p:cNvPr>
          <p:cNvSpPr>
            <a:spLocks xmlns:a="http://schemas.openxmlformats.org/drawingml/2006/main" noGrp="1"/>
          </p:cNvSpPr>
          <p:nvPr/>
        </p:nvSpPr>
        <p:spPr>
          <a:xfrm xmlns:a="http://schemas.openxmlformats.org/drawingml/2006/main">
            <a:off x="6172200" y="1971675"/>
            <a:ext cx="2362200" cy="11620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Evaluate the</a:t>
            </a:r>
          </a:p>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candidate</a:t>
            </a:r>
          </a:p>
        </p:txBody>
      </p:sp>
      <p:sp>
        <p:nvSpPr>
          <p:cNvPr id="7" name="artifact2">
            <a:extLst xmlns:a="http://schemas.openxmlformats.org/drawingml/2006/main">
              <a:ext uri="{FF2B5EF4-FFF2-40B4-BE49-F238E27FC236}">
                <a16:creationId xmlns:a16="http://schemas.microsoft.com/office/drawing/2014/main" id="{EFDFC272-E0F2-4467-A388-EA71B3780F64}"/>
              </a:ext>
            </a:extLst>
          </p:cNvPr>
          <p:cNvSpPr>
            <a:spLocks xmlns:a="http://schemas.openxmlformats.org/drawingml/2006/main" noGrp="1"/>
          </p:cNvSpPr>
          <p:nvPr/>
        </p:nvSpPr>
        <p:spPr>
          <a:xfrm xmlns:a="http://schemas.openxmlformats.org/drawingml/2006/main">
            <a:off x="6172200" y="4419600"/>
            <a:ext cx="2362200" cy="1028700"/>
          </a:xfrm>
          <a:prstGeom xmlns:a="http://schemas.openxmlformats.org/drawingml/2006/main" prst="flowChartDocumen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Scores and slices</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Failure examples</a:t>
            </a:r>
          </a:p>
        </p:txBody>
      </p:sp>
      <p:sp>
        <p:nvSpPr>
          <p:cNvPr id="8" name="stage3">
            <a:extLst xmlns:a="http://schemas.openxmlformats.org/drawingml/2006/main">
              <a:ext uri="{FF2B5EF4-FFF2-40B4-BE49-F238E27FC236}">
                <a16:creationId xmlns:a16="http://schemas.microsoft.com/office/drawing/2014/main" id="{C07873E1-0C69-465D-90AD-B2F9E3A15931}"/>
              </a:ext>
            </a:extLst>
          </p:cNvPr>
          <p:cNvSpPr>
            <a:spLocks xmlns:a="http://schemas.openxmlformats.org/drawingml/2006/main" noGrp="1"/>
          </p:cNvSpPr>
          <p:nvPr/>
        </p:nvSpPr>
        <p:spPr>
          <a:xfrm xmlns:a="http://schemas.openxmlformats.org/drawingml/2006/main">
            <a:off x="8953500" y="1971675"/>
            <a:ext cx="2362200" cy="11620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Optimize</a:t>
            </a:r>
          </a:p>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and deliver</a:t>
            </a:r>
          </a:p>
        </p:txBody>
      </p:sp>
      <p:sp>
        <p:nvSpPr>
          <p:cNvPr id="9" name="artifact3">
            <a:extLst xmlns:a="http://schemas.openxmlformats.org/drawingml/2006/main">
              <a:ext uri="{FF2B5EF4-FFF2-40B4-BE49-F238E27FC236}">
                <a16:creationId xmlns:a16="http://schemas.microsoft.com/office/drawing/2014/main" id="{CFBFCCB1-ED9F-4E9F-A8B9-EAF5B50465CC}"/>
              </a:ext>
            </a:extLst>
          </p:cNvPr>
          <p:cNvSpPr>
            <a:spLocks xmlns:a="http://schemas.openxmlformats.org/drawingml/2006/main" noGrp="1"/>
          </p:cNvSpPr>
          <p:nvPr/>
        </p:nvSpPr>
        <p:spPr>
          <a:xfrm xmlns:a="http://schemas.openxmlformats.org/drawingml/2006/main">
            <a:off x="8953500" y="4419600"/>
            <a:ext cx="2362200" cy="1028700"/>
          </a:xfrm>
          <a:prstGeom xmlns:a="http://schemas.openxmlformats.org/drawingml/2006/main" prst="flowChartDocumen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Runtime package</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Release record</a:t>
            </a:r>
          </a:p>
        </p:txBody>
      </p:sp>
      <p:cxnSp>
        <p:nvCxnSpPr>
          <p:cNvPr id="32" name=""/>
          <p:cNvCxnSpPr>
            <a:stCxn xmlns:a="http://schemas.openxmlformats.org/drawingml/2006/main" id="2" idx="2"/>
            <a:endCxn xmlns:a="http://schemas.openxmlformats.org/drawingml/2006/main" id="3" idx="0"/>
          </p:cNvCxnSpPr>
          <p:nvPr/>
        </p:nvCxnSpPr>
        <p:spPr>
          <a:xfrm xmlns:a="http://schemas.openxmlformats.org/drawingml/2006/main">
            <a:off x="1790700" y="3133725"/>
            <a:ext cx="0" cy="1285875"/>
          </a:xfrm>
          <a:prstGeom xmlns:a="http://schemas.openxmlformats.org/drawingml/2006/main" prst="straightConnector1">
            <a:avLst/>
          </a:prstGeom>
          <a:ln xmlns:a="http://schemas.openxmlformats.org/drawingml/2006/main" w="28575">
            <a:solidFill>
              <a:srgbClr val="B9BECA"/>
            </a:solidFill>
            <a:tailEnd type="triangle" w="med" len="med"/>
          </a:ln>
        </p:spPr>
      </p:cxnSp>
      <p:cxnSp>
        <p:nvCxnSpPr>
          <p:cNvPr id="33" name=""/>
          <p:cNvCxnSpPr>
            <a:stCxn xmlns:a="http://schemas.openxmlformats.org/drawingml/2006/main" id="4" idx="2"/>
            <a:endCxn xmlns:a="http://schemas.openxmlformats.org/drawingml/2006/main" id="5" idx="0"/>
          </p:cNvCxnSpPr>
          <p:nvPr/>
        </p:nvCxnSpPr>
        <p:spPr>
          <a:xfrm xmlns:a="http://schemas.openxmlformats.org/drawingml/2006/main">
            <a:off x="4572000" y="3133725"/>
            <a:ext cx="0" cy="1285875"/>
          </a:xfrm>
          <a:prstGeom xmlns:a="http://schemas.openxmlformats.org/drawingml/2006/main" prst="straightConnector1">
            <a:avLst/>
          </a:prstGeom>
          <a:ln xmlns:a="http://schemas.openxmlformats.org/drawingml/2006/main" w="28575">
            <a:solidFill>
              <a:srgbClr val="B9BECA"/>
            </a:solidFill>
            <a:tailEnd type="triangle" w="med" len="med"/>
          </a:ln>
        </p:spPr>
      </p:cxnSp>
      <p:cxnSp>
        <p:nvCxnSpPr>
          <p:cNvPr id="34" name=""/>
          <p:cNvCxnSpPr>
            <a:stCxn xmlns:a="http://schemas.openxmlformats.org/drawingml/2006/main" id="2" idx="3"/>
            <a:endCxn xmlns:a="http://schemas.openxmlformats.org/drawingml/2006/main" id="4" idx="1"/>
          </p:cNvCxnSpPr>
          <p:nvPr/>
        </p:nvCxnSpPr>
        <p:spPr>
          <a:xfrm xmlns:a="http://schemas.openxmlformats.org/drawingml/2006/main">
            <a:off x="2971800" y="2552700"/>
            <a:ext cx="419100" cy="0"/>
          </a:xfrm>
          <a:prstGeom xmlns:a="http://schemas.openxmlformats.org/drawingml/2006/main" prst="straightConnector1">
            <a:avLst/>
          </a:prstGeom>
          <a:ln xmlns:a="http://schemas.openxmlformats.org/drawingml/2006/main" w="28575">
            <a:solidFill>
              <a:srgbClr val="FFD21E"/>
            </a:solidFill>
            <a:tailEnd type="triangle" w="med" len="med"/>
          </a:ln>
        </p:spPr>
      </p:cxnSp>
      <p:cxnSp>
        <p:nvCxnSpPr>
          <p:cNvPr id="35" name=""/>
          <p:cNvCxnSpPr>
            <a:stCxn xmlns:a="http://schemas.openxmlformats.org/drawingml/2006/main" id="6" idx="2"/>
            <a:endCxn xmlns:a="http://schemas.openxmlformats.org/drawingml/2006/main" id="7" idx="0"/>
          </p:cNvCxnSpPr>
          <p:nvPr/>
        </p:nvCxnSpPr>
        <p:spPr>
          <a:xfrm xmlns:a="http://schemas.openxmlformats.org/drawingml/2006/main">
            <a:off x="7353300" y="3133725"/>
            <a:ext cx="0" cy="1285875"/>
          </a:xfrm>
          <a:prstGeom xmlns:a="http://schemas.openxmlformats.org/drawingml/2006/main" prst="straightConnector1">
            <a:avLst/>
          </a:prstGeom>
          <a:ln xmlns:a="http://schemas.openxmlformats.org/drawingml/2006/main" w="28575">
            <a:solidFill>
              <a:srgbClr val="B9BECA"/>
            </a:solidFill>
            <a:tailEnd type="triangle" w="med" len="med"/>
          </a:ln>
        </p:spPr>
      </p:cxnSp>
      <p:cxnSp>
        <p:nvCxnSpPr>
          <p:cNvPr id="36" name=""/>
          <p:cNvCxnSpPr>
            <a:stCxn xmlns:a="http://schemas.openxmlformats.org/drawingml/2006/main" id="4" idx="3"/>
            <a:endCxn xmlns:a="http://schemas.openxmlformats.org/drawingml/2006/main" id="6" idx="1"/>
          </p:cNvCxnSpPr>
          <p:nvPr/>
        </p:nvCxnSpPr>
        <p:spPr>
          <a:xfrm xmlns:a="http://schemas.openxmlformats.org/drawingml/2006/main">
            <a:off x="5753100" y="2552700"/>
            <a:ext cx="419100" cy="0"/>
          </a:xfrm>
          <a:prstGeom xmlns:a="http://schemas.openxmlformats.org/drawingml/2006/main" prst="straightConnector1">
            <a:avLst/>
          </a:prstGeom>
          <a:ln xmlns:a="http://schemas.openxmlformats.org/drawingml/2006/main" w="28575">
            <a:solidFill>
              <a:srgbClr val="FFD21E"/>
            </a:solidFill>
            <a:tailEnd type="triangle" w="med" len="med"/>
          </a:ln>
        </p:spPr>
      </p:cxnSp>
      <p:cxnSp>
        <p:nvCxnSpPr>
          <p:cNvPr id="37" name=""/>
          <p:cNvCxnSpPr>
            <a:stCxn xmlns:a="http://schemas.openxmlformats.org/drawingml/2006/main" id="8" idx="2"/>
            <a:endCxn xmlns:a="http://schemas.openxmlformats.org/drawingml/2006/main" id="9" idx="0"/>
          </p:cNvCxnSpPr>
          <p:nvPr/>
        </p:nvCxnSpPr>
        <p:spPr>
          <a:xfrm xmlns:a="http://schemas.openxmlformats.org/drawingml/2006/main">
            <a:off x="10134600" y="3133725"/>
            <a:ext cx="0" cy="1285875"/>
          </a:xfrm>
          <a:prstGeom xmlns:a="http://schemas.openxmlformats.org/drawingml/2006/main" prst="straightConnector1">
            <a:avLst/>
          </a:prstGeom>
          <a:ln xmlns:a="http://schemas.openxmlformats.org/drawingml/2006/main" w="28575">
            <a:solidFill>
              <a:srgbClr val="B9BECA"/>
            </a:solidFill>
            <a:tailEnd type="triangle" w="med" len="med"/>
          </a:ln>
        </p:spPr>
      </p:cxnSp>
      <p:cxnSp>
        <p:nvCxnSpPr>
          <p:cNvPr id="38" name=""/>
          <p:cNvCxnSpPr>
            <a:stCxn xmlns:a="http://schemas.openxmlformats.org/drawingml/2006/main" id="6" idx="3"/>
            <a:endCxn xmlns:a="http://schemas.openxmlformats.org/drawingml/2006/main" id="8" idx="1"/>
          </p:cNvCxnSpPr>
          <p:nvPr/>
        </p:nvCxnSpPr>
        <p:spPr>
          <a:xfrm xmlns:a="http://schemas.openxmlformats.org/drawingml/2006/main">
            <a:off x="8534400" y="2552700"/>
            <a:ext cx="419100" cy="0"/>
          </a:xfrm>
          <a:prstGeom xmlns:a="http://schemas.openxmlformats.org/drawingml/2006/main" prst="straightConnector1">
            <a:avLst/>
          </a:prstGeom>
          <a:ln xmlns:a="http://schemas.openxmlformats.org/drawingml/2006/main" w="28575">
            <a:solidFill>
              <a:srgbClr val="FFD21E"/>
            </a:solidFill>
            <a:tailEnd type="triangle" w="med" len="med"/>
          </a:ln>
        </p:spPr>
      </p:cxnSp>
      <p:sp>
        <p:nvSpPr>
          <p:cNvPr id="17" name="">
            <a:extLst xmlns:a="http://schemas.openxmlformats.org/drawingml/2006/main">
              <a:ext uri="{FF2B5EF4-FFF2-40B4-BE49-F238E27FC236}">
                <a16:creationId xmlns:a16="http://schemas.microsoft.com/office/drawing/2014/main" id="{E9B7922E-CE68-4841-BDDC-205B194696B0}"/>
              </a:ext>
            </a:extLst>
          </p:cNvPr>
          <p:cNvSpPr>
            <a:spLocks xmlns:a="http://schemas.openxmlformats.org/drawingml/2006/main" noGrp="1"/>
          </p:cNvSpPr>
          <p:nvPr/>
        </p:nvSpPr>
        <p:spPr>
          <a:xfrm xmlns:a="http://schemas.openxmlformats.org/drawingml/2006/main">
            <a:off x="609600" y="3314700"/>
            <a:ext cx="2457450" cy="781050"/>
          </a:xfrm>
          <a:prstGeom xmlns:a="http://schemas.openxmlformats.org/drawingml/2006/main" prst="rect">
            <a:avLst/>
          </a:prstGeom>
          <a:solidFill xmlns:a="http://schemas.openxmlformats.org/drawingml/2006/main">
            <a:srgbClr val="151820"/>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Hub</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Datasets</a:t>
            </a:r>
          </a:p>
        </p:txBody>
      </p:sp>
      <p:sp>
        <p:nvSpPr>
          <p:cNvPr id="18" name="">
            <a:extLst xmlns:a="http://schemas.openxmlformats.org/drawingml/2006/main">
              <a:ext uri="{FF2B5EF4-FFF2-40B4-BE49-F238E27FC236}">
                <a16:creationId xmlns:a16="http://schemas.microsoft.com/office/drawing/2014/main" id="{0A052700-9F99-48B0-BACB-2230B427C673}"/>
              </a:ext>
            </a:extLst>
          </p:cNvPr>
          <p:cNvSpPr>
            <a:spLocks xmlns:a="http://schemas.openxmlformats.org/drawingml/2006/main" noGrp="1"/>
          </p:cNvSpPr>
          <p:nvPr/>
        </p:nvSpPr>
        <p:spPr>
          <a:xfrm xmlns:a="http://schemas.openxmlformats.org/drawingml/2006/main">
            <a:off x="3390900" y="3314700"/>
            <a:ext cx="2457450" cy="781050"/>
          </a:xfrm>
          <a:prstGeom xmlns:a="http://schemas.openxmlformats.org/drawingml/2006/main" prst="rect">
            <a:avLst/>
          </a:prstGeom>
          <a:solidFill xmlns:a="http://schemas.openxmlformats.org/drawingml/2006/main">
            <a:srgbClr val="151820"/>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Transformers</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PEFT + Accelerate</a:t>
            </a:r>
          </a:p>
        </p:txBody>
      </p:sp>
      <p:sp>
        <p:nvSpPr>
          <p:cNvPr id="19" name="">
            <a:extLst xmlns:a="http://schemas.openxmlformats.org/drawingml/2006/main">
              <a:ext uri="{FF2B5EF4-FFF2-40B4-BE49-F238E27FC236}">
                <a16:creationId xmlns:a16="http://schemas.microsoft.com/office/drawing/2014/main" id="{4DCC0D54-94D7-4D31-BCF4-83F9D9A3E06E}"/>
              </a:ext>
            </a:extLst>
          </p:cNvPr>
          <p:cNvSpPr>
            <a:spLocks xmlns:a="http://schemas.openxmlformats.org/drawingml/2006/main" noGrp="1"/>
          </p:cNvSpPr>
          <p:nvPr/>
        </p:nvSpPr>
        <p:spPr>
          <a:xfrm xmlns:a="http://schemas.openxmlformats.org/drawingml/2006/main">
            <a:off x="6172200" y="3314700"/>
            <a:ext cx="2457450" cy="781050"/>
          </a:xfrm>
          <a:prstGeom xmlns:a="http://schemas.openxmlformats.org/drawingml/2006/main" prst="rect">
            <a:avLst/>
          </a:prstGeom>
          <a:solidFill xmlns:a="http://schemas.openxmlformats.org/drawingml/2006/main">
            <a:srgbClr val="151820"/>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Metrics</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Evaluate / LightEval</a:t>
            </a:r>
          </a:p>
        </p:txBody>
      </p:sp>
      <p:sp>
        <p:nvSpPr>
          <p:cNvPr id="20" name="">
            <a:extLst xmlns:a="http://schemas.openxmlformats.org/drawingml/2006/main">
              <a:ext uri="{FF2B5EF4-FFF2-40B4-BE49-F238E27FC236}">
                <a16:creationId xmlns:a16="http://schemas.microsoft.com/office/drawing/2014/main" id="{A762B787-45C1-4F3A-9D39-9F448FBCA335}"/>
              </a:ext>
            </a:extLst>
          </p:cNvPr>
          <p:cNvSpPr>
            <a:spLocks xmlns:a="http://schemas.openxmlformats.org/drawingml/2006/main" noGrp="1"/>
          </p:cNvSpPr>
          <p:nvPr/>
        </p:nvSpPr>
        <p:spPr>
          <a:xfrm xmlns:a="http://schemas.openxmlformats.org/drawingml/2006/main">
            <a:off x="8953500" y="3314700"/>
            <a:ext cx="2457450" cy="781050"/>
          </a:xfrm>
          <a:prstGeom xmlns:a="http://schemas.openxmlformats.org/drawingml/2006/main" prst="rect">
            <a:avLst/>
          </a:prstGeom>
          <a:solidFill xmlns:a="http://schemas.openxmlformats.org/drawingml/2006/main">
            <a:srgbClr val="151820"/>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Optimum ONNX</a:t>
            </a:r>
          </a:p>
          <a:p xmlns:a="http://schemas.openxmlformats.org/drawingml/2006/main">
            <a:pPr algn="ctr">
              <a:defRPr sz="1875" b="0">
                <a:solidFill>
                  <a:srgbClr val="FFF9ED"/>
                </a:solidFill>
                <a:latin typeface="Arial"/>
                <a:ea typeface="Arial"/>
                <a:cs typeface="Arial"/>
              </a:defRPr>
            </a:pPr>
            <a:r>
              <a:rPr sz="1875" b="0">
                <a:solidFill>
                  <a:srgbClr val="FFF9ED"/>
                </a:solidFill>
                <a:latin typeface="Arial"/>
                <a:ea typeface="Arial"/>
                <a:cs typeface="Arial"/>
              </a:rPr>
              <a:t>Spaces / Endpoints</a:t>
            </a:r>
          </a:p>
        </p:txBody>
      </p:sp>
      <p:sp>
        <p:nvSpPr>
          <p:cNvPr id="21" name="">
            <a:extLst xmlns:a="http://schemas.openxmlformats.org/drawingml/2006/main">
              <a:ext uri="{FF2B5EF4-FFF2-40B4-BE49-F238E27FC236}">
                <a16:creationId xmlns:a16="http://schemas.microsoft.com/office/drawing/2014/main" id="{00640DEB-62A4-43E4-BF3F-1EED3BF8D48E}"/>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PEFT adapts. Accelerate runs training. Optimum exports. Re-evaluate the export.</a:t>
            </a:r>
          </a:p>
        </p:txBody>
      </p:sp>
      <p:sp>
        <p:nvSpPr>
          <p:cNvPr id="22" name="">
            <a:extLst xmlns:a="http://schemas.openxmlformats.org/drawingml/2006/main">
              <a:ext uri="{FF2B5EF4-FFF2-40B4-BE49-F238E27FC236}">
                <a16:creationId xmlns:a16="http://schemas.microsoft.com/office/drawing/2014/main" id="{CD2B0B0C-4669-42C7-8071-6B8B9FB8DCD8}"/>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04</a:t>
            </a:r>
          </a:p>
        </p:txBody>
      </p:sp>
    </p:spTree>
    <p:extLst>
      <p:ext uri="{BB962C8B-B14F-4D97-AF65-F5344CB8AC3E}">
        <p14:creationId xmlns:p14="http://schemas.microsoft.com/office/powerpoint/2010/main" val="40124560"/>
      </p:ext>
    </p:extLst>
  </p:cSld>
</p:sld>
</file>

<file path=ppt/slides/slide5.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891CE3-6743-4FD8-B1A8-2B3D3713F663}"/>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The live build: a news classifier</a:t>
            </a:r>
          </a:p>
        </p:txBody>
      </p:sp>
      <p:sp>
        <p:nvSpPr>
          <p:cNvPr id="2" name="">
            <a:extLst xmlns:a="http://schemas.openxmlformats.org/drawingml/2006/main">
              <a:ext uri="{FF2B5EF4-FFF2-40B4-BE49-F238E27FC236}">
                <a16:creationId xmlns:a16="http://schemas.microsoft.com/office/drawing/2014/main" id="{C9C79F10-089C-4CA6-A956-9528A8A152EE}"/>
              </a:ext>
            </a:extLst>
          </p:cNvPr>
          <p:cNvSpPr>
            <a:spLocks xmlns:a="http://schemas.openxmlformats.org/drawingml/2006/main" noGrp="1"/>
          </p:cNvSpPr>
          <p:nvPr/>
        </p:nvSpPr>
        <p:spPr>
          <a:xfrm xmlns:a="http://schemas.openxmlformats.org/drawingml/2006/main">
            <a:off x="609600" y="17907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Input</a:t>
            </a:r>
          </a:p>
        </p:txBody>
      </p:sp>
      <p:sp>
        <p:nvSpPr>
          <p:cNvPr id="3" name="">
            <a:extLst xmlns:a="http://schemas.openxmlformats.org/drawingml/2006/main">
              <a:ext uri="{FF2B5EF4-FFF2-40B4-BE49-F238E27FC236}">
                <a16:creationId xmlns:a16="http://schemas.microsoft.com/office/drawing/2014/main" id="{B226828F-B816-494A-96D0-C720B845E499}"/>
              </a:ext>
            </a:extLst>
          </p:cNvPr>
          <p:cNvSpPr>
            <a:spLocks xmlns:a="http://schemas.openxmlformats.org/drawingml/2006/main" noGrp="1"/>
          </p:cNvSpPr>
          <p:nvPr/>
        </p:nvSpPr>
        <p:spPr>
          <a:xfrm xmlns:a="http://schemas.openxmlformats.org/drawingml/2006/main">
            <a:off x="609600" y="2419350"/>
            <a:ext cx="50101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A news headline and description</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“The team won the final</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after extra time.”</a:t>
            </a:r>
          </a:p>
        </p:txBody>
      </p:sp>
      <p:sp>
        <p:nvSpPr>
          <p:cNvPr id="4" name="">
            <a:extLst xmlns:a="http://schemas.openxmlformats.org/drawingml/2006/main">
              <a:ext uri="{FF2B5EF4-FFF2-40B4-BE49-F238E27FC236}">
                <a16:creationId xmlns:a16="http://schemas.microsoft.com/office/drawing/2014/main" id="{45E13556-1F12-45BD-A620-0653878B0488}"/>
              </a:ext>
            </a:extLst>
          </p:cNvPr>
          <p:cNvSpPr>
            <a:spLocks xmlns:a="http://schemas.openxmlformats.org/drawingml/2006/main" noGrp="1"/>
          </p:cNvSpPr>
          <p:nvPr/>
        </p:nvSpPr>
        <p:spPr>
          <a:xfrm xmlns:a="http://schemas.openxmlformats.org/drawingml/2006/main">
            <a:off x="6610350" y="179070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Output</a:t>
            </a:r>
          </a:p>
        </p:txBody>
      </p:sp>
      <p:sp>
        <p:nvSpPr>
          <p:cNvPr id="5" name="">
            <a:extLst xmlns:a="http://schemas.openxmlformats.org/drawingml/2006/main">
              <a:ext uri="{FF2B5EF4-FFF2-40B4-BE49-F238E27FC236}">
                <a16:creationId xmlns:a16="http://schemas.microsoft.com/office/drawing/2014/main" id="{788451F5-1733-4C45-8E97-8A0523BF5250}"/>
              </a:ext>
            </a:extLst>
          </p:cNvPr>
          <p:cNvSpPr>
            <a:spLocks xmlns:a="http://schemas.openxmlformats.org/drawingml/2006/main" noGrp="1"/>
          </p:cNvSpPr>
          <p:nvPr/>
        </p:nvSpPr>
        <p:spPr>
          <a:xfrm xmlns:a="http://schemas.openxmlformats.org/drawingml/2006/main">
            <a:off x="6610350" y="2419350"/>
            <a:ext cx="49720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World</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Sports</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Business</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Sci/Tech</a:t>
            </a:r>
          </a:p>
        </p:txBody>
      </p:sp>
      <p:sp>
        <p:nvSpPr>
          <p:cNvPr id="6" name="">
            <a:extLst xmlns:a="http://schemas.openxmlformats.org/drawingml/2006/main">
              <a:ext uri="{FF2B5EF4-FFF2-40B4-BE49-F238E27FC236}">
                <a16:creationId xmlns:a16="http://schemas.microsoft.com/office/drawing/2014/main" id="{8533BB34-F48B-4830-9397-F19D58133A75}"/>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DistilBERT + AG News. One trained artifact through export and serving.</a:t>
            </a:r>
          </a:p>
        </p:txBody>
      </p:sp>
      <p:sp>
        <p:nvSpPr>
          <p:cNvPr id="7" name="">
            <a:extLst xmlns:a="http://schemas.openxmlformats.org/drawingml/2006/main">
              <a:ext uri="{FF2B5EF4-FFF2-40B4-BE49-F238E27FC236}">
                <a16:creationId xmlns:a16="http://schemas.microsoft.com/office/drawing/2014/main" id="{79B4C31E-EEDA-43E7-8C4A-B7310EEE68DE}"/>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05</a:t>
            </a:r>
          </a:p>
        </p:txBody>
      </p:sp>
    </p:spTree>
    <p:extLst>
      <p:ext uri="{BB962C8B-B14F-4D97-AF65-F5344CB8AC3E}">
        <p14:creationId xmlns:p14="http://schemas.microsoft.com/office/powerpoint/2010/main" val="1403953797"/>
      </p:ext>
    </p:extLst>
  </p:cSld>
</p:sld>
</file>

<file path=ppt/slides/slide6.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509473-3C4F-49C7-9687-BF4955F604AB}"/>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Different splits make different decisions</a:t>
            </a:r>
          </a:p>
        </p:txBody>
      </p:sp>
      <p:sp>
        <p:nvSpPr>
          <p:cNvPr id="2" name="dataset">
            <a:extLst xmlns:a="http://schemas.openxmlformats.org/drawingml/2006/main">
              <a:ext uri="{FF2B5EF4-FFF2-40B4-BE49-F238E27FC236}">
                <a16:creationId xmlns:a16="http://schemas.microsoft.com/office/drawing/2014/main" id="{50FFEA48-6277-4B44-9335-BAFEE027A7A8}"/>
              </a:ext>
            </a:extLst>
          </p:cNvPr>
          <p:cNvSpPr>
            <a:spLocks xmlns:a="http://schemas.openxmlformats.org/drawingml/2006/main" noGrp="1"/>
          </p:cNvSpPr>
          <p:nvPr/>
        </p:nvSpPr>
        <p:spPr>
          <a:xfrm xmlns:a="http://schemas.openxmlformats.org/drawingml/2006/main">
            <a:off x="609600" y="3000375"/>
            <a:ext cx="2476500" cy="12001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Dataset revision</a:t>
            </a:r>
          </a:p>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 split seed</a:t>
            </a:r>
          </a:p>
        </p:txBody>
      </p:sp>
      <p:sp>
        <p:nvSpPr>
          <p:cNvPr id="3" name="train">
            <a:extLst xmlns:a="http://schemas.openxmlformats.org/drawingml/2006/main">
              <a:ext uri="{FF2B5EF4-FFF2-40B4-BE49-F238E27FC236}">
                <a16:creationId xmlns:a16="http://schemas.microsoft.com/office/drawing/2014/main" id="{23075D3B-EB5A-402B-9ED6-A0CD3799B5C9}"/>
              </a:ext>
            </a:extLst>
          </p:cNvPr>
          <p:cNvSpPr>
            <a:spLocks xmlns:a="http://schemas.openxmlformats.org/drawingml/2006/main" noGrp="1"/>
          </p:cNvSpPr>
          <p:nvPr/>
        </p:nvSpPr>
        <p:spPr>
          <a:xfrm xmlns:a="http://schemas.openxmlformats.org/drawingml/2006/main">
            <a:off x="4191000" y="1838325"/>
            <a:ext cx="2438400" cy="876300"/>
          </a:xfrm>
          <a:prstGeom xmlns:a="http://schemas.openxmlformats.org/drawingml/2006/main" prst="rect">
            <a:avLst/>
          </a:prstGeom>
          <a:solidFill xmlns:a="http://schemas.openxmlformats.org/drawingml/2006/main">
            <a:srgbClr val="20242E"/>
          </a:solidFill>
          <a:ln xmlns:a="http://schemas.openxmlformats.org/drawingml/2006/main" w="19050">
            <a:solidFill>
              <a:srgbClr val="86BFFF"/>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250" b="1">
                <a:solidFill>
                  <a:srgbClr val="FFF9ED"/>
                </a:solidFill>
                <a:latin typeface="Arial"/>
                <a:ea typeface="Arial"/>
                <a:cs typeface="Arial"/>
              </a:defRPr>
            </a:pPr>
            <a:r>
              <a:rPr sz="2250" b="1">
                <a:solidFill>
                  <a:srgbClr val="FFF9ED"/>
                </a:solidFill>
                <a:latin typeface="Arial"/>
                <a:ea typeface="Arial"/>
                <a:cs typeface="Arial"/>
              </a:rPr>
              <a:t>TRAIN</a:t>
            </a:r>
          </a:p>
        </p:txBody>
      </p:sp>
      <p:sp>
        <p:nvSpPr>
          <p:cNvPr id="4" name="validation">
            <a:extLst xmlns:a="http://schemas.openxmlformats.org/drawingml/2006/main">
              <a:ext uri="{FF2B5EF4-FFF2-40B4-BE49-F238E27FC236}">
                <a16:creationId xmlns:a16="http://schemas.microsoft.com/office/drawing/2014/main" id="{D48851D2-C4E7-46E4-90FA-A6FF1088F6ED}"/>
              </a:ext>
            </a:extLst>
          </p:cNvPr>
          <p:cNvSpPr>
            <a:spLocks xmlns:a="http://schemas.openxmlformats.org/drawingml/2006/main" noGrp="1"/>
          </p:cNvSpPr>
          <p:nvPr/>
        </p:nvSpPr>
        <p:spPr>
          <a:xfrm xmlns:a="http://schemas.openxmlformats.org/drawingml/2006/main">
            <a:off x="4191000" y="3248025"/>
            <a:ext cx="2438400" cy="876300"/>
          </a:xfrm>
          <a:prstGeom xmlns:a="http://schemas.openxmlformats.org/drawingml/2006/main" prst="rect">
            <a:avLst/>
          </a:prstGeom>
          <a:solidFill xmlns:a="http://schemas.openxmlformats.org/drawingml/2006/main">
            <a:srgbClr val="20242E"/>
          </a:solidFill>
          <a:ln xmlns:a="http://schemas.openxmlformats.org/drawingml/2006/main" w="19050">
            <a:solidFill>
              <a:srgbClr val="FF9D55"/>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250" b="1">
                <a:solidFill>
                  <a:srgbClr val="FFF9ED"/>
                </a:solidFill>
                <a:latin typeface="Arial"/>
                <a:ea typeface="Arial"/>
                <a:cs typeface="Arial"/>
              </a:defRPr>
            </a:pPr>
            <a:r>
              <a:rPr sz="2250" b="1">
                <a:solidFill>
                  <a:srgbClr val="FFF9ED"/>
                </a:solidFill>
                <a:latin typeface="Arial"/>
                <a:ea typeface="Arial"/>
                <a:cs typeface="Arial"/>
              </a:rPr>
              <a:t>VALIDATION</a:t>
            </a:r>
          </a:p>
        </p:txBody>
      </p:sp>
      <p:sp>
        <p:nvSpPr>
          <p:cNvPr id="5" name="test">
            <a:extLst xmlns:a="http://schemas.openxmlformats.org/drawingml/2006/main">
              <a:ext uri="{FF2B5EF4-FFF2-40B4-BE49-F238E27FC236}">
                <a16:creationId xmlns:a16="http://schemas.microsoft.com/office/drawing/2014/main" id="{82663A11-F7C2-4BA6-9A7B-B1000E796FF8}"/>
              </a:ext>
            </a:extLst>
          </p:cNvPr>
          <p:cNvSpPr>
            <a:spLocks xmlns:a="http://schemas.openxmlformats.org/drawingml/2006/main" noGrp="1"/>
          </p:cNvSpPr>
          <p:nvPr/>
        </p:nvSpPr>
        <p:spPr>
          <a:xfrm xmlns:a="http://schemas.openxmlformats.org/drawingml/2006/main">
            <a:off x="4191000" y="4657725"/>
            <a:ext cx="2438400" cy="876300"/>
          </a:xfrm>
          <a:prstGeom xmlns:a="http://schemas.openxmlformats.org/drawingml/2006/main" prst="rect">
            <a:avLst/>
          </a:prstGeom>
          <a:solidFill xmlns:a="http://schemas.openxmlformats.org/drawingml/2006/main">
            <a:srgbClr val="20242E"/>
          </a:solidFill>
          <a:ln xmlns:a="http://schemas.openxmlformats.org/drawingml/2006/main" w="19050">
            <a:solidFill>
              <a:srgbClr val="78D9B0"/>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1">
                <a:solidFill>
                  <a:srgbClr val="FFF9ED"/>
                </a:solidFill>
                <a:latin typeface="Arial"/>
                <a:ea typeface="Arial"/>
                <a:cs typeface="Arial"/>
              </a:defRPr>
            </a:pPr>
            <a:r>
              <a:rPr sz="2100" b="1">
                <a:solidFill>
                  <a:srgbClr val="FFF9ED"/>
                </a:solidFill>
                <a:latin typeface="Arial"/>
                <a:ea typeface="Arial"/>
                <a:cs typeface="Arial"/>
              </a:rPr>
              <a:t>HELD-OUT TEST</a:t>
            </a:r>
          </a:p>
        </p:txBody>
      </p:sp>
      <p:cxnSp>
        <p:nvCxnSpPr>
          <p:cNvPr id="20" name=""/>
          <p:cNvCxnSpPr>
            <a:stCxn xmlns:a="http://schemas.openxmlformats.org/drawingml/2006/main" id="2" idx="3"/>
            <a:endCxn xmlns:a="http://schemas.openxmlformats.org/drawingml/2006/main" id="3" idx="1"/>
          </p:cNvCxnSpPr>
          <p:nvPr/>
        </p:nvCxnSpPr>
        <p:spPr>
          <a:xfrm xmlns:a="http://schemas.openxmlformats.org/drawingml/2006/main" flipV="1">
            <a:off x="3086100" y="2276475"/>
            <a:ext cx="1104900" cy="1323975"/>
          </a:xfrm>
          <a:prstGeom xmlns:a="http://schemas.openxmlformats.org/drawingml/2006/main" prst="bentConnector3">
            <a:avLst>
              <a:gd name="adj1" fmla="val 50000"/>
            </a:avLst>
          </a:prstGeom>
          <a:ln xmlns:a="http://schemas.openxmlformats.org/drawingml/2006/main" w="28575">
            <a:solidFill>
              <a:srgbClr val="B9BECA"/>
            </a:solidFill>
            <a:tailEnd type="triangle" w="med" len="med"/>
          </a:ln>
        </p:spPr>
      </p:cxnSp>
      <p:cxnSp>
        <p:nvCxnSpPr>
          <p:cNvPr id="21" name=""/>
          <p:cNvCxnSpPr>
            <a:stCxn xmlns:a="http://schemas.openxmlformats.org/drawingml/2006/main" id="2" idx="3"/>
            <a:endCxn xmlns:a="http://schemas.openxmlformats.org/drawingml/2006/main" id="4" idx="1"/>
          </p:cNvCxnSpPr>
          <p:nvPr/>
        </p:nvCxnSpPr>
        <p:spPr>
          <a:xfrm xmlns:a="http://schemas.openxmlformats.org/drawingml/2006/main">
            <a:off x="3086100" y="3600450"/>
            <a:ext cx="1104900" cy="85725"/>
          </a:xfrm>
          <a:prstGeom xmlns:a="http://schemas.openxmlformats.org/drawingml/2006/main" prst="bentConnector3">
            <a:avLst>
              <a:gd name="adj1" fmla="val 50000"/>
            </a:avLst>
          </a:prstGeom>
          <a:ln xmlns:a="http://schemas.openxmlformats.org/drawingml/2006/main" w="28575">
            <a:solidFill>
              <a:srgbClr val="B9BECA"/>
            </a:solidFill>
            <a:tailEnd type="triangle" w="med" len="med"/>
          </a:ln>
        </p:spPr>
      </p:cxnSp>
      <p:cxnSp>
        <p:nvCxnSpPr>
          <p:cNvPr id="22" name=""/>
          <p:cNvCxnSpPr>
            <a:stCxn xmlns:a="http://schemas.openxmlformats.org/drawingml/2006/main" id="2" idx="3"/>
            <a:endCxn xmlns:a="http://schemas.openxmlformats.org/drawingml/2006/main" id="5" idx="1"/>
          </p:cNvCxnSpPr>
          <p:nvPr/>
        </p:nvCxnSpPr>
        <p:spPr>
          <a:xfrm xmlns:a="http://schemas.openxmlformats.org/drawingml/2006/main">
            <a:off x="3086100" y="3600450"/>
            <a:ext cx="1104900" cy="1495425"/>
          </a:xfrm>
          <a:prstGeom xmlns:a="http://schemas.openxmlformats.org/drawingml/2006/main" prst="bentConnector3">
            <a:avLst>
              <a:gd name="adj1" fmla="val 50000"/>
            </a:avLst>
          </a:prstGeom>
          <a:ln xmlns:a="http://schemas.openxmlformats.org/drawingml/2006/main" w="28575">
            <a:solidFill>
              <a:srgbClr val="B9BECA"/>
            </a:solidFill>
            <a:tailEnd type="triangle" w="med" len="med"/>
          </a:ln>
        </p:spPr>
      </p:cxnSp>
      <p:sp>
        <p:nvSpPr>
          <p:cNvPr id="9" name="">
            <a:extLst xmlns:a="http://schemas.openxmlformats.org/drawingml/2006/main">
              <a:ext uri="{FF2B5EF4-FFF2-40B4-BE49-F238E27FC236}">
                <a16:creationId xmlns:a16="http://schemas.microsoft.com/office/drawing/2014/main" id="{F75EAF24-5E0F-4D2E-B94C-22DDEDC769CA}"/>
              </a:ext>
            </a:extLst>
          </p:cNvPr>
          <p:cNvSpPr>
            <a:spLocks xmlns:a="http://schemas.openxmlformats.org/drawingml/2006/main" noGrp="1"/>
          </p:cNvSpPr>
          <p:nvPr/>
        </p:nvSpPr>
        <p:spPr>
          <a:xfrm xmlns:a="http://schemas.openxmlformats.org/drawingml/2006/main">
            <a:off x="609600" y="16192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9ED"/>
                </a:solidFill>
                <a:latin typeface="Arial"/>
                <a:ea typeface="Arial"/>
                <a:cs typeface="Arial"/>
              </a:defRPr>
            </a:pPr>
            <a:r>
              <a:rPr sz="1950" b="0">
                <a:solidFill>
                  <a:srgbClr val="FFF9ED"/>
                </a:solidFill>
                <a:latin typeface="Arial"/>
                <a:ea typeface="Arial"/>
                <a:cs typeface="Arial"/>
              </a:rPr>
              <a:t>Model + tokenizer: pinned commit SHA</a:t>
            </a:r>
          </a:p>
        </p:txBody>
      </p:sp>
      <p:sp>
        <p:nvSpPr>
          <p:cNvPr id="10" name="">
            <a:extLst xmlns:a="http://schemas.openxmlformats.org/drawingml/2006/main">
              <a:ext uri="{FF2B5EF4-FFF2-40B4-BE49-F238E27FC236}">
                <a16:creationId xmlns:a16="http://schemas.microsoft.com/office/drawing/2014/main" id="{36F00AF5-0D5F-4AB7-AB23-886ADDFE66F3}"/>
              </a:ext>
            </a:extLst>
          </p:cNvPr>
          <p:cNvSpPr>
            <a:spLocks xmlns:a="http://schemas.openxmlformats.org/drawingml/2006/main" noGrp="1"/>
          </p:cNvSpPr>
          <p:nvPr/>
        </p:nvSpPr>
        <p:spPr>
          <a:xfrm xmlns:a="http://schemas.openxmlformats.org/drawingml/2006/main">
            <a:off x="7200900" y="2009775"/>
            <a:ext cx="422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Fit adapter and task head</a:t>
            </a:r>
          </a:p>
        </p:txBody>
      </p:sp>
      <p:sp>
        <p:nvSpPr>
          <p:cNvPr id="11" name="">
            <a:extLst xmlns:a="http://schemas.openxmlformats.org/drawingml/2006/main">
              <a:ext uri="{FF2B5EF4-FFF2-40B4-BE49-F238E27FC236}">
                <a16:creationId xmlns:a16="http://schemas.microsoft.com/office/drawing/2014/main" id="{F6711EC7-B711-421D-AB48-CF584AAF8B06}"/>
              </a:ext>
            </a:extLst>
          </p:cNvPr>
          <p:cNvSpPr>
            <a:spLocks xmlns:a="http://schemas.openxmlformats.org/drawingml/2006/main" noGrp="1"/>
          </p:cNvSpPr>
          <p:nvPr/>
        </p:nvSpPr>
        <p:spPr>
          <a:xfrm xmlns:a="http://schemas.openxmlformats.org/drawingml/2006/main">
            <a:off x="7200900" y="341947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Choose settings and checkpoint</a:t>
            </a:r>
          </a:p>
        </p:txBody>
      </p:sp>
      <p:sp>
        <p:nvSpPr>
          <p:cNvPr id="12" name="">
            <a:extLst xmlns:a="http://schemas.openxmlformats.org/drawingml/2006/main">
              <a:ext uri="{FF2B5EF4-FFF2-40B4-BE49-F238E27FC236}">
                <a16:creationId xmlns:a16="http://schemas.microsoft.com/office/drawing/2014/main" id="{F5857637-B9E0-49C2-BEE7-B2D5504B7109}"/>
              </a:ext>
            </a:extLst>
          </p:cNvPr>
          <p:cNvSpPr>
            <a:spLocks xmlns:a="http://schemas.openxmlformats.org/drawingml/2006/main" noGrp="1"/>
          </p:cNvSpPr>
          <p:nvPr/>
        </p:nvSpPr>
        <p:spPr>
          <a:xfrm xmlns:a="http://schemas.openxmlformats.org/drawingml/2006/main">
            <a:off x="7200900" y="47244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Estimate quality after choices lock</a:t>
            </a:r>
          </a:p>
        </p:txBody>
      </p:sp>
      <p:sp>
        <p:nvSpPr>
          <p:cNvPr id="13" name="">
            <a:extLst xmlns:a="http://schemas.openxmlformats.org/drawingml/2006/main">
              <a:ext uri="{FF2B5EF4-FFF2-40B4-BE49-F238E27FC236}">
                <a16:creationId xmlns:a16="http://schemas.microsoft.com/office/drawing/2014/main" id="{A4D0595D-2802-44FB-976A-E6A912B52652}"/>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Manifest: revisions, split IDs, tokenizer/labels, package versions, evaluation config.</a:t>
            </a:r>
          </a:p>
        </p:txBody>
      </p:sp>
      <p:sp>
        <p:nvSpPr>
          <p:cNvPr id="14" name="">
            <a:extLst xmlns:a="http://schemas.openxmlformats.org/drawingml/2006/main">
              <a:ext uri="{FF2B5EF4-FFF2-40B4-BE49-F238E27FC236}">
                <a16:creationId xmlns:a16="http://schemas.microsoft.com/office/drawing/2014/main" id="{E019C77D-CFEA-4F82-9DC2-8E1DD31951D0}"/>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06</a:t>
            </a:r>
          </a:p>
        </p:txBody>
      </p:sp>
    </p:spTree>
    <p:extLst>
      <p:ext uri="{BB962C8B-B14F-4D97-AF65-F5344CB8AC3E}">
        <p14:creationId xmlns:p14="http://schemas.microsoft.com/office/powerpoint/2010/main" val="147064242"/>
      </p:ext>
    </p:extLst>
  </p:cSld>
</p:sld>
</file>

<file path=ppt/slides/slide7.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C165723-672B-4137-B3E3-937C08B2CA13}"/>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LoRA learns a compact adjustment</a:t>
            </a:r>
          </a:p>
        </p:txBody>
      </p:sp>
      <p:sp>
        <p:nvSpPr>
          <p:cNvPr id="2" name="input">
            <a:extLst xmlns:a="http://schemas.openxmlformats.org/drawingml/2006/main">
              <a:ext uri="{FF2B5EF4-FFF2-40B4-BE49-F238E27FC236}">
                <a16:creationId xmlns:a16="http://schemas.microsoft.com/office/drawing/2014/main" id="{29C626D6-DF8E-4F54-BC83-3C07840B9628}"/>
              </a:ext>
            </a:extLst>
          </p:cNvPr>
          <p:cNvSpPr>
            <a:spLocks xmlns:a="http://schemas.openxmlformats.org/drawingml/2006/main" noGrp="1"/>
          </p:cNvSpPr>
          <p:nvPr/>
        </p:nvSpPr>
        <p:spPr>
          <a:xfrm xmlns:a="http://schemas.openxmlformats.org/drawingml/2006/main">
            <a:off x="609600" y="3028950"/>
            <a:ext cx="1619250" cy="89535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250" b="0">
                <a:solidFill>
                  <a:srgbClr val="FFF9ED"/>
                </a:solidFill>
                <a:latin typeface="Arial"/>
                <a:ea typeface="Arial"/>
                <a:cs typeface="Arial"/>
              </a:defRPr>
            </a:pPr>
            <a:r>
              <a:rPr sz="2250" b="0">
                <a:solidFill>
                  <a:srgbClr val="FFF9ED"/>
                </a:solidFill>
                <a:latin typeface="Arial"/>
                <a:ea typeface="Arial"/>
                <a:cs typeface="Arial"/>
              </a:rPr>
              <a:t>Input x</a:t>
            </a:r>
          </a:p>
        </p:txBody>
      </p:sp>
      <p:sp>
        <p:nvSpPr>
          <p:cNvPr id="3" name="frozen">
            <a:extLst xmlns:a="http://schemas.openxmlformats.org/drawingml/2006/main">
              <a:ext uri="{FF2B5EF4-FFF2-40B4-BE49-F238E27FC236}">
                <a16:creationId xmlns:a16="http://schemas.microsoft.com/office/drawing/2014/main" id="{8F63683C-A603-4B24-AEA7-305E6B2769B0}"/>
              </a:ext>
            </a:extLst>
          </p:cNvPr>
          <p:cNvSpPr>
            <a:spLocks xmlns:a="http://schemas.openxmlformats.org/drawingml/2006/main" noGrp="1"/>
          </p:cNvSpPr>
          <p:nvPr/>
        </p:nvSpPr>
        <p:spPr>
          <a:xfrm xmlns:a="http://schemas.openxmlformats.org/drawingml/2006/main">
            <a:off x="3714750" y="1924050"/>
            <a:ext cx="3086100" cy="1352550"/>
          </a:xfrm>
          <a:prstGeom xmlns:a="http://schemas.openxmlformats.org/drawingml/2006/main" prst="rect">
            <a:avLst/>
          </a:prstGeom>
          <a:solidFill xmlns:a="http://schemas.openxmlformats.org/drawingml/2006/main">
            <a:srgbClr val="20242E"/>
          </a:solidFill>
          <a:ln xmlns:a="http://schemas.openxmlformats.org/drawingml/2006/main" w="19050">
            <a:solidFill>
              <a:srgbClr val="86BFFF"/>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325" b="1">
                <a:solidFill>
                  <a:srgbClr val="86BFFF"/>
                </a:solidFill>
                <a:latin typeface="Arial"/>
                <a:ea typeface="Arial"/>
                <a:cs typeface="Arial"/>
              </a:defRPr>
            </a:pPr>
            <a:r>
              <a:rPr sz="2325" b="1">
                <a:solidFill>
                  <a:srgbClr val="86BFFF"/>
                </a:solidFill>
                <a:latin typeface="Arial"/>
                <a:ea typeface="Arial"/>
                <a:cs typeface="Arial"/>
              </a:rPr>
              <a:t>W</a:t>
            </a:r>
          </a:p>
          <a:p xmlns:a="http://schemas.openxmlformats.org/drawingml/2006/main">
            <a:pPr algn="ctr">
              <a:defRPr sz="2325" b="1">
                <a:solidFill>
                  <a:srgbClr val="86BFFF"/>
                </a:solidFill>
                <a:latin typeface="Arial"/>
                <a:ea typeface="Arial"/>
                <a:cs typeface="Arial"/>
              </a:defRPr>
            </a:pPr>
            <a:r>
              <a:rPr sz="2325" b="1">
                <a:solidFill>
                  <a:srgbClr val="86BFFF"/>
                </a:solidFill>
                <a:latin typeface="Arial"/>
                <a:ea typeface="Arial"/>
                <a:cs typeface="Arial"/>
              </a:rPr>
              <a:t>Frozen base</a:t>
            </a:r>
          </a:p>
        </p:txBody>
      </p:sp>
      <p:sp>
        <p:nvSpPr>
          <p:cNvPr id="4" name="A">
            <a:extLst xmlns:a="http://schemas.openxmlformats.org/drawingml/2006/main">
              <a:ext uri="{FF2B5EF4-FFF2-40B4-BE49-F238E27FC236}">
                <a16:creationId xmlns:a16="http://schemas.microsoft.com/office/drawing/2014/main" id="{DD93D19F-AF2A-44B5-8705-153687C93B75}"/>
              </a:ext>
            </a:extLst>
          </p:cNvPr>
          <p:cNvSpPr>
            <a:spLocks xmlns:a="http://schemas.openxmlformats.org/drawingml/2006/main" noGrp="1"/>
          </p:cNvSpPr>
          <p:nvPr/>
        </p:nvSpPr>
        <p:spPr>
          <a:xfrm xmlns:a="http://schemas.openxmlformats.org/drawingml/2006/main">
            <a:off x="3562350" y="4333875"/>
            <a:ext cx="1524000" cy="10096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1">
                <a:solidFill>
                  <a:srgbClr val="FFD21E"/>
                </a:solidFill>
                <a:latin typeface="Arial"/>
                <a:ea typeface="Arial"/>
                <a:cs typeface="Arial"/>
              </a:defRPr>
            </a:pPr>
            <a:r>
              <a:rPr sz="2100" b="1">
                <a:solidFill>
                  <a:srgbClr val="FFD21E"/>
                </a:solidFill>
                <a:latin typeface="Arial"/>
                <a:ea typeface="Arial"/>
                <a:cs typeface="Arial"/>
              </a:rPr>
              <a:t>A</a:t>
            </a:r>
          </a:p>
          <a:p xmlns:a="http://schemas.openxmlformats.org/drawingml/2006/main">
            <a:pPr algn="ctr">
              <a:defRPr sz="2100" b="1">
                <a:solidFill>
                  <a:srgbClr val="FFD21E"/>
                </a:solidFill>
                <a:latin typeface="Arial"/>
                <a:ea typeface="Arial"/>
                <a:cs typeface="Arial"/>
              </a:defRPr>
            </a:pPr>
            <a:r>
              <a:rPr sz="2100" b="1">
                <a:solidFill>
                  <a:srgbClr val="FFD21E"/>
                </a:solidFill>
                <a:latin typeface="Arial"/>
                <a:ea typeface="Arial"/>
                <a:cs typeface="Arial"/>
              </a:rPr>
              <a:t>Trainable</a:t>
            </a:r>
          </a:p>
        </p:txBody>
      </p:sp>
      <p:sp>
        <p:nvSpPr>
          <p:cNvPr id="5" name="B">
            <a:extLst xmlns:a="http://schemas.openxmlformats.org/drawingml/2006/main">
              <a:ext uri="{FF2B5EF4-FFF2-40B4-BE49-F238E27FC236}">
                <a16:creationId xmlns:a16="http://schemas.microsoft.com/office/drawing/2014/main" id="{9009D43C-9593-441A-A0F2-18D39BC77A0B}"/>
              </a:ext>
            </a:extLst>
          </p:cNvPr>
          <p:cNvSpPr>
            <a:spLocks xmlns:a="http://schemas.openxmlformats.org/drawingml/2006/main" noGrp="1"/>
          </p:cNvSpPr>
          <p:nvPr/>
        </p:nvSpPr>
        <p:spPr>
          <a:xfrm xmlns:a="http://schemas.openxmlformats.org/drawingml/2006/main">
            <a:off x="5695950" y="4333875"/>
            <a:ext cx="1524000" cy="10096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1">
                <a:solidFill>
                  <a:srgbClr val="FFD21E"/>
                </a:solidFill>
                <a:latin typeface="Arial"/>
                <a:ea typeface="Arial"/>
                <a:cs typeface="Arial"/>
              </a:defRPr>
            </a:pPr>
            <a:r>
              <a:rPr sz="2100" b="1">
                <a:solidFill>
                  <a:srgbClr val="FFD21E"/>
                </a:solidFill>
                <a:latin typeface="Arial"/>
                <a:ea typeface="Arial"/>
                <a:cs typeface="Arial"/>
              </a:rPr>
              <a:t>B</a:t>
            </a:r>
          </a:p>
          <a:p xmlns:a="http://schemas.openxmlformats.org/drawingml/2006/main">
            <a:pPr algn="ctr">
              <a:defRPr sz="2100" b="1">
                <a:solidFill>
                  <a:srgbClr val="FFD21E"/>
                </a:solidFill>
                <a:latin typeface="Arial"/>
                <a:ea typeface="Arial"/>
                <a:cs typeface="Arial"/>
              </a:defRPr>
            </a:pPr>
            <a:r>
              <a:rPr sz="2100" b="1">
                <a:solidFill>
                  <a:srgbClr val="FFD21E"/>
                </a:solidFill>
                <a:latin typeface="Arial"/>
                <a:ea typeface="Arial"/>
                <a:cs typeface="Arial"/>
              </a:rPr>
              <a:t>Trainable</a:t>
            </a:r>
          </a:p>
        </p:txBody>
      </p:sp>
      <p:sp>
        <p:nvSpPr>
          <p:cNvPr id="6" name="sum">
            <a:extLst xmlns:a="http://schemas.openxmlformats.org/drawingml/2006/main">
              <a:ext uri="{FF2B5EF4-FFF2-40B4-BE49-F238E27FC236}">
                <a16:creationId xmlns:a16="http://schemas.microsoft.com/office/drawing/2014/main" id="{C0264BB9-201E-4809-B7F8-E89A2C481AAA}"/>
              </a:ext>
            </a:extLst>
          </p:cNvPr>
          <p:cNvSpPr>
            <a:spLocks xmlns:a="http://schemas.openxmlformats.org/drawingml/2006/main" noGrp="1"/>
          </p:cNvSpPr>
          <p:nvPr/>
        </p:nvSpPr>
        <p:spPr>
          <a:xfrm xmlns:a="http://schemas.openxmlformats.org/drawingml/2006/main">
            <a:off x="8248650" y="3076575"/>
            <a:ext cx="857250" cy="857250"/>
          </a:xfrm>
          <a:prstGeom xmlns:a="http://schemas.openxmlformats.org/drawingml/2006/main" prst="ellipse">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3900" b="0">
                <a:solidFill>
                  <a:srgbClr val="FFF9ED"/>
                </a:solidFill>
                <a:latin typeface="Arial"/>
                <a:ea typeface="Arial"/>
                <a:cs typeface="Arial"/>
              </a:defRPr>
            </a:pPr>
            <a:r>
              <a:rPr sz="3900" b="0">
                <a:solidFill>
                  <a:srgbClr val="FFF9ED"/>
                </a:solidFill>
                <a:latin typeface="Arial"/>
                <a:ea typeface="Arial"/>
                <a:cs typeface="Arial"/>
              </a:rPr>
              <a:t>+</a:t>
            </a:r>
          </a:p>
        </p:txBody>
      </p:sp>
      <p:sp>
        <p:nvSpPr>
          <p:cNvPr id="7" name="output">
            <a:extLst xmlns:a="http://schemas.openxmlformats.org/drawingml/2006/main">
              <a:ext uri="{FF2B5EF4-FFF2-40B4-BE49-F238E27FC236}">
                <a16:creationId xmlns:a16="http://schemas.microsoft.com/office/drawing/2014/main" id="{AC65F093-9017-43E1-851D-CA8115F9463F}"/>
              </a:ext>
            </a:extLst>
          </p:cNvPr>
          <p:cNvSpPr>
            <a:spLocks xmlns:a="http://schemas.openxmlformats.org/drawingml/2006/main" noGrp="1"/>
          </p:cNvSpPr>
          <p:nvPr/>
        </p:nvSpPr>
        <p:spPr>
          <a:xfrm xmlns:a="http://schemas.openxmlformats.org/drawingml/2006/main">
            <a:off x="10039350" y="3057525"/>
            <a:ext cx="1466850" cy="89535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0">
                <a:solidFill>
                  <a:srgbClr val="FFF9ED"/>
                </a:solidFill>
                <a:latin typeface="Arial"/>
                <a:ea typeface="Arial"/>
                <a:cs typeface="Arial"/>
              </a:defRPr>
            </a:pPr>
            <a:r>
              <a:rPr sz="2100" b="0">
                <a:solidFill>
                  <a:srgbClr val="FFF9ED"/>
                </a:solidFill>
                <a:latin typeface="Arial"/>
                <a:ea typeface="Arial"/>
                <a:cs typeface="Arial"/>
              </a:rPr>
              <a:t>Output</a:t>
            </a:r>
          </a:p>
        </p:txBody>
      </p:sp>
      <p:cxnSp>
        <p:nvCxnSpPr>
          <p:cNvPr id="25" name=""/>
          <p:cNvCxnSpPr>
            <a:stCxn xmlns:a="http://schemas.openxmlformats.org/drawingml/2006/main" id="2" idx="3"/>
            <a:endCxn xmlns:a="http://schemas.openxmlformats.org/drawingml/2006/main" id="3" idx="1"/>
          </p:cNvCxnSpPr>
          <p:nvPr/>
        </p:nvCxnSpPr>
        <p:spPr>
          <a:xfrm xmlns:a="http://schemas.openxmlformats.org/drawingml/2006/main" flipV="1">
            <a:off x="2228850" y="2600325"/>
            <a:ext cx="1485900" cy="876300"/>
          </a:xfrm>
          <a:prstGeom xmlns:a="http://schemas.openxmlformats.org/drawingml/2006/main" prst="bentConnector3">
            <a:avLst>
              <a:gd name="adj1" fmla="val 50000"/>
            </a:avLst>
          </a:prstGeom>
          <a:ln xmlns:a="http://schemas.openxmlformats.org/drawingml/2006/main" w="28575">
            <a:solidFill>
              <a:srgbClr val="86BFFF"/>
            </a:solidFill>
            <a:tailEnd type="triangle" w="med" len="med"/>
          </a:ln>
        </p:spPr>
      </p:cxnSp>
      <p:cxnSp>
        <p:nvCxnSpPr>
          <p:cNvPr id="26" name=""/>
          <p:cNvCxnSpPr>
            <a:stCxn xmlns:a="http://schemas.openxmlformats.org/drawingml/2006/main" id="2" idx="3"/>
            <a:endCxn xmlns:a="http://schemas.openxmlformats.org/drawingml/2006/main" id="4" idx="1"/>
          </p:cNvCxnSpPr>
          <p:nvPr/>
        </p:nvCxnSpPr>
        <p:spPr>
          <a:xfrm xmlns:a="http://schemas.openxmlformats.org/drawingml/2006/main">
            <a:off x="2228850" y="3476625"/>
            <a:ext cx="1333500" cy="1362075"/>
          </a:xfrm>
          <a:prstGeom xmlns:a="http://schemas.openxmlformats.org/drawingml/2006/main" prst="bentConnector3">
            <a:avLst>
              <a:gd name="adj1" fmla="val 50000"/>
            </a:avLst>
          </a:prstGeom>
          <a:ln xmlns:a="http://schemas.openxmlformats.org/drawingml/2006/main" w="28575">
            <a:solidFill>
              <a:srgbClr val="FFD21E"/>
            </a:solidFill>
            <a:tailEnd type="triangle" w="med" len="med"/>
          </a:ln>
        </p:spPr>
      </p:cxn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5086350" y="4838700"/>
            <a:ext cx="609600" cy="0"/>
          </a:xfrm>
          <a:prstGeom xmlns:a="http://schemas.openxmlformats.org/drawingml/2006/main" prst="straightConnector1">
            <a:avLst/>
          </a:prstGeom>
          <a:ln xmlns:a="http://schemas.openxmlformats.org/drawingml/2006/main" w="28575">
            <a:solidFill>
              <a:srgbClr val="FFD21E"/>
            </a:solidFill>
            <a:tailEnd type="triangle" w="med" len="med"/>
          </a:ln>
        </p:spPr>
      </p:cxnSp>
      <p:cxnSp>
        <p:nvCxnSpPr>
          <p:cNvPr id="28" name=""/>
          <p:cNvCxnSpPr>
            <a:stCxn xmlns:a="http://schemas.openxmlformats.org/drawingml/2006/main" id="3" idx="3"/>
            <a:endCxn xmlns:a="http://schemas.openxmlformats.org/drawingml/2006/main" id="6" idx="0"/>
          </p:cNvCxnSpPr>
          <p:nvPr/>
        </p:nvCxnSpPr>
        <p:spPr>
          <a:xfrm xmlns:a="http://schemas.openxmlformats.org/drawingml/2006/main">
            <a:off x="6800850" y="2600325"/>
            <a:ext cx="1876425" cy="476250"/>
          </a:xfrm>
          <a:prstGeom xmlns:a="http://schemas.openxmlformats.org/drawingml/2006/main" prst="bentConnector4">
            <a:avLst>
              <a:gd name="adj1" fmla="val 12183"/>
              <a:gd name="adj2" fmla="val 52000"/>
            </a:avLst>
          </a:prstGeom>
          <a:ln xmlns:a="http://schemas.openxmlformats.org/drawingml/2006/main" w="28575">
            <a:solidFill>
              <a:srgbClr val="86BFFF"/>
            </a:solidFill>
            <a:tailEnd type="triangle" w="med" len="med"/>
          </a:ln>
        </p:spPr>
      </p:cxnSp>
      <p:cxnSp>
        <p:nvCxnSpPr>
          <p:cNvPr id="29" name=""/>
          <p:cNvCxnSpPr>
            <a:stCxn xmlns:a="http://schemas.openxmlformats.org/drawingml/2006/main" id="5" idx="3"/>
            <a:endCxn xmlns:a="http://schemas.openxmlformats.org/drawingml/2006/main" id="6" idx="4"/>
          </p:cNvCxnSpPr>
          <p:nvPr/>
        </p:nvCxnSpPr>
        <p:spPr>
          <a:xfrm xmlns:a="http://schemas.openxmlformats.org/drawingml/2006/main" flipV="1">
            <a:off x="7219950" y="3933825"/>
            <a:ext cx="1457325" cy="904875"/>
          </a:xfrm>
          <a:prstGeom xmlns:a="http://schemas.openxmlformats.org/drawingml/2006/main" prst="bentConnector2">
            <a:avLst/>
          </a:prstGeom>
          <a:ln xmlns:a="http://schemas.openxmlformats.org/drawingml/2006/main" w="28575">
            <a:solidFill>
              <a:srgbClr val="FFD21E"/>
            </a:solidFill>
            <a:tailEnd type="triangle" w="med" len="med"/>
          </a:ln>
        </p:spPr>
      </p:cxnSp>
      <p:cxnSp>
        <p:nvCxnSpPr>
          <p:cNvPr id="30" name=""/>
          <p:cNvCxnSpPr>
            <a:stCxn xmlns:a="http://schemas.openxmlformats.org/drawingml/2006/main" id="6" idx="6"/>
            <a:endCxn xmlns:a="http://schemas.openxmlformats.org/drawingml/2006/main" id="7" idx="1"/>
          </p:cNvCxnSpPr>
          <p:nvPr/>
        </p:nvCxnSpPr>
        <p:spPr>
          <a:xfrm xmlns:a="http://schemas.openxmlformats.org/drawingml/2006/main">
            <a:off x="9105900" y="3505200"/>
            <a:ext cx="933450" cy="0"/>
          </a:xfrm>
          <a:prstGeom xmlns:a="http://schemas.openxmlformats.org/drawingml/2006/main" prst="straightConnector1">
            <a:avLst/>
          </a:prstGeom>
          <a:ln xmlns:a="http://schemas.openxmlformats.org/drawingml/2006/main" w="28575">
            <a:solidFill>
              <a:srgbClr val="B9BECA"/>
            </a:solidFill>
            <a:tailEnd type="triangle" w="med" len="med"/>
          </a:ln>
        </p:spPr>
      </p:cxnSp>
      <p:sp>
        <p:nvSpPr>
          <p:cNvPr id="14" name="">
            <a:extLst xmlns:a="http://schemas.openxmlformats.org/drawingml/2006/main">
              <a:ext uri="{FF2B5EF4-FFF2-40B4-BE49-F238E27FC236}">
                <a16:creationId xmlns:a16="http://schemas.microsoft.com/office/drawing/2014/main" id="{0AFC2A48-098C-4482-A366-8F40950E8131}"/>
              </a:ext>
            </a:extLst>
          </p:cNvPr>
          <p:cNvSpPr>
            <a:spLocks xmlns:a="http://schemas.openxmlformats.org/drawingml/2006/main" noGrp="1"/>
          </p:cNvSpPr>
          <p:nvPr/>
        </p:nvSpPr>
        <p:spPr>
          <a:xfrm xmlns:a="http://schemas.openxmlformats.org/drawingml/2006/main">
            <a:off x="7524750" y="1647825"/>
            <a:ext cx="4000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D21E"/>
                </a:solidFill>
                <a:latin typeface="Arial"/>
                <a:ea typeface="Arial"/>
                <a:cs typeface="Arial"/>
              </a:defRPr>
            </a:pPr>
            <a:r>
              <a:rPr sz="3450" b="1">
                <a:solidFill>
                  <a:srgbClr val="FFD21E"/>
                </a:solidFill>
                <a:latin typeface="Arial"/>
                <a:ea typeface="Arial"/>
                <a:cs typeface="Arial"/>
              </a:rPr>
              <a:t>W′ = W + BA</a:t>
            </a:r>
          </a:p>
        </p:txBody>
      </p:sp>
      <p:sp>
        <p:nvSpPr>
          <p:cNvPr id="15" name="">
            <a:extLst xmlns:a="http://schemas.openxmlformats.org/drawingml/2006/main">
              <a:ext uri="{FF2B5EF4-FFF2-40B4-BE49-F238E27FC236}">
                <a16:creationId xmlns:a16="http://schemas.microsoft.com/office/drawing/2014/main" id="{973F854B-35CB-49D6-B1C1-086DBF72EAF7}"/>
              </a:ext>
            </a:extLst>
          </p:cNvPr>
          <p:cNvSpPr>
            <a:spLocks xmlns:a="http://schemas.openxmlformats.org/drawingml/2006/main" noGrp="1"/>
          </p:cNvSpPr>
          <p:nvPr/>
        </p:nvSpPr>
        <p:spPr>
          <a:xfrm xmlns:a="http://schemas.openxmlformats.org/drawingml/2006/main">
            <a:off x="609600" y="55149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FFF9ED"/>
                </a:solidFill>
                <a:latin typeface="Arial"/>
                <a:ea typeface="Arial"/>
                <a:cs typeface="Arial"/>
              </a:defRPr>
            </a:pPr>
            <a:r>
              <a:rPr sz="1875" b="0">
                <a:solidFill>
                  <a:srgbClr val="FFF9ED"/>
                </a:solidFill>
                <a:latin typeface="Arial"/>
                <a:ea typeface="Arial"/>
                <a:cs typeface="Arial"/>
              </a:rPr>
              <a:t>1.09% of parameters train in this run, including the task head</a:t>
            </a:r>
          </a:p>
        </p:txBody>
      </p:sp>
      <p:sp>
        <p:nvSpPr>
          <p:cNvPr id="16" name="">
            <a:extLst xmlns:a="http://schemas.openxmlformats.org/drawingml/2006/main">
              <a:ext uri="{FF2B5EF4-FFF2-40B4-BE49-F238E27FC236}">
                <a16:creationId xmlns:a16="http://schemas.microsoft.com/office/drawing/2014/main" id="{543486C6-5275-498E-9E80-356BECEF5604}"/>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Fewer trainable parameters. The base model still occupies memory.</a:t>
            </a:r>
          </a:p>
        </p:txBody>
      </p:sp>
      <p:sp>
        <p:nvSpPr>
          <p:cNvPr id="17" name="">
            <a:extLst xmlns:a="http://schemas.openxmlformats.org/drawingml/2006/main">
              <a:ext uri="{FF2B5EF4-FFF2-40B4-BE49-F238E27FC236}">
                <a16:creationId xmlns:a16="http://schemas.microsoft.com/office/drawing/2014/main" id="{258199BB-8C20-4157-83C3-216EC9BEE98F}"/>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07</a:t>
            </a:r>
          </a:p>
        </p:txBody>
      </p:sp>
    </p:spTree>
    <p:extLst>
      <p:ext uri="{BB962C8B-B14F-4D97-AF65-F5344CB8AC3E}">
        <p14:creationId xmlns:p14="http://schemas.microsoft.com/office/powerpoint/2010/main" val="2008332120"/>
      </p:ext>
    </p:extLst>
  </p:cSld>
</p:sld>
</file>

<file path=ppt/slides/slide8.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84E2B7-D8C6-4818-BBBA-C64C8080873E}"/>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PEFT in the training script</a:t>
            </a:r>
          </a:p>
        </p:txBody>
      </p:sp>
      <p:sp>
        <p:nvSpPr>
          <p:cNvPr id="2" name="">
            <a:extLst xmlns:a="http://schemas.openxmlformats.org/drawingml/2006/main">
              <a:ext uri="{FF2B5EF4-FFF2-40B4-BE49-F238E27FC236}">
                <a16:creationId xmlns:a16="http://schemas.microsoft.com/office/drawing/2014/main" id="{58E283F0-25A7-4BA1-9092-60FBA13578D6}"/>
              </a:ext>
            </a:extLst>
          </p:cNvPr>
          <p:cNvSpPr>
            <a:spLocks xmlns:a="http://schemas.openxmlformats.org/drawingml/2006/main" noGrp="1"/>
          </p:cNvSpPr>
          <p:nvPr/>
        </p:nvSpPr>
        <p:spPr>
          <a:xfrm xmlns:a="http://schemas.openxmlformats.org/drawingml/2006/main">
            <a:off x="609600" y="1724025"/>
            <a:ext cx="6667500" cy="397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config = LoraConfig(</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    task_type=TaskType.SEQ_CLS,</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    r=8, lora_alpha=16,</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    target_modules=[</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        "q_lin", "v_lin"</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    ],</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    lora_dropout=0.1,</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model = get_peft_model(model, config)</a:t>
            </a:r>
          </a:p>
          <a:p xmlns:a="http://schemas.openxmlformats.org/drawingml/2006/main">
            <a:pPr>
              <a:defRPr sz="1875" b="0">
                <a:solidFill>
                  <a:srgbClr val="FFF9ED"/>
                </a:solidFill>
                <a:latin typeface="Consolas"/>
                <a:ea typeface="Consolas"/>
                <a:cs typeface="Consolas"/>
              </a:defRPr>
            </a:pPr>
            <a:r>
              <a:rPr sz="1875" b="0">
                <a:solidFill>
                  <a:srgbClr val="FFF9ED"/>
                </a:solidFill>
                <a:latin typeface="Consolas"/>
                <a:ea typeface="Consolas"/>
                <a:cs typeface="Consolas"/>
              </a:rPr>
              <a:t>model.print_trainable_parameters()</a:t>
            </a:r>
          </a:p>
        </p:txBody>
      </p:sp>
      <p:sp>
        <p:nvSpPr>
          <p:cNvPr id="3" name="">
            <a:extLst xmlns:a="http://schemas.openxmlformats.org/drawingml/2006/main">
              <a:ext uri="{FF2B5EF4-FFF2-40B4-BE49-F238E27FC236}">
                <a16:creationId xmlns:a16="http://schemas.microsoft.com/office/drawing/2014/main" id="{1ED082B5-D998-4F94-BAC8-EAC1EDFD080E}"/>
              </a:ext>
            </a:extLst>
          </p:cNvPr>
          <p:cNvSpPr>
            <a:spLocks xmlns:a="http://schemas.openxmlformats.org/drawingml/2006/main" noGrp="1"/>
          </p:cNvSpPr>
          <p:nvPr/>
        </p:nvSpPr>
        <p:spPr>
          <a:xfrm xmlns:a="http://schemas.openxmlformats.org/drawingml/2006/main">
            <a:off x="7867650" y="1771650"/>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FD21E"/>
                </a:solidFill>
                <a:latin typeface="Arial"/>
                <a:ea typeface="Arial"/>
                <a:cs typeface="Arial"/>
              </a:defRPr>
            </a:pPr>
            <a:r>
              <a:rPr sz="2325" b="1">
                <a:solidFill>
                  <a:srgbClr val="FFD21E"/>
                </a:solidFill>
                <a:latin typeface="Arial"/>
                <a:ea typeface="Arial"/>
                <a:cs typeface="Arial"/>
              </a:rPr>
              <a:t>What to inspect</a:t>
            </a:r>
          </a:p>
        </p:txBody>
      </p:sp>
      <p:sp>
        <p:nvSpPr>
          <p:cNvPr id="4" name="">
            <a:extLst xmlns:a="http://schemas.openxmlformats.org/drawingml/2006/main">
              <a:ext uri="{FF2B5EF4-FFF2-40B4-BE49-F238E27FC236}">
                <a16:creationId xmlns:a16="http://schemas.microsoft.com/office/drawing/2014/main" id="{44D8E593-9004-46CB-BE3B-5546E8809354}"/>
              </a:ext>
            </a:extLst>
          </p:cNvPr>
          <p:cNvSpPr>
            <a:spLocks xmlns:a="http://schemas.openxmlformats.org/drawingml/2006/main" noGrp="1"/>
          </p:cNvSpPr>
          <p:nvPr/>
        </p:nvSpPr>
        <p:spPr>
          <a:xfrm xmlns:a="http://schemas.openxmlformats.org/drawingml/2006/main">
            <a:off x="7867650" y="2638425"/>
            <a:ext cx="3667125"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Targets depend on architecture.</a:t>
            </a:r>
          </a:p>
          <a:p xmlns:a="http://schemas.openxmlformats.org/drawingml/2006/main">
            <a:r>
              <a:t/>
            </a:r>
          </a:p>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The task head must train</a:t>
            </a:r>
          </a:p>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and travel with the adapter.</a:t>
            </a:r>
          </a:p>
          <a:p xmlns:a="http://schemas.openxmlformats.org/drawingml/2006/main">
            <a:r>
              <a:t/>
            </a:r>
          </a:p>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The adapter needs its</a:t>
            </a:r>
          </a:p>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matching base revision.</a:t>
            </a:r>
          </a:p>
        </p:txBody>
      </p:sp>
      <p:sp>
        <p:nvSpPr>
          <p:cNvPr id="5" name="">
            <a:extLst xmlns:a="http://schemas.openxmlformats.org/drawingml/2006/main">
              <a:ext uri="{FF2B5EF4-FFF2-40B4-BE49-F238E27FC236}">
                <a16:creationId xmlns:a16="http://schemas.microsoft.com/office/drawing/2014/main" id="{474F27CC-CFCF-4065-962F-89D4B522F742}"/>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LoRA is adaptation. QLoRA adds low-bit base loading for training.</a:t>
            </a:r>
          </a:p>
        </p:txBody>
      </p:sp>
      <p:sp>
        <p:nvSpPr>
          <p:cNvPr id="6" name="">
            <a:extLst xmlns:a="http://schemas.openxmlformats.org/drawingml/2006/main">
              <a:ext uri="{FF2B5EF4-FFF2-40B4-BE49-F238E27FC236}">
                <a16:creationId xmlns:a16="http://schemas.microsoft.com/office/drawing/2014/main" id="{99988C18-CCC0-471C-AF59-3576E37AE211}"/>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08</a:t>
            </a:r>
          </a:p>
        </p:txBody>
      </p:sp>
    </p:spTree>
    <p:extLst>
      <p:ext uri="{BB962C8B-B14F-4D97-AF65-F5344CB8AC3E}">
        <p14:creationId xmlns:p14="http://schemas.microsoft.com/office/powerpoint/2010/main" val="723983016"/>
      </p:ext>
    </p:extLst>
  </p:cSld>
</p:sld>
</file>

<file path=ppt/slides/slide9.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690233-90EC-4407-8693-04CC09E96436}"/>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Accelerate carries the training loop</a:t>
            </a:r>
          </a:p>
        </p:txBody>
      </p:sp>
      <p:sp>
        <p:nvSpPr>
          <p:cNvPr id="2" name="prepare">
            <a:extLst xmlns:a="http://schemas.openxmlformats.org/drawingml/2006/main">
              <a:ext uri="{FF2B5EF4-FFF2-40B4-BE49-F238E27FC236}">
                <a16:creationId xmlns:a16="http://schemas.microsoft.com/office/drawing/2014/main" id="{24E43C92-EFA1-4513-A1B4-0E5C3DD4D43A}"/>
              </a:ext>
            </a:extLst>
          </p:cNvPr>
          <p:cNvSpPr>
            <a:spLocks xmlns:a="http://schemas.openxmlformats.org/drawingml/2006/main" noGrp="1"/>
          </p:cNvSpPr>
          <p:nvPr/>
        </p:nvSpPr>
        <p:spPr>
          <a:xfrm xmlns:a="http://schemas.openxmlformats.org/drawingml/2006/main">
            <a:off x="609600" y="2190750"/>
            <a:ext cx="2400300" cy="140970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025" b="1">
                <a:solidFill>
                  <a:srgbClr val="FFD21E"/>
                </a:solidFill>
                <a:latin typeface="Arial"/>
                <a:ea typeface="Arial"/>
                <a:cs typeface="Arial"/>
              </a:defRPr>
            </a:pPr>
            <a:r>
              <a:rPr sz="2025" b="1">
                <a:solidFill>
                  <a:srgbClr val="FFD21E"/>
                </a:solidFill>
                <a:latin typeface="Arial"/>
                <a:ea typeface="Arial"/>
                <a:cs typeface="Arial"/>
              </a:rPr>
              <a:t>Prepare</a:t>
            </a:r>
          </a:p>
          <a:p xmlns:a="http://schemas.openxmlformats.org/drawingml/2006/main">
            <a:pPr algn="ctr">
              <a:defRPr sz="2025" b="1">
                <a:solidFill>
                  <a:srgbClr val="FFD21E"/>
                </a:solidFill>
                <a:latin typeface="Arial"/>
                <a:ea typeface="Arial"/>
                <a:cs typeface="Arial"/>
              </a:defRPr>
            </a:pPr>
            <a:r>
              <a:rPr sz="2025" b="1">
                <a:solidFill>
                  <a:srgbClr val="FFD21E"/>
                </a:solidFill>
                <a:latin typeface="Arial"/>
                <a:ea typeface="Arial"/>
                <a:cs typeface="Arial"/>
              </a:rPr>
              <a:t>model, optimizer, loader</a:t>
            </a:r>
          </a:p>
        </p:txBody>
      </p:sp>
      <p:sp>
        <p:nvSpPr>
          <p:cNvPr id="3" name="forward">
            <a:extLst xmlns:a="http://schemas.openxmlformats.org/drawingml/2006/main">
              <a:ext uri="{FF2B5EF4-FFF2-40B4-BE49-F238E27FC236}">
                <a16:creationId xmlns:a16="http://schemas.microsoft.com/office/drawing/2014/main" id="{CFDE5E35-4F51-4307-A659-8489D23140FC}"/>
              </a:ext>
            </a:extLst>
          </p:cNvPr>
          <p:cNvSpPr>
            <a:spLocks xmlns:a="http://schemas.openxmlformats.org/drawingml/2006/main" noGrp="1"/>
          </p:cNvSpPr>
          <p:nvPr/>
        </p:nvSpPr>
        <p:spPr>
          <a:xfrm xmlns:a="http://schemas.openxmlformats.org/drawingml/2006/main">
            <a:off x="3486150" y="2190750"/>
            <a:ext cx="2266950" cy="140970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0">
                <a:solidFill>
                  <a:srgbClr val="FFF9ED"/>
                </a:solidFill>
                <a:latin typeface="Arial"/>
                <a:ea typeface="Arial"/>
                <a:cs typeface="Arial"/>
              </a:defRPr>
            </a:pPr>
            <a:r>
              <a:rPr sz="2175" b="0">
                <a:solidFill>
                  <a:srgbClr val="FFF9ED"/>
                </a:solidFill>
                <a:latin typeface="Arial"/>
                <a:ea typeface="Arial"/>
                <a:cs typeface="Arial"/>
              </a:rPr>
              <a:t>Forward</a:t>
            </a:r>
          </a:p>
          <a:p xmlns:a="http://schemas.openxmlformats.org/drawingml/2006/main">
            <a:pPr algn="ctr">
              <a:defRPr sz="2175" b="0">
                <a:solidFill>
                  <a:srgbClr val="FFF9ED"/>
                </a:solidFill>
                <a:latin typeface="Arial"/>
                <a:ea typeface="Arial"/>
                <a:cs typeface="Arial"/>
              </a:defRPr>
            </a:pPr>
            <a:r>
              <a:rPr sz="2175" b="0">
                <a:solidFill>
                  <a:srgbClr val="FFF9ED"/>
                </a:solidFill>
                <a:latin typeface="Arial"/>
                <a:ea typeface="Arial"/>
                <a:cs typeface="Arial"/>
              </a:rPr>
              <a:t>Compute loss</a:t>
            </a:r>
          </a:p>
        </p:txBody>
      </p:sp>
      <p:sp>
        <p:nvSpPr>
          <p:cNvPr id="4" name="backward">
            <a:extLst xmlns:a="http://schemas.openxmlformats.org/drawingml/2006/main">
              <a:ext uri="{FF2B5EF4-FFF2-40B4-BE49-F238E27FC236}">
                <a16:creationId xmlns:a16="http://schemas.microsoft.com/office/drawing/2014/main" id="{05B04839-2B49-4DA7-95F2-1D9377527F17}"/>
              </a:ext>
            </a:extLst>
          </p:cNvPr>
          <p:cNvSpPr>
            <a:spLocks xmlns:a="http://schemas.openxmlformats.org/drawingml/2006/main" noGrp="1"/>
          </p:cNvSpPr>
          <p:nvPr/>
        </p:nvSpPr>
        <p:spPr>
          <a:xfrm xmlns:a="http://schemas.openxmlformats.org/drawingml/2006/main">
            <a:off x="6229350" y="2190750"/>
            <a:ext cx="2457450" cy="140970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025" b="0">
                <a:solidFill>
                  <a:srgbClr val="FFD21E"/>
                </a:solidFill>
                <a:latin typeface="Arial"/>
                <a:ea typeface="Arial"/>
                <a:cs typeface="Arial"/>
              </a:defRPr>
            </a:pPr>
            <a:r>
              <a:rPr sz="2025" b="0">
                <a:solidFill>
                  <a:srgbClr val="FFD21E"/>
                </a:solidFill>
                <a:latin typeface="Arial"/>
                <a:ea typeface="Arial"/>
                <a:cs typeface="Arial"/>
              </a:rPr>
              <a:t>Backward</a:t>
            </a:r>
          </a:p>
          <a:p xmlns:a="http://schemas.openxmlformats.org/drawingml/2006/main">
            <a:pPr algn="ctr">
              <a:defRPr sz="2025" b="0">
                <a:solidFill>
                  <a:srgbClr val="FFD21E"/>
                </a:solidFill>
                <a:latin typeface="Arial"/>
                <a:ea typeface="Arial"/>
                <a:cs typeface="Arial"/>
              </a:defRPr>
            </a:pPr>
            <a:r>
              <a:rPr sz="2025" b="0">
                <a:solidFill>
                  <a:srgbClr val="FFD21E"/>
                </a:solidFill>
                <a:latin typeface="Arial"/>
                <a:ea typeface="Arial"/>
                <a:cs typeface="Arial"/>
              </a:rPr>
              <a:t>Compute gradients</a:t>
            </a:r>
          </a:p>
        </p:txBody>
      </p:sp>
      <p:sp>
        <p:nvSpPr>
          <p:cNvPr id="5" name="update">
            <a:extLst xmlns:a="http://schemas.openxmlformats.org/drawingml/2006/main">
              <a:ext uri="{FF2B5EF4-FFF2-40B4-BE49-F238E27FC236}">
                <a16:creationId xmlns:a16="http://schemas.microsoft.com/office/drawing/2014/main" id="{B84FF48F-0040-4888-A1CB-BC5D10269B32}"/>
              </a:ext>
            </a:extLst>
          </p:cNvPr>
          <p:cNvSpPr>
            <a:spLocks xmlns:a="http://schemas.openxmlformats.org/drawingml/2006/main" noGrp="1"/>
          </p:cNvSpPr>
          <p:nvPr/>
        </p:nvSpPr>
        <p:spPr>
          <a:xfrm xmlns:a="http://schemas.openxmlformats.org/drawingml/2006/main">
            <a:off x="9163050" y="2190750"/>
            <a:ext cx="2419350" cy="140970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025" b="0">
                <a:solidFill>
                  <a:srgbClr val="FFF9ED"/>
                </a:solidFill>
                <a:latin typeface="Arial"/>
                <a:ea typeface="Arial"/>
                <a:cs typeface="Arial"/>
              </a:defRPr>
            </a:pPr>
            <a:r>
              <a:rPr sz="2025" b="0">
                <a:solidFill>
                  <a:srgbClr val="FFF9ED"/>
                </a:solidFill>
                <a:latin typeface="Arial"/>
                <a:ea typeface="Arial"/>
                <a:cs typeface="Arial"/>
              </a:rPr>
              <a:t>Update</a:t>
            </a:r>
          </a:p>
          <a:p xmlns:a="http://schemas.openxmlformats.org/drawingml/2006/main">
            <a:pPr algn="ctr">
              <a:defRPr sz="2025" b="0">
                <a:solidFill>
                  <a:srgbClr val="FFF9ED"/>
                </a:solidFill>
                <a:latin typeface="Arial"/>
                <a:ea typeface="Arial"/>
                <a:cs typeface="Arial"/>
              </a:defRPr>
            </a:pPr>
            <a:r>
              <a:rPr sz="2025" b="0">
                <a:solidFill>
                  <a:srgbClr val="FFF9ED"/>
                </a:solidFill>
                <a:latin typeface="Arial"/>
                <a:ea typeface="Arial"/>
                <a:cs typeface="Arial"/>
              </a:rPr>
              <a:t>step + zero_grad</a:t>
            </a:r>
          </a:p>
        </p:txBody>
      </p:sp>
      <p:sp>
        <p:nvSpPr>
          <p:cNvPr id="6" name="single">
            <a:extLst xmlns:a="http://schemas.openxmlformats.org/drawingml/2006/main">
              <a:ext uri="{FF2B5EF4-FFF2-40B4-BE49-F238E27FC236}">
                <a16:creationId xmlns:a16="http://schemas.microsoft.com/office/drawing/2014/main" id="{9422B22D-4CE5-4291-842A-964162F0CED0}"/>
              </a:ext>
            </a:extLst>
          </p:cNvPr>
          <p:cNvSpPr>
            <a:spLocks xmlns:a="http://schemas.openxmlformats.org/drawingml/2006/main" noGrp="1"/>
          </p:cNvSpPr>
          <p:nvPr/>
        </p:nvSpPr>
        <p:spPr>
          <a:xfrm xmlns:a="http://schemas.openxmlformats.org/drawingml/2006/main">
            <a:off x="609600" y="4714875"/>
            <a:ext cx="2914650" cy="838200"/>
          </a:xfrm>
          <a:prstGeom xmlns:a="http://schemas.openxmlformats.org/drawingml/2006/main" prst="rect">
            <a:avLst/>
          </a:prstGeom>
          <a:solidFill xmlns:a="http://schemas.openxmlformats.org/drawingml/2006/main">
            <a:srgbClr val="20242E"/>
          </a:solidFill>
          <a:ln xmlns:a="http://schemas.openxmlformats.org/drawingml/2006/main" w="19050">
            <a:solidFill>
              <a:srgbClr val="86BFFF"/>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0">
                <a:solidFill>
                  <a:srgbClr val="86BFFF"/>
                </a:solidFill>
                <a:latin typeface="Arial"/>
                <a:ea typeface="Arial"/>
                <a:cs typeface="Arial"/>
              </a:defRPr>
            </a:pPr>
            <a:r>
              <a:rPr sz="2175" b="0">
                <a:solidFill>
                  <a:srgbClr val="86BFFF"/>
                </a:solidFill>
                <a:latin typeface="Arial"/>
                <a:ea typeface="Arial"/>
                <a:cs typeface="Arial"/>
              </a:rPr>
              <a:t>One CPU / GPU</a:t>
            </a:r>
          </a:p>
        </p:txBody>
      </p:sp>
      <p:sp>
        <p:nvSpPr>
          <p:cNvPr id="7" name="ddp">
            <a:extLst xmlns:a="http://schemas.openxmlformats.org/drawingml/2006/main">
              <a:ext uri="{FF2B5EF4-FFF2-40B4-BE49-F238E27FC236}">
                <a16:creationId xmlns:a16="http://schemas.microsoft.com/office/drawing/2014/main" id="{91C9C7B1-0BE1-42AA-A03B-6BA2BBC4992C}"/>
              </a:ext>
            </a:extLst>
          </p:cNvPr>
          <p:cNvSpPr>
            <a:spLocks xmlns:a="http://schemas.openxmlformats.org/drawingml/2006/main" noGrp="1"/>
          </p:cNvSpPr>
          <p:nvPr/>
        </p:nvSpPr>
        <p:spPr>
          <a:xfrm xmlns:a="http://schemas.openxmlformats.org/drawingml/2006/main">
            <a:off x="4000500" y="4533900"/>
            <a:ext cx="3390900" cy="120015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025" b="0">
                <a:solidFill>
                  <a:srgbClr val="FFF9ED"/>
                </a:solidFill>
                <a:latin typeface="Arial"/>
                <a:ea typeface="Arial"/>
                <a:cs typeface="Arial"/>
              </a:defRPr>
            </a:pPr>
            <a:r>
              <a:rPr sz="2025" b="0">
                <a:solidFill>
                  <a:srgbClr val="FFF9ED"/>
                </a:solidFill>
                <a:latin typeface="Arial"/>
                <a:ea typeface="Arial"/>
                <a:cs typeface="Arial"/>
              </a:rPr>
              <a:t>DDP</a:t>
            </a:r>
          </a:p>
          <a:p xmlns:a="http://schemas.openxmlformats.org/drawingml/2006/main">
            <a:pPr algn="ctr">
              <a:defRPr sz="2025" b="0">
                <a:solidFill>
                  <a:srgbClr val="FFF9ED"/>
                </a:solidFill>
                <a:latin typeface="Arial"/>
                <a:ea typeface="Arial"/>
                <a:cs typeface="Arial"/>
              </a:defRPr>
            </a:pPr>
            <a:r>
              <a:rPr sz="2025" b="0">
                <a:solidFill>
                  <a:srgbClr val="FFF9ED"/>
                </a:solidFill>
                <a:latin typeface="Arial"/>
                <a:ea typeface="Arial"/>
                <a:cs typeface="Arial"/>
              </a:rPr>
              <a:t>Model copy per GPU</a:t>
            </a:r>
          </a:p>
        </p:txBody>
      </p:sp>
      <p:sp>
        <p:nvSpPr>
          <p:cNvPr id="8" name="shard">
            <a:extLst xmlns:a="http://schemas.openxmlformats.org/drawingml/2006/main">
              <a:ext uri="{FF2B5EF4-FFF2-40B4-BE49-F238E27FC236}">
                <a16:creationId xmlns:a16="http://schemas.microsoft.com/office/drawing/2014/main" id="{5EC1FD55-0D95-46F3-A46A-896DC6B904D7}"/>
              </a:ext>
            </a:extLst>
          </p:cNvPr>
          <p:cNvSpPr>
            <a:spLocks xmlns:a="http://schemas.openxmlformats.org/drawingml/2006/main" noGrp="1"/>
          </p:cNvSpPr>
          <p:nvPr/>
        </p:nvSpPr>
        <p:spPr>
          <a:xfrm xmlns:a="http://schemas.openxmlformats.org/drawingml/2006/main">
            <a:off x="7867650" y="4533900"/>
            <a:ext cx="3714750" cy="120015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025" b="0">
                <a:solidFill>
                  <a:srgbClr val="FFF9ED"/>
                </a:solidFill>
                <a:latin typeface="Arial"/>
                <a:ea typeface="Arial"/>
                <a:cs typeface="Arial"/>
              </a:defRPr>
            </a:pPr>
            <a:r>
              <a:rPr sz="2025" b="0">
                <a:solidFill>
                  <a:srgbClr val="FFF9ED"/>
                </a:solidFill>
                <a:latin typeface="Arial"/>
                <a:ea typeface="Arial"/>
                <a:cs typeface="Arial"/>
              </a:rPr>
              <a:t>FSDP / DeepSpeed</a:t>
            </a:r>
          </a:p>
          <a:p xmlns:a="http://schemas.openxmlformats.org/drawingml/2006/main">
            <a:pPr algn="ctr">
              <a:defRPr sz="2025" b="0">
                <a:solidFill>
                  <a:srgbClr val="FFF9ED"/>
                </a:solidFill>
                <a:latin typeface="Arial"/>
                <a:ea typeface="Arial"/>
                <a:cs typeface="Arial"/>
              </a:defRPr>
            </a:pPr>
            <a:r>
              <a:rPr sz="2025" b="0">
                <a:solidFill>
                  <a:srgbClr val="FFF9ED"/>
                </a:solidFill>
                <a:latin typeface="Arial"/>
                <a:ea typeface="Arial"/>
                <a:cs typeface="Arial"/>
              </a:rPr>
              <a:t>Shard training state</a:t>
            </a:r>
          </a:p>
        </p:txBody>
      </p:sp>
      <p:cxnSp>
        <p:nvCxnSpPr>
          <p:cNvPr id="24" name=""/>
          <p:cNvCxnSpPr>
            <a:stCxn xmlns:a="http://schemas.openxmlformats.org/drawingml/2006/main" id="2" idx="3"/>
            <a:endCxn xmlns:a="http://schemas.openxmlformats.org/drawingml/2006/main" id="3" idx="1"/>
          </p:cNvCxnSpPr>
          <p:nvPr/>
        </p:nvCxnSpPr>
        <p:spPr>
          <a:xfrm xmlns:a="http://schemas.openxmlformats.org/drawingml/2006/main">
            <a:off x="3009900" y="2895600"/>
            <a:ext cx="476250" cy="0"/>
          </a:xfrm>
          <a:prstGeom xmlns:a="http://schemas.openxmlformats.org/drawingml/2006/main" prst="straightConnector1">
            <a:avLst/>
          </a:prstGeom>
          <a:ln xmlns:a="http://schemas.openxmlformats.org/drawingml/2006/main" w="28575">
            <a:solidFill>
              <a:srgbClr val="FFD21E"/>
            </a:solidFill>
            <a:tailEnd type="triangle" w="med" len="med"/>
          </a:ln>
        </p:spPr>
      </p:cxnSp>
      <p:cxnSp>
        <p:nvCxnSpPr>
          <p:cNvPr id="25" name=""/>
          <p:cNvCxnSpPr>
            <a:stCxn xmlns:a="http://schemas.openxmlformats.org/drawingml/2006/main" id="3" idx="3"/>
            <a:endCxn xmlns:a="http://schemas.openxmlformats.org/drawingml/2006/main" id="4" idx="1"/>
          </p:cNvCxnSpPr>
          <p:nvPr/>
        </p:nvCxnSpPr>
        <p:spPr>
          <a:xfrm xmlns:a="http://schemas.openxmlformats.org/drawingml/2006/main">
            <a:off x="5753100" y="2895600"/>
            <a:ext cx="476250" cy="0"/>
          </a:xfrm>
          <a:prstGeom xmlns:a="http://schemas.openxmlformats.org/drawingml/2006/main" prst="straightConnector1">
            <a:avLst/>
          </a:prstGeom>
          <a:ln xmlns:a="http://schemas.openxmlformats.org/drawingml/2006/main" w="28575">
            <a:solidFill>
              <a:srgbClr val="FFD21E"/>
            </a:solidFill>
            <a:tailEnd type="triangle" w="med" len="med"/>
          </a:ln>
        </p:spPr>
      </p:cxn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8686800" y="2895600"/>
            <a:ext cx="476250" cy="0"/>
          </a:xfrm>
          <a:prstGeom xmlns:a="http://schemas.openxmlformats.org/drawingml/2006/main" prst="straightConnector1">
            <a:avLst/>
          </a:prstGeom>
          <a:ln xmlns:a="http://schemas.openxmlformats.org/drawingml/2006/main" w="28575">
            <a:solidFill>
              <a:srgbClr val="FFD21E"/>
            </a:solidFill>
            <a:tailEnd type="triangle" w="med" len="med"/>
          </a:ln>
        </p:spPr>
      </p:cxnSp>
      <p:sp>
        <p:nvSpPr>
          <p:cNvPr id="12" name="">
            <a:extLst xmlns:a="http://schemas.openxmlformats.org/drawingml/2006/main">
              <a:ext uri="{FF2B5EF4-FFF2-40B4-BE49-F238E27FC236}">
                <a16:creationId xmlns:a16="http://schemas.microsoft.com/office/drawing/2014/main" id="{133D02C9-7DA0-4C1B-A6EF-3963AF6B475D}"/>
              </a:ext>
            </a:extLst>
          </p:cNvPr>
          <p:cNvSpPr>
            <a:spLocks xmlns:a="http://schemas.openxmlformats.org/drawingml/2006/main" noGrp="1"/>
          </p:cNvSpPr>
          <p:nvPr/>
        </p:nvSpPr>
        <p:spPr>
          <a:xfrm xmlns:a="http://schemas.openxmlformats.org/drawingml/2006/main">
            <a:off x="3486150" y="376237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FFF9ED"/>
                </a:solidFill>
                <a:latin typeface="Arial"/>
                <a:ea typeface="Arial"/>
                <a:cs typeface="Arial"/>
              </a:defRPr>
            </a:pPr>
            <a:r>
              <a:rPr sz="1875" b="0">
                <a:solidFill>
                  <a:srgbClr val="FFF9ED"/>
                </a:solidFill>
                <a:latin typeface="Arial"/>
                <a:ea typeface="Arial"/>
                <a:cs typeface="Arial"/>
              </a:rPr>
              <a:t>Repeat for each batch</a:t>
            </a:r>
          </a:p>
        </p:txBody>
      </p:sp>
      <p:sp>
        <p:nvSpPr>
          <p:cNvPr id="13" name="">
            <a:extLst xmlns:a="http://schemas.openxmlformats.org/drawingml/2006/main">
              <a:ext uri="{FF2B5EF4-FFF2-40B4-BE49-F238E27FC236}">
                <a16:creationId xmlns:a16="http://schemas.microsoft.com/office/drawing/2014/main" id="{DE67C3C9-068B-4695-BE62-641C4EFFD15F}"/>
              </a:ext>
            </a:extLst>
          </p:cNvPr>
          <p:cNvSpPr>
            <a:spLocks xmlns:a="http://schemas.openxmlformats.org/drawingml/2006/main" noGrp="1"/>
          </p:cNvSpPr>
          <p:nvPr/>
        </p:nvSpPr>
        <p:spPr>
          <a:xfrm xmlns:a="http://schemas.openxmlformats.org/drawingml/2006/main">
            <a:off x="609600" y="4095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D21E"/>
                </a:solidFill>
                <a:latin typeface="Arial"/>
                <a:ea typeface="Arial"/>
                <a:cs typeface="Arial"/>
              </a:defRPr>
            </a:pPr>
            <a:r>
              <a:rPr sz="2025" b="0">
                <a:solidFill>
                  <a:srgbClr val="FFD21E"/>
                </a:solidFill>
                <a:latin typeface="Arial"/>
                <a:ea typeface="Arial"/>
                <a:cs typeface="Arial"/>
              </a:rPr>
              <a:t>Same loop, different launch strategy</a:t>
            </a:r>
          </a:p>
        </p:txBody>
      </p:sp>
      <p:sp>
        <p:nvSpPr>
          <p:cNvPr id="14" name="">
            <a:extLst xmlns:a="http://schemas.openxmlformats.org/drawingml/2006/main">
              <a:ext uri="{FF2B5EF4-FFF2-40B4-BE49-F238E27FC236}">
                <a16:creationId xmlns:a16="http://schemas.microsoft.com/office/drawing/2014/main" id="{1FF8A7BB-C30F-4DD3-AED3-4C575999615A}"/>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Distributed metrics need all workers’ predictions: gather_for_metrics.</a:t>
            </a:r>
          </a:p>
        </p:txBody>
      </p:sp>
      <p:sp>
        <p:nvSpPr>
          <p:cNvPr id="15" name="">
            <a:extLst xmlns:a="http://schemas.openxmlformats.org/drawingml/2006/main">
              <a:ext uri="{FF2B5EF4-FFF2-40B4-BE49-F238E27FC236}">
                <a16:creationId xmlns:a16="http://schemas.microsoft.com/office/drawing/2014/main" id="{92F22E98-26DD-44B1-A2CA-0FB0DB2B093A}"/>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09</a:t>
            </a:r>
          </a:p>
        </p:txBody>
      </p:sp>
    </p:spTree>
    <p:extLst>
      <p:ext uri="{BB962C8B-B14F-4D97-AF65-F5344CB8AC3E}">
        <p14:creationId xmlns:p14="http://schemas.microsoft.com/office/powerpoint/2010/main" val="1940915805"/>
      </p:ext>
    </p:extLst>
  </p:cSld>
</p:sld>
</file>

<file path=ppt/slides/slide10.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AA6694-C9DA-4101-AC94-4C9A3AEBADCA}"/>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Loss falls while validation stays steady</a:t>
            </a:r>
          </a:p>
        </p:txBody>
      </p:sp>
      <p:graphicFrame>
        <p:nvGraphicFramePr>
          <p:cNvPr id="9" name="Chart"/>
          <p:cNvGraphicFramePr/>
          <p:nvPr/>
        </p:nvGraphicFramePr>
        <p:xfrm>
          <a:off xmlns:a="http://schemas.openxmlformats.org/drawingml/2006/main" x="609600" y="1819275"/>
          <a:ext xmlns:a="http://schemas.openxmlformats.org/drawingml/2006/main" cx="5105400" cy="3371850"/>
        </p:xfrm>
        <a:graphic xmlns:a="http://schemas.openxmlformats.org/drawingml/2006/main">
          <a:graphicData uri="http://schemas.openxmlformats.org/drawingml/2006/chart">
            <c:chart xmlns:r="http://schemas.openxmlformats.org/officeDocument/2006/relationships" xmlns:c="http://schemas.openxmlformats.org/drawingml/2006/chart" r:id="R7a571b4aca604aa4"/>
          </a:graphicData>
        </a:graphic>
      </p:graphicFrame>
      <p:graphicFrame>
        <p:nvGraphicFramePr>
          <p:cNvPr id="10" name="Chart"/>
          <p:cNvGraphicFramePr/>
          <p:nvPr/>
        </p:nvGraphicFramePr>
        <p:xfrm>
          <a:off xmlns:a="http://schemas.openxmlformats.org/drawingml/2006/main" x="6477000" y="1819275"/>
          <a:ext xmlns:a="http://schemas.openxmlformats.org/drawingml/2006/main" cx="5105400" cy="3371850"/>
        </p:xfrm>
        <a:graphic xmlns:a="http://schemas.openxmlformats.org/drawingml/2006/main">
          <a:graphicData uri="http://schemas.openxmlformats.org/drawingml/2006/chart">
            <c:chart xmlns:r="http://schemas.openxmlformats.org/officeDocument/2006/relationships" xmlns:c="http://schemas.openxmlformats.org/drawingml/2006/chart" r:id="R0b019b6a3e7844da"/>
          </a:graphicData>
        </a:graphic>
      </p:graphicFrame>
      <p:sp>
        <p:nvSpPr>
          <p:cNvPr id="4" name="">
            <a:extLst xmlns:a="http://schemas.openxmlformats.org/drawingml/2006/main">
              <a:ext uri="{FF2B5EF4-FFF2-40B4-BE49-F238E27FC236}">
                <a16:creationId xmlns:a16="http://schemas.microsoft.com/office/drawing/2014/main" id="{352803CA-D899-47D6-A60C-742A0D8D454E}"/>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FFD21E"/>
                </a:solidFill>
                <a:latin typeface="Arial"/>
                <a:ea typeface="Arial"/>
                <a:cs typeface="Arial"/>
              </a:defRPr>
            </a:pPr>
            <a:r>
              <a:rPr sz="2175" b="1">
                <a:solidFill>
                  <a:srgbClr val="FFD21E"/>
                </a:solidFill>
                <a:latin typeface="Arial"/>
                <a:ea typeface="Arial"/>
                <a:cs typeface="Arial"/>
              </a:rPr>
              <a:t>Checkpoint: epoch 3, selected by validation macro-F1</a:t>
            </a:r>
          </a:p>
        </p:txBody>
      </p:sp>
      <p:sp>
        <p:nvSpPr>
          <p:cNvPr id="5" name="">
            <a:extLst xmlns:a="http://schemas.openxmlformats.org/drawingml/2006/main">
              <a:ext uri="{FF2B5EF4-FFF2-40B4-BE49-F238E27FC236}">
                <a16:creationId xmlns:a16="http://schemas.microsoft.com/office/drawing/2014/main" id="{2828EBA6-71E9-411F-9F31-102320FC5381}"/>
              </a:ext>
            </a:extLst>
          </p:cNvPr>
          <p:cNvSpPr>
            <a:spLocks xmlns:a="http://schemas.openxmlformats.org/drawingml/2006/main" noGrp="1"/>
          </p:cNvSpPr>
          <p:nvPr/>
        </p:nvSpPr>
        <p:spPr>
          <a:xfrm xmlns:a="http://schemas.openxmlformats.org/drawingml/2006/main">
            <a:off x="609600" y="56102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9BECA"/>
                </a:solidFill>
                <a:latin typeface="Arial"/>
                <a:ea typeface="Arial"/>
                <a:cs typeface="Arial"/>
              </a:defRPr>
            </a:pPr>
            <a:r>
              <a:rPr sz="1725" b="0">
                <a:solidFill>
                  <a:srgbClr val="B9BECA"/>
                </a:solidFill>
                <a:latin typeface="Arial"/>
                <a:ea typeface="Arial"/>
                <a:cs typeface="Arial"/>
              </a:rPr>
              <a:t>400 validation rows. The held-out test does not choose the checkpoint.</a:t>
            </a:r>
          </a:p>
        </p:txBody>
      </p:sp>
      <p:sp>
        <p:nvSpPr>
          <p:cNvPr id="6" name="">
            <a:extLst xmlns:a="http://schemas.openxmlformats.org/drawingml/2006/main">
              <a:ext uri="{FF2B5EF4-FFF2-40B4-BE49-F238E27FC236}">
                <a16:creationId xmlns:a16="http://schemas.microsoft.com/office/drawing/2014/main" id="{5A6C7D28-FE6B-44F4-9F1B-725EC2D6D063}"/>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Recorded laptop training: RTX 4090 Laptop GPU, seed 42. Colab is a separate run.</a:t>
            </a:r>
          </a:p>
        </p:txBody>
      </p:sp>
      <p:sp>
        <p:nvSpPr>
          <p:cNvPr id="7" name="">
            <a:extLst xmlns:a="http://schemas.openxmlformats.org/drawingml/2006/main">
              <a:ext uri="{FF2B5EF4-FFF2-40B4-BE49-F238E27FC236}">
                <a16:creationId xmlns:a16="http://schemas.microsoft.com/office/drawing/2014/main" id="{A5EFE6E1-ACDF-4BE2-9C28-42B0BD3F656F}"/>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10</a:t>
            </a:r>
          </a:p>
        </p:txBody>
      </p:sp>
    </p:spTree>
    <p:extLst>
      <p:ext uri="{BB962C8B-B14F-4D97-AF65-F5344CB8AC3E}">
        <p14:creationId xmlns:p14="http://schemas.microsoft.com/office/powerpoint/2010/main" val="1531922950"/>
      </p:ext>
    </p:extLst>
  </p:cSld>
</p:sld>
</file>

<file path=ppt/slides/slide11.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6F1F5BE-8688-42AD-B3C2-5FD77170FDFF}"/>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Evaluation decides whether a release proceeds</a:t>
            </a:r>
          </a:p>
        </p:txBody>
      </p:sp>
      <p:sp>
        <p:nvSpPr>
          <p:cNvPr id="2" name="lock">
            <a:extLst xmlns:a="http://schemas.openxmlformats.org/drawingml/2006/main">
              <a:ext uri="{FF2B5EF4-FFF2-40B4-BE49-F238E27FC236}">
                <a16:creationId xmlns:a16="http://schemas.microsoft.com/office/drawing/2014/main" id="{75E6E07A-EF57-40C6-BD8D-6E117F1A4484}"/>
              </a:ext>
            </a:extLst>
          </p:cNvPr>
          <p:cNvSpPr>
            <a:spLocks xmlns:a="http://schemas.openxmlformats.org/drawingml/2006/main" noGrp="1"/>
          </p:cNvSpPr>
          <p:nvPr/>
        </p:nvSpPr>
        <p:spPr>
          <a:xfrm xmlns:a="http://schemas.openxmlformats.org/drawingml/2006/main">
            <a:off x="609600" y="2476500"/>
            <a:ext cx="2266950" cy="142875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0">
                <a:solidFill>
                  <a:srgbClr val="FFF9ED"/>
                </a:solidFill>
                <a:latin typeface="Arial"/>
                <a:ea typeface="Arial"/>
                <a:cs typeface="Arial"/>
              </a:defRPr>
            </a:pPr>
            <a:r>
              <a:rPr sz="2175" b="0">
                <a:solidFill>
                  <a:srgbClr val="FFF9ED"/>
                </a:solidFill>
                <a:latin typeface="Arial"/>
                <a:ea typeface="Arial"/>
                <a:cs typeface="Arial"/>
              </a:rPr>
              <a:t>Lock test rows</a:t>
            </a:r>
          </a:p>
          <a:p xmlns:a="http://schemas.openxmlformats.org/drawingml/2006/main">
            <a:pPr algn="ctr">
              <a:defRPr sz="2175" b="0">
                <a:solidFill>
                  <a:srgbClr val="FFF9ED"/>
                </a:solidFill>
                <a:latin typeface="Arial"/>
                <a:ea typeface="Arial"/>
                <a:cs typeface="Arial"/>
              </a:defRPr>
            </a:pPr>
            <a:r>
              <a:rPr sz="2175" b="0">
                <a:solidFill>
                  <a:srgbClr val="FFF9ED"/>
                </a:solidFill>
                <a:latin typeface="Arial"/>
                <a:ea typeface="Arial"/>
                <a:cs typeface="Arial"/>
              </a:rPr>
              <a:t>+ artifact hashes</a:t>
            </a:r>
          </a:p>
        </p:txBody>
      </p:sp>
      <p:sp>
        <p:nvSpPr>
          <p:cNvPr id="3" name="evaluate">
            <a:extLst xmlns:a="http://schemas.openxmlformats.org/drawingml/2006/main">
              <a:ext uri="{FF2B5EF4-FFF2-40B4-BE49-F238E27FC236}">
                <a16:creationId xmlns:a16="http://schemas.microsoft.com/office/drawing/2014/main" id="{7315C7C2-C80B-476A-9058-8DC51F84B08D}"/>
              </a:ext>
            </a:extLst>
          </p:cNvPr>
          <p:cNvSpPr>
            <a:spLocks xmlns:a="http://schemas.openxmlformats.org/drawingml/2006/main" noGrp="1"/>
          </p:cNvSpPr>
          <p:nvPr/>
        </p:nvSpPr>
        <p:spPr>
          <a:xfrm xmlns:a="http://schemas.openxmlformats.org/drawingml/2006/main">
            <a:off x="3448050" y="2476500"/>
            <a:ext cx="2362200" cy="14287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Evaluate</a:t>
            </a:r>
          </a:p>
          <a:p xmlns:a="http://schemas.openxmlformats.org/drawingml/2006/main">
            <a:pPr algn="ctr">
              <a:defRPr sz="2175" b="1">
                <a:solidFill>
                  <a:srgbClr val="FFD21E"/>
                </a:solidFill>
                <a:latin typeface="Arial"/>
                <a:ea typeface="Arial"/>
                <a:cs typeface="Arial"/>
              </a:defRPr>
            </a:pPr>
            <a:r>
              <a:rPr sz="2175" b="1">
                <a:solidFill>
                  <a:srgbClr val="FFD21E"/>
                </a:solidFill>
                <a:latin typeface="Arial"/>
                <a:ea typeface="Arial"/>
                <a:cs typeface="Arial"/>
              </a:rPr>
              <a:t>quality + runtime</a:t>
            </a:r>
          </a:p>
        </p:txBody>
      </p:sp>
      <p:sp>
        <p:nvSpPr>
          <p:cNvPr id="4" name="decide">
            <a:extLst xmlns:a="http://schemas.openxmlformats.org/drawingml/2006/main">
              <a:ext uri="{FF2B5EF4-FFF2-40B4-BE49-F238E27FC236}">
                <a16:creationId xmlns:a16="http://schemas.microsoft.com/office/drawing/2014/main" id="{55EC4333-3FBF-4C48-89DB-70BF64223D86}"/>
              </a:ext>
            </a:extLst>
          </p:cNvPr>
          <p:cNvSpPr>
            <a:spLocks xmlns:a="http://schemas.openxmlformats.org/drawingml/2006/main" noGrp="1"/>
          </p:cNvSpPr>
          <p:nvPr/>
        </p:nvSpPr>
        <p:spPr>
          <a:xfrm xmlns:a="http://schemas.openxmlformats.org/drawingml/2006/main">
            <a:off x="6191250" y="2276475"/>
            <a:ext cx="2628900" cy="1828800"/>
          </a:xfrm>
          <a:prstGeom xmlns:a="http://schemas.openxmlformats.org/drawingml/2006/main" prst="diamond">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1800" b="0">
                <a:solidFill>
                  <a:srgbClr val="FFF9ED"/>
                </a:solidFill>
                <a:latin typeface="Arial"/>
                <a:ea typeface="Arial"/>
                <a:cs typeface="Arial"/>
              </a:defRPr>
            </a:pPr>
            <a:r>
              <a:rPr sz="1800" b="0">
                <a:solidFill>
                  <a:srgbClr val="FFF9ED"/>
                </a:solidFill>
                <a:latin typeface="Arial"/>
                <a:ea typeface="Arial"/>
                <a:cs typeface="Arial"/>
              </a:rPr>
              <a:t>All checks</a:t>
            </a:r>
          </a:p>
          <a:p xmlns:a="http://schemas.openxmlformats.org/drawingml/2006/main">
            <a:pPr algn="ctr">
              <a:defRPr sz="1800" b="0">
                <a:solidFill>
                  <a:srgbClr val="FFF9ED"/>
                </a:solidFill>
                <a:latin typeface="Arial"/>
                <a:ea typeface="Arial"/>
                <a:cs typeface="Arial"/>
              </a:defRPr>
            </a:pPr>
            <a:r>
              <a:rPr sz="1800" b="0">
                <a:solidFill>
                  <a:srgbClr val="FFF9ED"/>
                </a:solidFill>
                <a:latin typeface="Arial"/>
                <a:ea typeface="Arial"/>
                <a:cs typeface="Arial"/>
              </a:rPr>
              <a:t>pass?</a:t>
            </a:r>
          </a:p>
        </p:txBody>
      </p:sp>
      <p:sp>
        <p:nvSpPr>
          <p:cNvPr id="5" name="promote">
            <a:extLst xmlns:a="http://schemas.openxmlformats.org/drawingml/2006/main">
              <a:ext uri="{FF2B5EF4-FFF2-40B4-BE49-F238E27FC236}">
                <a16:creationId xmlns:a16="http://schemas.microsoft.com/office/drawing/2014/main" id="{1BA77E83-EF79-4421-B451-0A3D6D341596}"/>
              </a:ext>
            </a:extLst>
          </p:cNvPr>
          <p:cNvSpPr>
            <a:spLocks xmlns:a="http://schemas.openxmlformats.org/drawingml/2006/main" noGrp="1"/>
          </p:cNvSpPr>
          <p:nvPr/>
        </p:nvSpPr>
        <p:spPr>
          <a:xfrm xmlns:a="http://schemas.openxmlformats.org/drawingml/2006/main">
            <a:off x="9525000" y="2038350"/>
            <a:ext cx="2057400" cy="933450"/>
          </a:xfrm>
          <a:prstGeom xmlns:a="http://schemas.openxmlformats.org/drawingml/2006/main" prst="rect">
            <a:avLst/>
          </a:prstGeom>
          <a:solidFill xmlns:a="http://schemas.openxmlformats.org/drawingml/2006/main">
            <a:srgbClr val="20242E"/>
          </a:solidFill>
          <a:ln xmlns:a="http://schemas.openxmlformats.org/drawingml/2006/main" w="19050">
            <a:solidFill>
              <a:srgbClr val="78D9B0"/>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78D9B0"/>
                </a:solidFill>
                <a:latin typeface="Arial"/>
                <a:ea typeface="Arial"/>
                <a:cs typeface="Arial"/>
              </a:defRPr>
            </a:pPr>
            <a:r>
              <a:rPr sz="2175" b="1">
                <a:solidFill>
                  <a:srgbClr val="78D9B0"/>
                </a:solidFill>
                <a:latin typeface="Arial"/>
                <a:ea typeface="Arial"/>
                <a:cs typeface="Arial"/>
              </a:rPr>
              <a:t>PROMOTE</a:t>
            </a:r>
          </a:p>
        </p:txBody>
      </p:sp>
      <p:sp>
        <p:nvSpPr>
          <p:cNvPr id="6" name="block">
            <a:extLst xmlns:a="http://schemas.openxmlformats.org/drawingml/2006/main">
              <a:ext uri="{FF2B5EF4-FFF2-40B4-BE49-F238E27FC236}">
                <a16:creationId xmlns:a16="http://schemas.microsoft.com/office/drawing/2014/main" id="{1EBD4F85-9F3C-41BC-B8F4-2DE72A07CAA0}"/>
              </a:ext>
            </a:extLst>
          </p:cNvPr>
          <p:cNvSpPr>
            <a:spLocks xmlns:a="http://schemas.openxmlformats.org/drawingml/2006/main" noGrp="1"/>
          </p:cNvSpPr>
          <p:nvPr/>
        </p:nvSpPr>
        <p:spPr>
          <a:xfrm xmlns:a="http://schemas.openxmlformats.org/drawingml/2006/main">
            <a:off x="9525000" y="3895725"/>
            <a:ext cx="2057400" cy="933450"/>
          </a:xfrm>
          <a:prstGeom xmlns:a="http://schemas.openxmlformats.org/drawingml/2006/main" prst="rect">
            <a:avLst/>
          </a:prstGeom>
          <a:solidFill xmlns:a="http://schemas.openxmlformats.org/drawingml/2006/main">
            <a:srgbClr val="20242E"/>
          </a:solidFill>
          <a:ln xmlns:a="http://schemas.openxmlformats.org/drawingml/2006/main" w="19050">
            <a:solidFill>
              <a:srgbClr val="FF9D55"/>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b="1">
                <a:solidFill>
                  <a:srgbClr val="FF9D55"/>
                </a:solidFill>
                <a:latin typeface="Arial"/>
                <a:ea typeface="Arial"/>
                <a:cs typeface="Arial"/>
              </a:defRPr>
            </a:pPr>
            <a:r>
              <a:rPr sz="2175" b="1">
                <a:solidFill>
                  <a:srgbClr val="FF9D55"/>
                </a:solidFill>
                <a:latin typeface="Arial"/>
                <a:ea typeface="Arial"/>
                <a:cs typeface="Arial"/>
              </a:rPr>
              <a:t>BLOCK</a:t>
            </a:r>
          </a:p>
        </p:txBody>
      </p:sp>
      <p:cxnSp>
        <p:nvCxnSpPr>
          <p:cNvPr id="23" name=""/>
          <p:cNvCxnSpPr>
            <a:stCxn xmlns:a="http://schemas.openxmlformats.org/drawingml/2006/main" id="2" idx="3"/>
            <a:endCxn xmlns:a="http://schemas.openxmlformats.org/drawingml/2006/main" id="3" idx="1"/>
          </p:cNvCxnSpPr>
          <p:nvPr/>
        </p:nvCxnSpPr>
        <p:spPr>
          <a:xfrm xmlns:a="http://schemas.openxmlformats.org/drawingml/2006/main">
            <a:off x="2876550" y="3190875"/>
            <a:ext cx="571500" cy="0"/>
          </a:xfrm>
          <a:prstGeom xmlns:a="http://schemas.openxmlformats.org/drawingml/2006/main" prst="straightConnector1">
            <a:avLst/>
          </a:prstGeom>
          <a:ln xmlns:a="http://schemas.openxmlformats.org/drawingml/2006/main" w="28575">
            <a:solidFill>
              <a:srgbClr val="B9BECA"/>
            </a:solidFill>
            <a:tailEnd type="triangle" w="med" len="med"/>
          </a:ln>
        </p:spPr>
      </p:cxnSp>
      <p:cxnSp>
        <p:nvCxnSpPr>
          <p:cNvPr id="24" name=""/>
          <p:cNvCxnSpPr>
            <a:stCxn xmlns:a="http://schemas.openxmlformats.org/drawingml/2006/main" id="3" idx="3"/>
            <a:endCxn xmlns:a="http://schemas.openxmlformats.org/drawingml/2006/main" id="4" idx="1"/>
          </p:cNvCxnSpPr>
          <p:nvPr/>
        </p:nvCxnSpPr>
        <p:spPr>
          <a:xfrm xmlns:a="http://schemas.openxmlformats.org/drawingml/2006/main">
            <a:off x="5810250" y="3190875"/>
            <a:ext cx="381000" cy="0"/>
          </a:xfrm>
          <a:prstGeom xmlns:a="http://schemas.openxmlformats.org/drawingml/2006/main" prst="straightConnector1">
            <a:avLst/>
          </a:prstGeom>
          <a:ln xmlns:a="http://schemas.openxmlformats.org/drawingml/2006/main" w="28575">
            <a:solidFill>
              <a:srgbClr val="FFD21E"/>
            </a:solidFill>
            <a:tailEnd type="triangle"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flipV="1">
            <a:off x="8820150" y="2505075"/>
            <a:ext cx="704850" cy="685800"/>
          </a:xfrm>
          <a:prstGeom xmlns:a="http://schemas.openxmlformats.org/drawingml/2006/main" prst="bentConnector3">
            <a:avLst>
              <a:gd name="adj1" fmla="val 50000"/>
            </a:avLst>
          </a:prstGeom>
          <a:ln xmlns:a="http://schemas.openxmlformats.org/drawingml/2006/main" w="28575">
            <a:solidFill>
              <a:srgbClr val="78D9B0"/>
            </a:solidFill>
            <a:tailEnd type="triangle" w="med" len="med"/>
          </a:ln>
        </p:spPr>
      </p:cxnSp>
      <p:cxnSp>
        <p:nvCxnSpPr>
          <p:cNvPr id="26" name=""/>
          <p:cNvCxnSpPr>
            <a:stCxn xmlns:a="http://schemas.openxmlformats.org/drawingml/2006/main" id="4" idx="2"/>
            <a:endCxn xmlns:a="http://schemas.openxmlformats.org/drawingml/2006/main" id="6" idx="1"/>
          </p:cNvCxnSpPr>
          <p:nvPr/>
        </p:nvCxnSpPr>
        <p:spPr>
          <a:xfrm xmlns:a="http://schemas.openxmlformats.org/drawingml/2006/main">
            <a:off x="7505700" y="4105275"/>
            <a:ext cx="2019300" cy="257175"/>
          </a:xfrm>
          <a:prstGeom xmlns:a="http://schemas.openxmlformats.org/drawingml/2006/main" prst="bentConnector3">
            <a:avLst>
              <a:gd name="adj1" fmla="val 0"/>
            </a:avLst>
          </a:prstGeom>
          <a:ln xmlns:a="http://schemas.openxmlformats.org/drawingml/2006/main" w="28575">
            <a:solidFill>
              <a:srgbClr val="FF9D55"/>
            </a:solidFill>
            <a:tailEnd type="triangle" w="med" len="med"/>
          </a:ln>
        </p:spPr>
      </p:cxnSp>
      <p:sp>
        <p:nvSpPr>
          <p:cNvPr id="11" name="">
            <a:extLst xmlns:a="http://schemas.openxmlformats.org/drawingml/2006/main">
              <a:ext uri="{FF2B5EF4-FFF2-40B4-BE49-F238E27FC236}">
                <a16:creationId xmlns:a16="http://schemas.microsoft.com/office/drawing/2014/main" id="{723844A9-738D-46A9-AD6C-E91286A397ED}"/>
              </a:ext>
            </a:extLst>
          </p:cNvPr>
          <p:cNvSpPr>
            <a:spLocks xmlns:a="http://schemas.openxmlformats.org/drawingml/2006/main" noGrp="1"/>
          </p:cNvSpPr>
          <p:nvPr/>
        </p:nvSpPr>
        <p:spPr>
          <a:xfrm xmlns:a="http://schemas.openxmlformats.org/drawingml/2006/main">
            <a:off x="8848725" y="2114550"/>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78D9B0"/>
                </a:solidFill>
                <a:latin typeface="Arial"/>
                <a:ea typeface="Arial"/>
                <a:cs typeface="Arial"/>
              </a:defRPr>
            </a:pPr>
            <a:r>
              <a:rPr sz="1800" b="1">
                <a:solidFill>
                  <a:srgbClr val="78D9B0"/>
                </a:solidFill>
                <a:latin typeface="Arial"/>
                <a:ea typeface="Arial"/>
                <a:cs typeface="Arial"/>
              </a:rPr>
              <a:t>Yes</a:t>
            </a:r>
          </a:p>
        </p:txBody>
      </p:sp>
      <p:sp>
        <p:nvSpPr>
          <p:cNvPr id="12" name="">
            <a:extLst xmlns:a="http://schemas.openxmlformats.org/drawingml/2006/main">
              <a:ext uri="{FF2B5EF4-FFF2-40B4-BE49-F238E27FC236}">
                <a16:creationId xmlns:a16="http://schemas.microsoft.com/office/drawing/2014/main" id="{536017C3-C8E5-4700-AC83-9D7A8E95FE59}"/>
              </a:ext>
            </a:extLst>
          </p:cNvPr>
          <p:cNvSpPr>
            <a:spLocks xmlns:a="http://schemas.openxmlformats.org/drawingml/2006/main" noGrp="1"/>
          </p:cNvSpPr>
          <p:nvPr/>
        </p:nvSpPr>
        <p:spPr>
          <a:xfrm xmlns:a="http://schemas.openxmlformats.org/drawingml/2006/main">
            <a:off x="8763000" y="4419600"/>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FF9D55"/>
                </a:solidFill>
                <a:latin typeface="Arial"/>
                <a:ea typeface="Arial"/>
                <a:cs typeface="Arial"/>
              </a:defRPr>
            </a:pPr>
            <a:r>
              <a:rPr sz="1800" b="1">
                <a:solidFill>
                  <a:srgbClr val="FF9D55"/>
                </a:solidFill>
                <a:latin typeface="Arial"/>
                <a:ea typeface="Arial"/>
                <a:cs typeface="Arial"/>
              </a:rPr>
              <a:t>No</a:t>
            </a:r>
          </a:p>
        </p:txBody>
      </p:sp>
      <p:sp>
        <p:nvSpPr>
          <p:cNvPr id="13" name="">
            <a:extLst xmlns:a="http://schemas.openxmlformats.org/drawingml/2006/main">
              <a:ext uri="{FF2B5EF4-FFF2-40B4-BE49-F238E27FC236}">
                <a16:creationId xmlns:a16="http://schemas.microsoft.com/office/drawing/2014/main" id="{724ECEAF-1BD7-46B0-BCEA-483B3B2FD862}"/>
              </a:ext>
            </a:extLst>
          </p:cNvPr>
          <p:cNvSpPr>
            <a:spLocks xmlns:a="http://schemas.openxmlformats.org/drawingml/2006/main" noGrp="1"/>
          </p:cNvSpPr>
          <p:nvPr/>
        </p:nvSpPr>
        <p:spPr>
          <a:xfrm xmlns:a="http://schemas.openxmlformats.org/drawingml/2006/main">
            <a:off x="609600" y="4810125"/>
            <a:ext cx="8324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FFF9ED"/>
                </a:solidFill>
                <a:latin typeface="Arial"/>
                <a:ea typeface="Arial"/>
                <a:cs typeface="Arial"/>
              </a:defRPr>
            </a:pPr>
            <a:r>
              <a:rPr sz="1875" b="0">
                <a:solidFill>
                  <a:srgbClr val="FFF9ED"/>
                </a:solidFill>
                <a:latin typeface="Arial"/>
                <a:ea typeface="Arial"/>
                <a:cs typeface="Arial"/>
              </a:rPr>
              <a:t>Quality: macro-F1 ≥ 0.80, each class recall ≥ 0.65, INT8 F1 drop ≤ 0.02</a:t>
            </a:r>
          </a:p>
        </p:txBody>
      </p:sp>
      <p:sp>
        <p:nvSpPr>
          <p:cNvPr id="14" name="">
            <a:extLst xmlns:a="http://schemas.openxmlformats.org/drawingml/2006/main">
              <a:ext uri="{FF2B5EF4-FFF2-40B4-BE49-F238E27FC236}">
                <a16:creationId xmlns:a16="http://schemas.microsoft.com/office/drawing/2014/main" id="{32169FA2-EAAC-4A28-95F1-AA30BCF9EA7A}"/>
              </a:ext>
            </a:extLst>
          </p:cNvPr>
          <p:cNvSpPr>
            <a:spLocks xmlns:a="http://schemas.openxmlformats.org/drawingml/2006/main" noGrp="1"/>
          </p:cNvSpPr>
          <p:nvPr/>
        </p:nvSpPr>
        <p:spPr>
          <a:xfrm xmlns:a="http://schemas.openxmlformats.org/drawingml/2006/main">
            <a:off x="609600" y="54673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B9BECA"/>
                </a:solidFill>
                <a:latin typeface="Arial"/>
                <a:ea typeface="Arial"/>
                <a:cs typeface="Arial"/>
              </a:defRPr>
            </a:pPr>
            <a:r>
              <a:rPr sz="1800" b="0">
                <a:solidFill>
                  <a:srgbClr val="B9BECA"/>
                </a:solidFill>
                <a:latin typeface="Arial"/>
                <a:ea typeface="Arial"/>
                <a:cs typeface="Arial"/>
              </a:rPr>
              <a:t>Laptop policy: p95 ≤ 75 ms, weights ≤ 100 MiB, at least 800 test rows</a:t>
            </a:r>
          </a:p>
        </p:txBody>
      </p:sp>
      <p:sp>
        <p:nvSpPr>
          <p:cNvPr id="15" name="">
            <a:extLst xmlns:a="http://schemas.openxmlformats.org/drawingml/2006/main">
              <a:ext uri="{FF2B5EF4-FFF2-40B4-BE49-F238E27FC236}">
                <a16:creationId xmlns:a16="http://schemas.microsoft.com/office/drawing/2014/main" id="{B0B00EF1-55A7-4BD8-8F51-1E1D7C60C720}"/>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Live moment: a deliberately failing report blocks the release.</a:t>
            </a:r>
          </a:p>
        </p:txBody>
      </p:sp>
      <p:sp>
        <p:nvSpPr>
          <p:cNvPr id="16" name="">
            <a:extLst xmlns:a="http://schemas.openxmlformats.org/drawingml/2006/main">
              <a:ext uri="{FF2B5EF4-FFF2-40B4-BE49-F238E27FC236}">
                <a16:creationId xmlns:a16="http://schemas.microsoft.com/office/drawing/2014/main" id="{F6D96334-B2A3-4B2F-AB00-68CA41EEB755}"/>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11</a:t>
            </a:r>
          </a:p>
        </p:txBody>
      </p:sp>
    </p:spTree>
    <p:extLst>
      <p:ext uri="{BB962C8B-B14F-4D97-AF65-F5344CB8AC3E}">
        <p14:creationId xmlns:p14="http://schemas.microsoft.com/office/powerpoint/2010/main" val="620667415"/>
      </p:ext>
    </p:extLst>
  </p:cSld>
</p:sld>
</file>

<file path=ppt/slides/slide12.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2D0BE9-C424-45A2-95E7-C97E9B2A9F35}"/>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Optimum turns the model into a CPU artifact</a:t>
            </a:r>
          </a:p>
        </p:txBody>
      </p:sp>
      <p:sp>
        <p:nvSpPr>
          <p:cNvPr id="2" name="base">
            <a:extLst xmlns:a="http://schemas.openxmlformats.org/drawingml/2006/main">
              <a:ext uri="{FF2B5EF4-FFF2-40B4-BE49-F238E27FC236}">
                <a16:creationId xmlns:a16="http://schemas.microsoft.com/office/drawing/2014/main" id="{0C346267-2370-4180-8159-51C9F5FC1489}"/>
              </a:ext>
            </a:extLst>
          </p:cNvPr>
          <p:cNvSpPr>
            <a:spLocks xmlns:a="http://schemas.openxmlformats.org/drawingml/2006/main" noGrp="1"/>
          </p:cNvSpPr>
          <p:nvPr/>
        </p:nvSpPr>
        <p:spPr>
          <a:xfrm xmlns:a="http://schemas.openxmlformats.org/drawingml/2006/main">
            <a:off x="609600" y="2228850"/>
            <a:ext cx="2266950" cy="1085850"/>
          </a:xfrm>
          <a:prstGeom xmlns:a="http://schemas.openxmlformats.org/drawingml/2006/main" prst="rect">
            <a:avLst/>
          </a:prstGeom>
          <a:solidFill xmlns:a="http://schemas.openxmlformats.org/drawingml/2006/main">
            <a:srgbClr val="20242E"/>
          </a:solidFill>
          <a:ln xmlns:a="http://schemas.openxmlformats.org/drawingml/2006/main" w="19050">
            <a:solidFill>
              <a:srgbClr val="86BFFF"/>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0">
                <a:solidFill>
                  <a:srgbClr val="86BFFF"/>
                </a:solidFill>
                <a:latin typeface="Arial"/>
                <a:ea typeface="Arial"/>
                <a:cs typeface="Arial"/>
              </a:defRPr>
            </a:pPr>
            <a:r>
              <a:rPr sz="2100" b="0">
                <a:solidFill>
                  <a:srgbClr val="86BFFF"/>
                </a:solidFill>
                <a:latin typeface="Arial"/>
                <a:ea typeface="Arial"/>
                <a:cs typeface="Arial"/>
              </a:rPr>
              <a:t>Frozen base</a:t>
            </a:r>
          </a:p>
          <a:p xmlns:a="http://schemas.openxmlformats.org/drawingml/2006/main">
            <a:pPr algn="ctr">
              <a:defRPr sz="2100" b="0">
                <a:solidFill>
                  <a:srgbClr val="86BFFF"/>
                </a:solidFill>
                <a:latin typeface="Arial"/>
                <a:ea typeface="Arial"/>
                <a:cs typeface="Arial"/>
              </a:defRPr>
            </a:pPr>
            <a:r>
              <a:rPr sz="2100" b="0">
                <a:solidFill>
                  <a:srgbClr val="86BFFF"/>
                </a:solidFill>
                <a:latin typeface="Arial"/>
                <a:ea typeface="Arial"/>
                <a:cs typeface="Arial"/>
              </a:rPr>
              <a:t>Pinned revision</a:t>
            </a:r>
          </a:p>
        </p:txBody>
      </p:sp>
      <p:sp>
        <p:nvSpPr>
          <p:cNvPr id="3" name="adapter">
            <a:extLst xmlns:a="http://schemas.openxmlformats.org/drawingml/2006/main">
              <a:ext uri="{FF2B5EF4-FFF2-40B4-BE49-F238E27FC236}">
                <a16:creationId xmlns:a16="http://schemas.microsoft.com/office/drawing/2014/main" id="{B26EFFAD-D08C-49B7-9896-98B30C996F12}"/>
              </a:ext>
            </a:extLst>
          </p:cNvPr>
          <p:cNvSpPr>
            <a:spLocks xmlns:a="http://schemas.openxmlformats.org/drawingml/2006/main" noGrp="1"/>
          </p:cNvSpPr>
          <p:nvPr/>
        </p:nvSpPr>
        <p:spPr>
          <a:xfrm xmlns:a="http://schemas.openxmlformats.org/drawingml/2006/main">
            <a:off x="609600" y="4067175"/>
            <a:ext cx="2266950" cy="108585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0">
                <a:solidFill>
                  <a:srgbClr val="FFD21E"/>
                </a:solidFill>
                <a:latin typeface="Arial"/>
                <a:ea typeface="Arial"/>
                <a:cs typeface="Arial"/>
              </a:defRPr>
            </a:pPr>
            <a:r>
              <a:rPr sz="2100" b="0">
                <a:solidFill>
                  <a:srgbClr val="FFD21E"/>
                </a:solidFill>
                <a:latin typeface="Arial"/>
                <a:ea typeface="Arial"/>
                <a:cs typeface="Arial"/>
              </a:rPr>
              <a:t>Trained adapter</a:t>
            </a:r>
          </a:p>
          <a:p xmlns:a="http://schemas.openxmlformats.org/drawingml/2006/main">
            <a:pPr algn="ctr">
              <a:defRPr sz="2100" b="0">
                <a:solidFill>
                  <a:srgbClr val="FFD21E"/>
                </a:solidFill>
                <a:latin typeface="Arial"/>
                <a:ea typeface="Arial"/>
                <a:cs typeface="Arial"/>
              </a:defRPr>
            </a:pPr>
            <a:r>
              <a:rPr sz="2100" b="0">
                <a:solidFill>
                  <a:srgbClr val="FFD21E"/>
                </a:solidFill>
                <a:latin typeface="Arial"/>
                <a:ea typeface="Arial"/>
                <a:cs typeface="Arial"/>
              </a:rPr>
              <a:t>+ task head</a:t>
            </a:r>
          </a:p>
        </p:txBody>
      </p:sp>
      <p:sp>
        <p:nvSpPr>
          <p:cNvPr id="4" name="merge">
            <a:extLst xmlns:a="http://schemas.openxmlformats.org/drawingml/2006/main">
              <a:ext uri="{FF2B5EF4-FFF2-40B4-BE49-F238E27FC236}">
                <a16:creationId xmlns:a16="http://schemas.microsoft.com/office/drawing/2014/main" id="{BD29B7BC-2F59-49A5-AFC9-D5901897341E}"/>
              </a:ext>
            </a:extLst>
          </p:cNvPr>
          <p:cNvSpPr>
            <a:spLocks xmlns:a="http://schemas.openxmlformats.org/drawingml/2006/main" noGrp="1"/>
          </p:cNvSpPr>
          <p:nvPr/>
        </p:nvSpPr>
        <p:spPr>
          <a:xfrm xmlns:a="http://schemas.openxmlformats.org/drawingml/2006/main">
            <a:off x="3524250" y="3000375"/>
            <a:ext cx="2038350" cy="114300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400" b="1">
                <a:solidFill>
                  <a:srgbClr val="FFF9ED"/>
                </a:solidFill>
                <a:latin typeface="Arial"/>
                <a:ea typeface="Arial"/>
                <a:cs typeface="Arial"/>
              </a:defRPr>
            </a:pPr>
            <a:r>
              <a:rPr sz="2400" b="1">
                <a:solidFill>
                  <a:srgbClr val="FFF9ED"/>
                </a:solidFill>
                <a:latin typeface="Arial"/>
                <a:ea typeface="Arial"/>
                <a:cs typeface="Arial"/>
              </a:rPr>
              <a:t>Merge</a:t>
            </a:r>
          </a:p>
        </p:txBody>
      </p:sp>
      <p:sp>
        <p:nvSpPr>
          <p:cNvPr id="5" name="export">
            <a:extLst xmlns:a="http://schemas.openxmlformats.org/drawingml/2006/main">
              <a:ext uri="{FF2B5EF4-FFF2-40B4-BE49-F238E27FC236}">
                <a16:creationId xmlns:a16="http://schemas.microsoft.com/office/drawing/2014/main" id="{4A202165-382E-48FA-BF9C-53AAACDA307C}"/>
              </a:ext>
            </a:extLst>
          </p:cNvPr>
          <p:cNvSpPr>
            <a:spLocks xmlns:a="http://schemas.openxmlformats.org/drawingml/2006/main" noGrp="1"/>
          </p:cNvSpPr>
          <p:nvPr/>
        </p:nvSpPr>
        <p:spPr>
          <a:xfrm xmlns:a="http://schemas.openxmlformats.org/drawingml/2006/main">
            <a:off x="6134100" y="3000375"/>
            <a:ext cx="2305050" cy="1143000"/>
          </a:xfrm>
          <a:prstGeom xmlns:a="http://schemas.openxmlformats.org/drawingml/2006/main" prst="rect">
            <a:avLst/>
          </a:prstGeom>
          <a:solidFill xmlns:a="http://schemas.openxmlformats.org/drawingml/2006/main">
            <a:srgbClr val="20242E"/>
          </a:solidFill>
          <a:ln xmlns:a="http://schemas.openxmlformats.org/drawingml/2006/main" w="19050">
            <a:solidFill>
              <a:srgbClr val="FF9D55"/>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325" b="1">
                <a:solidFill>
                  <a:srgbClr val="FFF9ED"/>
                </a:solidFill>
                <a:latin typeface="Arial"/>
                <a:ea typeface="Arial"/>
                <a:cs typeface="Arial"/>
              </a:defRPr>
            </a:pPr>
            <a:r>
              <a:rPr sz="2325" b="1">
                <a:solidFill>
                  <a:srgbClr val="FFF9ED"/>
                </a:solidFill>
                <a:latin typeface="Arial"/>
                <a:ea typeface="Arial"/>
                <a:cs typeface="Arial"/>
              </a:rPr>
              <a:t>Export</a:t>
            </a:r>
          </a:p>
          <a:p xmlns:a="http://schemas.openxmlformats.org/drawingml/2006/main">
            <a:pPr algn="ctr">
              <a:defRPr sz="2325" b="1">
                <a:solidFill>
                  <a:srgbClr val="FFF9ED"/>
                </a:solidFill>
                <a:latin typeface="Arial"/>
                <a:ea typeface="Arial"/>
                <a:cs typeface="Arial"/>
              </a:defRPr>
            </a:pPr>
            <a:r>
              <a:rPr sz="2325" b="1">
                <a:solidFill>
                  <a:srgbClr val="FFF9ED"/>
                </a:solidFill>
                <a:latin typeface="Arial"/>
                <a:ea typeface="Arial"/>
                <a:cs typeface="Arial"/>
              </a:rPr>
              <a:t>ONNX FP32</a:t>
            </a:r>
          </a:p>
        </p:txBody>
      </p:sp>
      <p:sp>
        <p:nvSpPr>
          <p:cNvPr id="6" name="quantize">
            <a:extLst xmlns:a="http://schemas.openxmlformats.org/drawingml/2006/main">
              <a:ext uri="{FF2B5EF4-FFF2-40B4-BE49-F238E27FC236}">
                <a16:creationId xmlns:a16="http://schemas.microsoft.com/office/drawing/2014/main" id="{2DEAD661-044C-4CB8-845D-DE8342974595}"/>
              </a:ext>
            </a:extLst>
          </p:cNvPr>
          <p:cNvSpPr>
            <a:spLocks xmlns:a="http://schemas.openxmlformats.org/drawingml/2006/main" noGrp="1"/>
          </p:cNvSpPr>
          <p:nvPr/>
        </p:nvSpPr>
        <p:spPr>
          <a:xfrm xmlns:a="http://schemas.openxmlformats.org/drawingml/2006/main">
            <a:off x="9010650" y="3000375"/>
            <a:ext cx="2571750" cy="114300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325" b="1">
                <a:solidFill>
                  <a:srgbClr val="FFD21E"/>
                </a:solidFill>
                <a:latin typeface="Arial"/>
                <a:ea typeface="Arial"/>
                <a:cs typeface="Arial"/>
              </a:defRPr>
            </a:pPr>
            <a:r>
              <a:rPr sz="2325" b="1">
                <a:solidFill>
                  <a:srgbClr val="FFD21E"/>
                </a:solidFill>
                <a:latin typeface="Arial"/>
                <a:ea typeface="Arial"/>
                <a:cs typeface="Arial"/>
              </a:rPr>
              <a:t>Quantize</a:t>
            </a:r>
          </a:p>
          <a:p xmlns:a="http://schemas.openxmlformats.org/drawingml/2006/main">
            <a:pPr algn="ctr">
              <a:defRPr sz="2325" b="1">
                <a:solidFill>
                  <a:srgbClr val="FFD21E"/>
                </a:solidFill>
                <a:latin typeface="Arial"/>
                <a:ea typeface="Arial"/>
                <a:cs typeface="Arial"/>
              </a:defRPr>
            </a:pPr>
            <a:r>
              <a:rPr sz="2325" b="1">
                <a:solidFill>
                  <a:srgbClr val="FFD21E"/>
                </a:solidFill>
                <a:latin typeface="Arial"/>
                <a:ea typeface="Arial"/>
                <a:cs typeface="Arial"/>
              </a:rPr>
              <a:t>ONNX INT8</a:t>
            </a:r>
          </a:p>
        </p:txBody>
      </p:sp>
      <p:cxnSp>
        <p:nvCxnSpPr>
          <p:cNvPr id="23" name=""/>
          <p:cNvCxnSpPr>
            <a:stCxn xmlns:a="http://schemas.openxmlformats.org/drawingml/2006/main" id="2" idx="3"/>
            <a:endCxn xmlns:a="http://schemas.openxmlformats.org/drawingml/2006/main" id="4" idx="1"/>
          </p:cNvCxnSpPr>
          <p:nvPr/>
        </p:nvCxnSpPr>
        <p:spPr>
          <a:xfrm xmlns:a="http://schemas.openxmlformats.org/drawingml/2006/main">
            <a:off x="2876550" y="2771775"/>
            <a:ext cx="647700" cy="800100"/>
          </a:xfrm>
          <a:prstGeom xmlns:a="http://schemas.openxmlformats.org/drawingml/2006/main" prst="bentConnector3">
            <a:avLst>
              <a:gd name="adj1" fmla="val 50000"/>
            </a:avLst>
          </a:prstGeom>
          <a:ln xmlns:a="http://schemas.openxmlformats.org/drawingml/2006/main" w="28575">
            <a:solidFill>
              <a:srgbClr val="86BFFF"/>
            </a:solidFill>
            <a:tailEnd type="triangle" w="med" len="med"/>
          </a:ln>
        </p:spPr>
      </p:cxnSp>
      <p:cxnSp>
        <p:nvCxnSpPr>
          <p:cNvPr id="24" name=""/>
          <p:cNvCxnSpPr>
            <a:stCxn xmlns:a="http://schemas.openxmlformats.org/drawingml/2006/main" id="3" idx="3"/>
            <a:endCxn xmlns:a="http://schemas.openxmlformats.org/drawingml/2006/main" id="4" idx="1"/>
          </p:cNvCxnSpPr>
          <p:nvPr/>
        </p:nvCxnSpPr>
        <p:spPr>
          <a:xfrm xmlns:a="http://schemas.openxmlformats.org/drawingml/2006/main" flipV="1">
            <a:off x="2876550" y="3571875"/>
            <a:ext cx="647700" cy="1038225"/>
          </a:xfrm>
          <a:prstGeom xmlns:a="http://schemas.openxmlformats.org/drawingml/2006/main" prst="bentConnector3">
            <a:avLst>
              <a:gd name="adj1" fmla="val 50000"/>
            </a:avLst>
          </a:prstGeom>
          <a:ln xmlns:a="http://schemas.openxmlformats.org/drawingml/2006/main" w="28575">
            <a:solidFill>
              <a:srgbClr val="FFD21E"/>
            </a:solidFill>
            <a:tailEnd type="triangle"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5562600" y="3571875"/>
            <a:ext cx="571500" cy="0"/>
          </a:xfrm>
          <a:prstGeom xmlns:a="http://schemas.openxmlformats.org/drawingml/2006/main" prst="straightConnector1">
            <a:avLst/>
          </a:prstGeom>
          <a:ln xmlns:a="http://schemas.openxmlformats.org/drawingml/2006/main" w="28575">
            <a:solidFill>
              <a:srgbClr val="B9BECA"/>
            </a:solidFill>
            <a:tailEnd type="triangle"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8439150" y="3571875"/>
            <a:ext cx="571500" cy="0"/>
          </a:xfrm>
          <a:prstGeom xmlns:a="http://schemas.openxmlformats.org/drawingml/2006/main" prst="straightConnector1">
            <a:avLst/>
          </a:prstGeom>
          <a:ln xmlns:a="http://schemas.openxmlformats.org/drawingml/2006/main" w="28575">
            <a:solidFill>
              <a:srgbClr val="FFD21E"/>
            </a:solidFill>
            <a:tailEnd type="triangle" w="med" len="med"/>
          </a:ln>
        </p:spPr>
      </p:cxnSp>
      <p:sp>
        <p:nvSpPr>
          <p:cNvPr id="11" name="">
            <a:extLst xmlns:a="http://schemas.openxmlformats.org/drawingml/2006/main">
              <a:ext uri="{FF2B5EF4-FFF2-40B4-BE49-F238E27FC236}">
                <a16:creationId xmlns:a16="http://schemas.microsoft.com/office/drawing/2014/main" id="{C804B152-F109-48C6-B8B3-7D18BBED0495}"/>
              </a:ext>
            </a:extLst>
          </p:cNvPr>
          <p:cNvSpPr>
            <a:spLocks xmlns:a="http://schemas.openxmlformats.org/drawingml/2006/main" noGrp="1"/>
          </p:cNvSpPr>
          <p:nvPr/>
        </p:nvSpPr>
        <p:spPr>
          <a:xfrm xmlns:a="http://schemas.openxmlformats.org/drawingml/2006/main">
            <a:off x="3429000" y="4400550"/>
            <a:ext cx="2533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merge_and_unload()</a:t>
            </a:r>
          </a:p>
        </p:txBody>
      </p:sp>
      <p:sp>
        <p:nvSpPr>
          <p:cNvPr id="12" name="">
            <a:extLst xmlns:a="http://schemas.openxmlformats.org/drawingml/2006/main">
              <a:ext uri="{FF2B5EF4-FFF2-40B4-BE49-F238E27FC236}">
                <a16:creationId xmlns:a16="http://schemas.microsoft.com/office/drawing/2014/main" id="{9C4A6266-D85E-4AC3-A4DE-EF8D57DC2288}"/>
              </a:ext>
            </a:extLst>
          </p:cNvPr>
          <p:cNvSpPr>
            <a:spLocks xmlns:a="http://schemas.openxmlformats.org/drawingml/2006/main" noGrp="1"/>
          </p:cNvSpPr>
          <p:nvPr/>
        </p:nvSpPr>
        <p:spPr>
          <a:xfrm xmlns:a="http://schemas.openxmlformats.org/drawingml/2006/main">
            <a:off x="6248400" y="4400550"/>
            <a:ext cx="2114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9BECA"/>
                </a:solidFill>
                <a:latin typeface="Arial"/>
                <a:ea typeface="Arial"/>
                <a:cs typeface="Arial"/>
              </a:defRPr>
            </a:pPr>
            <a:r>
              <a:rPr sz="1725" b="0">
                <a:solidFill>
                  <a:srgbClr val="B9BECA"/>
                </a:solidFill>
                <a:latin typeface="Arial"/>
                <a:ea typeface="Arial"/>
                <a:cs typeface="Arial"/>
              </a:rPr>
              <a:t>export=True</a:t>
            </a:r>
          </a:p>
        </p:txBody>
      </p:sp>
      <p:sp>
        <p:nvSpPr>
          <p:cNvPr id="13" name="">
            <a:extLst xmlns:a="http://schemas.openxmlformats.org/drawingml/2006/main">
              <a:ext uri="{FF2B5EF4-FFF2-40B4-BE49-F238E27FC236}">
                <a16:creationId xmlns:a16="http://schemas.microsoft.com/office/drawing/2014/main" id="{7AB6E627-51F2-4300-B301-E9DD11309394}"/>
              </a:ext>
            </a:extLst>
          </p:cNvPr>
          <p:cNvSpPr>
            <a:spLocks xmlns:a="http://schemas.openxmlformats.org/drawingml/2006/main" noGrp="1"/>
          </p:cNvSpPr>
          <p:nvPr/>
        </p:nvSpPr>
        <p:spPr>
          <a:xfrm xmlns:a="http://schemas.openxmlformats.org/drawingml/2006/main">
            <a:off x="9010650" y="4352925"/>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B9BECA"/>
                </a:solidFill>
                <a:latin typeface="Arial"/>
                <a:ea typeface="Arial"/>
                <a:cs typeface="Arial"/>
              </a:defRPr>
            </a:pPr>
            <a:r>
              <a:rPr sz="1875" b="0">
                <a:solidFill>
                  <a:srgbClr val="B9BECA"/>
                </a:solidFill>
                <a:latin typeface="Arial"/>
                <a:ea typeface="Arial"/>
                <a:cs typeface="Arial"/>
              </a:rPr>
              <a:t>Dynamic INT8</a:t>
            </a:r>
          </a:p>
          <a:p xmlns:a="http://schemas.openxmlformats.org/drawingml/2006/main">
            <a:pPr>
              <a:defRPr sz="1875" b="0">
                <a:solidFill>
                  <a:srgbClr val="B9BECA"/>
                </a:solidFill>
                <a:latin typeface="Arial"/>
                <a:ea typeface="Arial"/>
                <a:cs typeface="Arial"/>
              </a:defRPr>
            </a:pPr>
            <a:r>
              <a:rPr sz="1875" b="0">
                <a:solidFill>
                  <a:srgbClr val="B9BECA"/>
                </a:solidFill>
                <a:latin typeface="Arial"/>
                <a:ea typeface="Arial"/>
                <a:cs typeface="Arial"/>
              </a:rPr>
              <a:t>AVX2 CPU target</a:t>
            </a:r>
          </a:p>
        </p:txBody>
      </p:sp>
      <p:sp>
        <p:nvSpPr>
          <p:cNvPr id="14" name="">
            <a:extLst xmlns:a="http://schemas.openxmlformats.org/drawingml/2006/main">
              <a:ext uri="{FF2B5EF4-FFF2-40B4-BE49-F238E27FC236}">
                <a16:creationId xmlns:a16="http://schemas.microsoft.com/office/drawing/2014/main" id="{F3FCF5B3-FE94-4EB6-8FD7-6059F9ACC103}"/>
              </a:ext>
            </a:extLst>
          </p:cNvPr>
          <p:cNvSpPr>
            <a:spLocks xmlns:a="http://schemas.openxmlformats.org/drawingml/2006/main" noGrp="1"/>
          </p:cNvSpPr>
          <p:nvPr/>
        </p:nvSpPr>
        <p:spPr>
          <a:xfrm xmlns:a="http://schemas.openxmlformats.org/drawingml/2006/main">
            <a:off x="3448050" y="5286375"/>
            <a:ext cx="8077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9ED"/>
                </a:solidFill>
                <a:latin typeface="Arial"/>
                <a:ea typeface="Arial"/>
                <a:cs typeface="Arial"/>
              </a:defRPr>
            </a:pPr>
            <a:r>
              <a:rPr sz="1950" b="0">
                <a:solidFill>
                  <a:srgbClr val="FFF9ED"/>
                </a:solidFill>
                <a:latin typeface="Arial"/>
                <a:ea typeface="Arial"/>
                <a:cs typeface="Arial"/>
              </a:rPr>
              <a:t>Tokenizer, labels and configuration travel with every runtime package</a:t>
            </a:r>
          </a:p>
        </p:txBody>
      </p:sp>
      <p:sp>
        <p:nvSpPr>
          <p:cNvPr id="15" name="">
            <a:extLst xmlns:a="http://schemas.openxmlformats.org/drawingml/2006/main">
              <a:ext uri="{FF2B5EF4-FFF2-40B4-BE49-F238E27FC236}">
                <a16:creationId xmlns:a16="http://schemas.microsoft.com/office/drawing/2014/main" id="{07718E56-F6E3-4E02-A6B9-A7688FDADC0A}"/>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Install: optimum-onnx[onnxruntime]     Import: optimum.onnxruntime</a:t>
            </a:r>
          </a:p>
        </p:txBody>
      </p:sp>
      <p:sp>
        <p:nvSpPr>
          <p:cNvPr id="16" name="">
            <a:extLst xmlns:a="http://schemas.openxmlformats.org/drawingml/2006/main">
              <a:ext uri="{FF2B5EF4-FFF2-40B4-BE49-F238E27FC236}">
                <a16:creationId xmlns:a16="http://schemas.microsoft.com/office/drawing/2014/main" id="{1321DF7B-6984-455B-8B6C-2673C10E2A70}"/>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12</a:t>
            </a:r>
          </a:p>
        </p:txBody>
      </p:sp>
    </p:spTree>
    <p:extLst>
      <p:ext uri="{BB962C8B-B14F-4D97-AF65-F5344CB8AC3E}">
        <p14:creationId xmlns:p14="http://schemas.microsoft.com/office/powerpoint/2010/main" val="850931865"/>
      </p:ext>
    </p:extLst>
  </p:cSld>
</p:sld>
</file>

<file path=ppt/slides/slide13.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6A7B01-C7A7-4748-9D34-145403505813}"/>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INT8 cuts weight size and CPU latency</a:t>
            </a:r>
          </a:p>
        </p:txBody>
      </p:sp>
      <p:sp>
        <p:nvSpPr>
          <p:cNvPr id="2" name="">
            <a:extLst xmlns:a="http://schemas.openxmlformats.org/drawingml/2006/main">
              <a:ext uri="{FF2B5EF4-FFF2-40B4-BE49-F238E27FC236}">
                <a16:creationId xmlns:a16="http://schemas.microsoft.com/office/drawing/2014/main" id="{3866EA6D-1341-44C0-869B-9EB747217434}"/>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FFD21E"/>
                </a:solidFill>
                <a:latin typeface="Arial"/>
                <a:ea typeface="Arial"/>
                <a:cs typeface="Arial"/>
              </a:defRPr>
            </a:pPr>
            <a:r>
              <a:rPr sz="1875" b="0">
                <a:solidFill>
                  <a:srgbClr val="FFD21E"/>
                </a:solidFill>
                <a:latin typeface="Arial"/>
                <a:ea typeface="Arial"/>
                <a:cs typeface="Arial"/>
              </a:rPr>
              <a:t>Recorded laptop run: 74.8% fewer weight bytes and 43.9% lower p95 with INT8</a:t>
            </a:r>
          </a:p>
        </p:txBody>
      </p:sp>
      <p:graphicFrame>
        <p:nvGraphicFramePr>
          <p:cNvPr id="11" name="Chart"/>
          <p:cNvGraphicFramePr/>
          <p:nvPr/>
        </p:nvGraphicFramePr>
        <p:xfrm>
          <a:off xmlns:a="http://schemas.openxmlformats.org/drawingml/2006/main" x="609600" y="2085975"/>
          <a:ext xmlns:a="http://schemas.openxmlformats.org/drawingml/2006/main" cx="3381375" cy="3114675"/>
        </p:xfrm>
        <a:graphic xmlns:a="http://schemas.openxmlformats.org/drawingml/2006/main">
          <a:graphicData uri="http://schemas.openxmlformats.org/drawingml/2006/chart">
            <c:chart xmlns:r="http://schemas.openxmlformats.org/officeDocument/2006/relationships" xmlns:c="http://schemas.openxmlformats.org/drawingml/2006/chart" r:id="Rcfde943aa7d3442b"/>
          </a:graphicData>
        </a:graphic>
      </p:graphicFrame>
      <p:graphicFrame>
        <p:nvGraphicFramePr>
          <p:cNvPr id="12" name="Chart"/>
          <p:cNvGraphicFramePr/>
          <p:nvPr/>
        </p:nvGraphicFramePr>
        <p:xfrm>
          <a:off xmlns:a="http://schemas.openxmlformats.org/drawingml/2006/main" x="4371975" y="2085975"/>
          <a:ext xmlns:a="http://schemas.openxmlformats.org/drawingml/2006/main" cx="3381375" cy="3114675"/>
        </p:xfrm>
        <a:graphic xmlns:a="http://schemas.openxmlformats.org/drawingml/2006/main">
          <a:graphicData uri="http://schemas.openxmlformats.org/drawingml/2006/chart">
            <c:chart xmlns:r="http://schemas.openxmlformats.org/officeDocument/2006/relationships" xmlns:c="http://schemas.openxmlformats.org/drawingml/2006/chart" r:id="Rca809445d89d4989"/>
          </a:graphicData>
        </a:graphic>
      </p:graphicFrame>
      <p:graphicFrame>
        <p:nvGraphicFramePr>
          <p:cNvPr id="13" name="Chart"/>
          <p:cNvGraphicFramePr/>
          <p:nvPr/>
        </p:nvGraphicFramePr>
        <p:xfrm>
          <a:off xmlns:a="http://schemas.openxmlformats.org/drawingml/2006/main" x="8134350" y="2085975"/>
          <a:ext xmlns:a="http://schemas.openxmlformats.org/drawingml/2006/main" cx="3381375" cy="3114675"/>
        </p:xfrm>
        <a:graphic xmlns:a="http://schemas.openxmlformats.org/drawingml/2006/main">
          <a:graphicData uri="http://schemas.openxmlformats.org/drawingml/2006/chart">
            <c:chart xmlns:r="http://schemas.openxmlformats.org/officeDocument/2006/relationships" xmlns:c="http://schemas.openxmlformats.org/drawingml/2006/chart" r:id="R8cec0c88df9b416b"/>
          </a:graphicData>
        </a:graphic>
      </p:graphicFrame>
      <p:sp>
        <p:nvSpPr>
          <p:cNvPr id="6" name="">
            <a:extLst xmlns:a="http://schemas.openxmlformats.org/drawingml/2006/main">
              <a:ext uri="{FF2B5EF4-FFF2-40B4-BE49-F238E27FC236}">
                <a16:creationId xmlns:a16="http://schemas.microsoft.com/office/drawing/2014/main" id="{DD6127FD-8CC6-4E99-806F-8ED8C669659A}"/>
              </a:ext>
            </a:extLst>
          </p:cNvPr>
          <p:cNvSpPr>
            <a:spLocks xmlns:a="http://schemas.openxmlformats.org/drawingml/2006/main" noGrp="1"/>
          </p:cNvSpPr>
          <p:nvPr/>
        </p:nvSpPr>
        <p:spPr>
          <a:xfrm xmlns:a="http://schemas.openxmlformats.org/drawingml/2006/main">
            <a:off x="609600" y="53816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B9BECA"/>
                </a:solidFill>
                <a:latin typeface="Arial"/>
                <a:ea typeface="Arial"/>
                <a:cs typeface="Arial"/>
              </a:defRPr>
            </a:pPr>
            <a:r>
              <a:rPr sz="1575" b="0">
                <a:solidFill>
                  <a:srgbClr val="B9BECA"/>
                </a:solidFill>
                <a:latin typeface="Arial"/>
                <a:ea typeface="Arial"/>
                <a:cs typeface="Arial"/>
              </a:rPr>
              <a:t>Intel Core i9-14900HX, 4 CPU threads, batch 1, padded length 128</a:t>
            </a:r>
          </a:p>
          <a:p xmlns:a="http://schemas.openxmlformats.org/drawingml/2006/main">
            <a:pPr>
              <a:defRPr sz="1575" b="0">
                <a:solidFill>
                  <a:srgbClr val="B9BECA"/>
                </a:solidFill>
                <a:latin typeface="Arial"/>
                <a:ea typeface="Arial"/>
                <a:cs typeface="Arial"/>
              </a:defRPr>
            </a:pPr>
            <a:r>
              <a:rPr sz="1575" b="0">
                <a:solidFill>
                  <a:srgbClr val="B9BECA"/>
                </a:solidFill>
                <a:latin typeface="Arial"/>
                <a:ea typeface="Arial"/>
                <a:cs typeface="Arial"/>
              </a:rPr>
              <a:t>100 sequential requests after 10 warm-ups. Tokenization + forward only.</a:t>
            </a:r>
          </a:p>
        </p:txBody>
      </p:sp>
      <p:sp>
        <p:nvSpPr>
          <p:cNvPr id="7" name="">
            <a:extLst xmlns:a="http://schemas.openxmlformats.org/drawingml/2006/main">
              <a:ext uri="{FF2B5EF4-FFF2-40B4-BE49-F238E27FC236}">
                <a16:creationId xmlns:a16="http://schemas.microsoft.com/office/drawing/2014/main" id="{7A1EBDD5-0B5A-4072-8EA5-CA20B054A2F7}"/>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Same 800 test examples. Small F1 differences do not establish improvement.</a:t>
            </a:r>
          </a:p>
        </p:txBody>
      </p:sp>
      <p:sp>
        <p:nvSpPr>
          <p:cNvPr id="8" name="">
            <a:extLst xmlns:a="http://schemas.openxmlformats.org/drawingml/2006/main">
              <a:ext uri="{FF2B5EF4-FFF2-40B4-BE49-F238E27FC236}">
                <a16:creationId xmlns:a16="http://schemas.microsoft.com/office/drawing/2014/main" id="{151CA11C-90B4-49E7-951B-AF3EC2837524}"/>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13</a:t>
            </a:r>
          </a:p>
        </p:txBody>
      </p:sp>
    </p:spTree>
    <p:extLst>
      <p:ext uri="{BB962C8B-B14F-4D97-AF65-F5344CB8AC3E}">
        <p14:creationId xmlns:p14="http://schemas.microsoft.com/office/powerpoint/2010/main" val="1228761534"/>
      </p:ext>
    </p:extLst>
  </p:cSld>
</p:sld>
</file>

<file path=ppt/slides/slide14.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64C4B2C-E377-4AD0-AB35-7674FD9B81AB}"/>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The deployment target chooses the runtime</a:t>
            </a:r>
          </a:p>
        </p:txBody>
      </p:sp>
      <p:sp>
        <p:nvSpPr>
          <p:cNvPr id="2" name="target">
            <a:extLst xmlns:a="http://schemas.openxmlformats.org/drawingml/2006/main">
              <a:ext uri="{FF2B5EF4-FFF2-40B4-BE49-F238E27FC236}">
                <a16:creationId xmlns:a16="http://schemas.microsoft.com/office/drawing/2014/main" id="{21EEF31D-E94C-4D83-8C89-339400BD9DA7}"/>
              </a:ext>
            </a:extLst>
          </p:cNvPr>
          <p:cNvSpPr>
            <a:spLocks xmlns:a="http://schemas.openxmlformats.org/drawingml/2006/main" noGrp="1"/>
          </p:cNvSpPr>
          <p:nvPr/>
        </p:nvSpPr>
        <p:spPr>
          <a:xfrm xmlns:a="http://schemas.openxmlformats.org/drawingml/2006/main">
            <a:off x="609600" y="3000375"/>
            <a:ext cx="2362200" cy="125730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400" b="1">
                <a:solidFill>
                  <a:srgbClr val="FFF9ED"/>
                </a:solidFill>
                <a:latin typeface="Arial"/>
                <a:ea typeface="Arial"/>
                <a:cs typeface="Arial"/>
              </a:defRPr>
            </a:pPr>
            <a:r>
              <a:rPr sz="2400" b="1">
                <a:solidFill>
                  <a:srgbClr val="FFF9ED"/>
                </a:solidFill>
                <a:latin typeface="Arial"/>
                <a:ea typeface="Arial"/>
                <a:cs typeface="Arial"/>
              </a:rPr>
              <a:t>Deployment</a:t>
            </a:r>
          </a:p>
          <a:p xmlns:a="http://schemas.openxmlformats.org/drawingml/2006/main">
            <a:pPr algn="ctr">
              <a:defRPr sz="2400" b="1">
                <a:solidFill>
                  <a:srgbClr val="FFF9ED"/>
                </a:solidFill>
                <a:latin typeface="Arial"/>
                <a:ea typeface="Arial"/>
                <a:cs typeface="Arial"/>
              </a:defRPr>
            </a:pPr>
            <a:r>
              <a:rPr sz="2400" b="1">
                <a:solidFill>
                  <a:srgbClr val="FFF9ED"/>
                </a:solidFill>
                <a:latin typeface="Arial"/>
                <a:ea typeface="Arial"/>
                <a:cs typeface="Arial"/>
              </a:rPr>
              <a:t>target</a:t>
            </a:r>
          </a:p>
        </p:txBody>
      </p:sp>
      <p:sp>
        <p:nvSpPr>
          <p:cNvPr id="3" name="cpu">
            <a:extLst xmlns:a="http://schemas.openxmlformats.org/drawingml/2006/main">
              <a:ext uri="{FF2B5EF4-FFF2-40B4-BE49-F238E27FC236}">
                <a16:creationId xmlns:a16="http://schemas.microsoft.com/office/drawing/2014/main" id="{179EE59B-6643-4177-ACCA-384D2E3CC459}"/>
              </a:ext>
            </a:extLst>
          </p:cNvPr>
          <p:cNvSpPr>
            <a:spLocks xmlns:a="http://schemas.openxmlformats.org/drawingml/2006/main" noGrp="1"/>
          </p:cNvSpPr>
          <p:nvPr/>
        </p:nvSpPr>
        <p:spPr>
          <a:xfrm xmlns:a="http://schemas.openxmlformats.org/drawingml/2006/main">
            <a:off x="4095750" y="1771650"/>
            <a:ext cx="2952750" cy="723900"/>
          </a:xfrm>
          <a:prstGeom xmlns:a="http://schemas.openxmlformats.org/drawingml/2006/main" prst="rect">
            <a:avLst/>
          </a:prstGeom>
          <a:solidFill xmlns:a="http://schemas.openxmlformats.org/drawingml/2006/main">
            <a:srgbClr val="20242E"/>
          </a:solidFill>
          <a:ln xmlns:a="http://schemas.openxmlformats.org/drawingml/2006/main" w="19050">
            <a:solidFill>
              <a:srgbClr val="FFD21E"/>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1">
                <a:solidFill>
                  <a:srgbClr val="FFF9ED"/>
                </a:solidFill>
                <a:latin typeface="Arial"/>
                <a:ea typeface="Arial"/>
                <a:cs typeface="Arial"/>
              </a:defRPr>
            </a:pPr>
            <a:r>
              <a:rPr sz="2100" b="1">
                <a:solidFill>
                  <a:srgbClr val="FFF9ED"/>
                </a:solidFill>
                <a:latin typeface="Arial"/>
                <a:ea typeface="Arial"/>
                <a:cs typeface="Arial"/>
              </a:rPr>
              <a:t>CPU</a:t>
            </a:r>
          </a:p>
        </p:txBody>
      </p:sp>
      <p:sp>
        <p:nvSpPr>
          <p:cNvPr id="4" name="browser">
            <a:extLst xmlns:a="http://schemas.openxmlformats.org/drawingml/2006/main">
              <a:ext uri="{FF2B5EF4-FFF2-40B4-BE49-F238E27FC236}">
                <a16:creationId xmlns:a16="http://schemas.microsoft.com/office/drawing/2014/main" id="{156546E4-8E39-43D9-93AD-A206C6EDFDCB}"/>
              </a:ext>
            </a:extLst>
          </p:cNvPr>
          <p:cNvSpPr>
            <a:spLocks xmlns:a="http://schemas.openxmlformats.org/drawingml/2006/main" noGrp="1"/>
          </p:cNvSpPr>
          <p:nvPr/>
        </p:nvSpPr>
        <p:spPr>
          <a:xfrm xmlns:a="http://schemas.openxmlformats.org/drawingml/2006/main">
            <a:off x="4095750" y="2857500"/>
            <a:ext cx="2952750" cy="72390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1">
                <a:solidFill>
                  <a:srgbClr val="FFF9ED"/>
                </a:solidFill>
                <a:latin typeface="Arial"/>
                <a:ea typeface="Arial"/>
                <a:cs typeface="Arial"/>
              </a:defRPr>
            </a:pPr>
            <a:r>
              <a:rPr sz="2100" b="1">
                <a:solidFill>
                  <a:srgbClr val="FFF9ED"/>
                </a:solidFill>
                <a:latin typeface="Arial"/>
                <a:ea typeface="Arial"/>
                <a:cs typeface="Arial"/>
              </a:rPr>
              <a:t>Browser</a:t>
            </a:r>
          </a:p>
        </p:txBody>
      </p:sp>
      <p:sp>
        <p:nvSpPr>
          <p:cNvPr id="5" name="gpu">
            <a:extLst xmlns:a="http://schemas.openxmlformats.org/drawingml/2006/main">
              <a:ext uri="{FF2B5EF4-FFF2-40B4-BE49-F238E27FC236}">
                <a16:creationId xmlns:a16="http://schemas.microsoft.com/office/drawing/2014/main" id="{5ADD8B76-3769-4E89-A73E-62349CD1CE4D}"/>
              </a:ext>
            </a:extLst>
          </p:cNvPr>
          <p:cNvSpPr>
            <a:spLocks xmlns:a="http://schemas.openxmlformats.org/drawingml/2006/main" noGrp="1"/>
          </p:cNvSpPr>
          <p:nvPr/>
        </p:nvSpPr>
        <p:spPr>
          <a:xfrm xmlns:a="http://schemas.openxmlformats.org/drawingml/2006/main">
            <a:off x="4095750" y="3943350"/>
            <a:ext cx="2952750" cy="72390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1">
                <a:solidFill>
                  <a:srgbClr val="FFF9ED"/>
                </a:solidFill>
                <a:latin typeface="Arial"/>
                <a:ea typeface="Arial"/>
                <a:cs typeface="Arial"/>
              </a:defRPr>
            </a:pPr>
            <a:r>
              <a:rPr sz="2100" b="1">
                <a:solidFill>
                  <a:srgbClr val="FFF9ED"/>
                </a:solidFill>
                <a:latin typeface="Arial"/>
                <a:ea typeface="Arial"/>
                <a:cs typeface="Arial"/>
              </a:rPr>
              <a:t>Large LLM on GPUs</a:t>
            </a:r>
          </a:p>
        </p:txBody>
      </p:sp>
      <p:sp>
        <p:nvSpPr>
          <p:cNvPr id="6" name="managed">
            <a:extLst xmlns:a="http://schemas.openxmlformats.org/drawingml/2006/main">
              <a:ext uri="{FF2B5EF4-FFF2-40B4-BE49-F238E27FC236}">
                <a16:creationId xmlns:a16="http://schemas.microsoft.com/office/drawing/2014/main" id="{1E3C496D-B192-4682-B19C-4686168E4D13}"/>
              </a:ext>
            </a:extLst>
          </p:cNvPr>
          <p:cNvSpPr>
            <a:spLocks xmlns:a="http://schemas.openxmlformats.org/drawingml/2006/main" noGrp="1"/>
          </p:cNvSpPr>
          <p:nvPr/>
        </p:nvSpPr>
        <p:spPr>
          <a:xfrm xmlns:a="http://schemas.openxmlformats.org/drawingml/2006/main">
            <a:off x="4095750" y="5029200"/>
            <a:ext cx="2952750" cy="723900"/>
          </a:xfrm>
          <a:prstGeom xmlns:a="http://schemas.openxmlformats.org/drawingml/2006/main" prst="rect">
            <a:avLst/>
          </a:prstGeom>
          <a:solidFill xmlns:a="http://schemas.openxmlformats.org/drawingml/2006/main">
            <a:srgbClr val="20242E"/>
          </a:solidFill>
          <a:ln xmlns:a="http://schemas.openxmlformats.org/drawingml/2006/main" w="19050">
            <a:solidFill>
              <a:srgbClr val="B9BECA"/>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00" b="1">
                <a:solidFill>
                  <a:srgbClr val="FFF9ED"/>
                </a:solidFill>
                <a:latin typeface="Arial"/>
                <a:ea typeface="Arial"/>
                <a:cs typeface="Arial"/>
              </a:defRPr>
            </a:pPr>
            <a:r>
              <a:rPr sz="2100" b="1">
                <a:solidFill>
                  <a:srgbClr val="FFF9ED"/>
                </a:solidFill>
                <a:latin typeface="Arial"/>
                <a:ea typeface="Arial"/>
                <a:cs typeface="Arial"/>
              </a:rPr>
              <a:t>Managed service</a:t>
            </a:r>
          </a:p>
        </p:txBody>
      </p:sp>
      <p:cxnSp>
        <p:nvCxnSpPr>
          <p:cNvPr id="27" name=""/>
          <p:cNvCxnSpPr>
            <a:stCxn xmlns:a="http://schemas.openxmlformats.org/drawingml/2006/main" id="2" idx="3"/>
            <a:endCxn xmlns:a="http://schemas.openxmlformats.org/drawingml/2006/main" id="3" idx="1"/>
          </p:cNvCxnSpPr>
          <p:nvPr/>
        </p:nvCxnSpPr>
        <p:spPr>
          <a:xfrm xmlns:a="http://schemas.openxmlformats.org/drawingml/2006/main" flipV="1">
            <a:off x="2971800" y="2133600"/>
            <a:ext cx="1123950" cy="1495425"/>
          </a:xfrm>
          <a:prstGeom xmlns:a="http://schemas.openxmlformats.org/drawingml/2006/main" prst="bentConnector3">
            <a:avLst>
              <a:gd name="adj1" fmla="val 50000"/>
            </a:avLst>
          </a:prstGeom>
          <a:ln xmlns:a="http://schemas.openxmlformats.org/drawingml/2006/main" w="28575">
            <a:solidFill>
              <a:srgbClr val="FFD21E"/>
            </a:solidFill>
            <a:tailEnd type="triangle" w="med" len="med"/>
          </a:ln>
        </p:spPr>
      </p:cxnSp>
      <p:cxnSp>
        <p:nvCxnSpPr>
          <p:cNvPr id="28" name=""/>
          <p:cNvCxnSpPr>
            <a:stCxn xmlns:a="http://schemas.openxmlformats.org/drawingml/2006/main" id="2" idx="3"/>
            <a:endCxn xmlns:a="http://schemas.openxmlformats.org/drawingml/2006/main" id="4" idx="1"/>
          </p:cNvCxnSpPr>
          <p:nvPr/>
        </p:nvCxnSpPr>
        <p:spPr>
          <a:xfrm xmlns:a="http://schemas.openxmlformats.org/drawingml/2006/main" flipV="1">
            <a:off x="2971800" y="3219450"/>
            <a:ext cx="1123950" cy="409575"/>
          </a:xfrm>
          <a:prstGeom xmlns:a="http://schemas.openxmlformats.org/drawingml/2006/main" prst="bentConnector3">
            <a:avLst>
              <a:gd name="adj1" fmla="val 50000"/>
            </a:avLst>
          </a:prstGeom>
          <a:ln xmlns:a="http://schemas.openxmlformats.org/drawingml/2006/main" w="28575">
            <a:solidFill>
              <a:srgbClr val="B9BECA"/>
            </a:solidFill>
            <a:tailEnd type="triangle" w="med" len="med"/>
          </a:ln>
        </p:spPr>
      </p:cxnSp>
      <p:cxnSp>
        <p:nvCxnSpPr>
          <p:cNvPr id="29" name=""/>
          <p:cNvCxnSpPr>
            <a:stCxn xmlns:a="http://schemas.openxmlformats.org/drawingml/2006/main" id="2" idx="3"/>
            <a:endCxn xmlns:a="http://schemas.openxmlformats.org/drawingml/2006/main" id="5" idx="1"/>
          </p:cNvCxnSpPr>
          <p:nvPr/>
        </p:nvCxnSpPr>
        <p:spPr>
          <a:xfrm xmlns:a="http://schemas.openxmlformats.org/drawingml/2006/main">
            <a:off x="2971800" y="3629025"/>
            <a:ext cx="1123950" cy="676275"/>
          </a:xfrm>
          <a:prstGeom xmlns:a="http://schemas.openxmlformats.org/drawingml/2006/main" prst="bentConnector3">
            <a:avLst>
              <a:gd name="adj1" fmla="val 50000"/>
            </a:avLst>
          </a:prstGeom>
          <a:ln xmlns:a="http://schemas.openxmlformats.org/drawingml/2006/main" w="28575">
            <a:solidFill>
              <a:srgbClr val="B9BECA"/>
            </a:solidFill>
            <a:tailEnd type="triangle" w="med" len="med"/>
          </a:ln>
        </p:spPr>
      </p:cxnSp>
      <p:cxnSp>
        <p:nvCxnSpPr>
          <p:cNvPr id="30" name=""/>
          <p:cNvCxnSpPr>
            <a:stCxn xmlns:a="http://schemas.openxmlformats.org/drawingml/2006/main" id="2" idx="3"/>
            <a:endCxn xmlns:a="http://schemas.openxmlformats.org/drawingml/2006/main" id="6" idx="1"/>
          </p:cNvCxnSpPr>
          <p:nvPr/>
        </p:nvCxnSpPr>
        <p:spPr>
          <a:xfrm xmlns:a="http://schemas.openxmlformats.org/drawingml/2006/main">
            <a:off x="2971800" y="3629025"/>
            <a:ext cx="1123950" cy="1762125"/>
          </a:xfrm>
          <a:prstGeom xmlns:a="http://schemas.openxmlformats.org/drawingml/2006/main" prst="bentConnector3">
            <a:avLst>
              <a:gd name="adj1" fmla="val 50000"/>
            </a:avLst>
          </a:prstGeom>
          <a:ln xmlns:a="http://schemas.openxmlformats.org/drawingml/2006/main" w="28575">
            <a:solidFill>
              <a:srgbClr val="B9BECA"/>
            </a:solidFill>
            <a:tailEnd type="triangle" w="med" len="med"/>
          </a:ln>
        </p:spPr>
      </p:cxnSp>
      <p:sp>
        <p:nvSpPr>
          <p:cNvPr id="11" name="">
            <a:extLst xmlns:a="http://schemas.openxmlformats.org/drawingml/2006/main">
              <a:ext uri="{FF2B5EF4-FFF2-40B4-BE49-F238E27FC236}">
                <a16:creationId xmlns:a16="http://schemas.microsoft.com/office/drawing/2014/main" id="{00B61EFA-D266-4062-9AA1-AADB72170D71}"/>
              </a:ext>
            </a:extLst>
          </p:cNvPr>
          <p:cNvSpPr>
            <a:spLocks xmlns:a="http://schemas.openxmlformats.org/drawingml/2006/main" noGrp="1"/>
          </p:cNvSpPr>
          <p:nvPr/>
        </p:nvSpPr>
        <p:spPr>
          <a:xfrm xmlns:a="http://schemas.openxmlformats.org/drawingml/2006/main">
            <a:off x="7600950" y="17430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FFD21E"/>
                </a:solidFill>
                <a:latin typeface="Arial"/>
                <a:ea typeface="Arial"/>
                <a:cs typeface="Arial"/>
              </a:defRPr>
            </a:pPr>
            <a:r>
              <a:rPr sz="2175" b="1">
                <a:solidFill>
                  <a:srgbClr val="FFD21E"/>
                </a:solidFill>
                <a:latin typeface="Arial"/>
                <a:ea typeface="Arial"/>
                <a:cs typeface="Arial"/>
              </a:rPr>
              <a:t>Optimum ONNX</a:t>
            </a:r>
          </a:p>
        </p:txBody>
      </p:sp>
      <p:sp>
        <p:nvSpPr>
          <p:cNvPr id="12" name="">
            <a:extLst xmlns:a="http://schemas.openxmlformats.org/drawingml/2006/main">
              <a:ext uri="{FF2B5EF4-FFF2-40B4-BE49-F238E27FC236}">
                <a16:creationId xmlns:a16="http://schemas.microsoft.com/office/drawing/2014/main" id="{59ECDF63-ABDE-4D37-BAE7-50F0A5B30645}"/>
              </a:ext>
            </a:extLst>
          </p:cNvPr>
          <p:cNvSpPr>
            <a:spLocks xmlns:a="http://schemas.openxmlformats.org/drawingml/2006/main" noGrp="1"/>
          </p:cNvSpPr>
          <p:nvPr/>
        </p:nvSpPr>
        <p:spPr>
          <a:xfrm xmlns:a="http://schemas.openxmlformats.org/drawingml/2006/main">
            <a:off x="7600950" y="216217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CPU features, memory, input size</a:t>
            </a:r>
          </a:p>
        </p:txBody>
      </p:sp>
      <p:sp>
        <p:nvSpPr>
          <p:cNvPr id="13" name="">
            <a:extLst xmlns:a="http://schemas.openxmlformats.org/drawingml/2006/main">
              <a:ext uri="{FF2B5EF4-FFF2-40B4-BE49-F238E27FC236}">
                <a16:creationId xmlns:a16="http://schemas.microsoft.com/office/drawing/2014/main" id="{00EF348E-3173-49C9-A7BB-59FC684D778D}"/>
              </a:ext>
            </a:extLst>
          </p:cNvPr>
          <p:cNvSpPr>
            <a:spLocks xmlns:a="http://schemas.openxmlformats.org/drawingml/2006/main" noGrp="1"/>
          </p:cNvSpPr>
          <p:nvPr/>
        </p:nvSpPr>
        <p:spPr>
          <a:xfrm xmlns:a="http://schemas.openxmlformats.org/drawingml/2006/main">
            <a:off x="7600950" y="28289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FFF9ED"/>
                </a:solidFill>
                <a:latin typeface="Arial"/>
                <a:ea typeface="Arial"/>
                <a:cs typeface="Arial"/>
              </a:defRPr>
            </a:pPr>
            <a:r>
              <a:rPr sz="2175" b="1">
                <a:solidFill>
                  <a:srgbClr val="FFF9ED"/>
                </a:solidFill>
                <a:latin typeface="Arial"/>
                <a:ea typeface="Arial"/>
                <a:cs typeface="Arial"/>
              </a:rPr>
              <a:t>Transformers.js</a:t>
            </a:r>
          </a:p>
        </p:txBody>
      </p:sp>
      <p:sp>
        <p:nvSpPr>
          <p:cNvPr id="14" name="">
            <a:extLst xmlns:a="http://schemas.openxmlformats.org/drawingml/2006/main">
              <a:ext uri="{FF2B5EF4-FFF2-40B4-BE49-F238E27FC236}">
                <a16:creationId xmlns:a16="http://schemas.microsoft.com/office/drawing/2014/main" id="{AC2898D8-0DF0-46FC-980A-AAE06CF2BD6F}"/>
              </a:ext>
            </a:extLst>
          </p:cNvPr>
          <p:cNvSpPr>
            <a:spLocks xmlns:a="http://schemas.openxmlformats.org/drawingml/2006/main" noGrp="1"/>
          </p:cNvSpPr>
          <p:nvPr/>
        </p:nvSpPr>
        <p:spPr>
          <a:xfrm xmlns:a="http://schemas.openxmlformats.org/drawingml/2006/main">
            <a:off x="7600950" y="324802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WASM / WebGPU, supported exports</a:t>
            </a:r>
          </a:p>
        </p:txBody>
      </p:sp>
      <p:sp>
        <p:nvSpPr>
          <p:cNvPr id="15" name="">
            <a:extLst xmlns:a="http://schemas.openxmlformats.org/drawingml/2006/main">
              <a:ext uri="{FF2B5EF4-FFF2-40B4-BE49-F238E27FC236}">
                <a16:creationId xmlns:a16="http://schemas.microsoft.com/office/drawing/2014/main" id="{6858CB02-C6E2-4E3A-9400-460C0F6735E1}"/>
              </a:ext>
            </a:extLst>
          </p:cNvPr>
          <p:cNvSpPr>
            <a:spLocks xmlns:a="http://schemas.openxmlformats.org/drawingml/2006/main" noGrp="1"/>
          </p:cNvSpPr>
          <p:nvPr/>
        </p:nvSpPr>
        <p:spPr>
          <a:xfrm xmlns:a="http://schemas.openxmlformats.org/drawingml/2006/main">
            <a:off x="7600950" y="39147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FFF9ED"/>
                </a:solidFill>
                <a:latin typeface="Arial"/>
                <a:ea typeface="Arial"/>
                <a:cs typeface="Arial"/>
              </a:defRPr>
            </a:pPr>
            <a:r>
              <a:rPr sz="2175" b="1">
                <a:solidFill>
                  <a:srgbClr val="FFF9ED"/>
                </a:solidFill>
                <a:latin typeface="Arial"/>
                <a:ea typeface="Arial"/>
                <a:cs typeface="Arial"/>
              </a:rPr>
              <a:t>vLLM / SGLang</a:t>
            </a:r>
          </a:p>
        </p:txBody>
      </p:sp>
      <p:sp>
        <p:nvSpPr>
          <p:cNvPr id="16" name="">
            <a:extLst xmlns:a="http://schemas.openxmlformats.org/drawingml/2006/main">
              <a:ext uri="{FF2B5EF4-FFF2-40B4-BE49-F238E27FC236}">
                <a16:creationId xmlns:a16="http://schemas.microsoft.com/office/drawing/2014/main" id="{982886C3-3598-42E8-B624-59688A092480}"/>
              </a:ext>
            </a:extLst>
          </p:cNvPr>
          <p:cNvSpPr>
            <a:spLocks xmlns:a="http://schemas.openxmlformats.org/drawingml/2006/main" noGrp="1"/>
          </p:cNvSpPr>
          <p:nvPr/>
        </p:nvSpPr>
        <p:spPr>
          <a:xfrm xmlns:a="http://schemas.openxmlformats.org/drawingml/2006/main">
            <a:off x="7600950" y="433387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KV cache, batching, parallelism</a:t>
            </a:r>
          </a:p>
        </p:txBody>
      </p:sp>
      <p:sp>
        <p:nvSpPr>
          <p:cNvPr id="17" name="">
            <a:extLst xmlns:a="http://schemas.openxmlformats.org/drawingml/2006/main">
              <a:ext uri="{FF2B5EF4-FFF2-40B4-BE49-F238E27FC236}">
                <a16:creationId xmlns:a16="http://schemas.microsoft.com/office/drawing/2014/main" id="{47EE4751-1BB9-41BF-8D4B-E5AC45A46A1B}"/>
              </a:ext>
            </a:extLst>
          </p:cNvPr>
          <p:cNvSpPr>
            <a:spLocks xmlns:a="http://schemas.openxmlformats.org/drawingml/2006/main" noGrp="1"/>
          </p:cNvSpPr>
          <p:nvPr/>
        </p:nvSpPr>
        <p:spPr>
          <a:xfrm xmlns:a="http://schemas.openxmlformats.org/drawingml/2006/main">
            <a:off x="7600950" y="5000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FFF9ED"/>
                </a:solidFill>
                <a:latin typeface="Arial"/>
                <a:ea typeface="Arial"/>
                <a:cs typeface="Arial"/>
              </a:defRPr>
            </a:pPr>
            <a:r>
              <a:rPr sz="2175" b="1">
                <a:solidFill>
                  <a:srgbClr val="FFF9ED"/>
                </a:solidFill>
                <a:latin typeface="Arial"/>
                <a:ea typeface="Arial"/>
                <a:cs typeface="Arial"/>
              </a:rPr>
              <a:t>Inference Endpoints</a:t>
            </a:r>
          </a:p>
        </p:txBody>
      </p:sp>
      <p:sp>
        <p:nvSpPr>
          <p:cNvPr id="18" name="">
            <a:extLst xmlns:a="http://schemas.openxmlformats.org/drawingml/2006/main">
              <a:ext uri="{FF2B5EF4-FFF2-40B4-BE49-F238E27FC236}">
                <a16:creationId xmlns:a16="http://schemas.microsoft.com/office/drawing/2014/main" id="{5ABE7015-7A1C-4606-B6BE-E267D3F81232}"/>
              </a:ext>
            </a:extLst>
          </p:cNvPr>
          <p:cNvSpPr>
            <a:spLocks xmlns:a="http://schemas.openxmlformats.org/drawingml/2006/main" noGrp="1"/>
          </p:cNvSpPr>
          <p:nvPr/>
        </p:nvSpPr>
        <p:spPr>
          <a:xfrm xmlns:a="http://schemas.openxmlformats.org/drawingml/2006/main">
            <a:off x="7600950" y="541972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Autoscaling, logs, cost limits</a:t>
            </a:r>
          </a:p>
        </p:txBody>
      </p:sp>
      <p:sp>
        <p:nvSpPr>
          <p:cNvPr id="19" name="">
            <a:extLst xmlns:a="http://schemas.openxmlformats.org/drawingml/2006/main">
              <a:ext uri="{FF2B5EF4-FFF2-40B4-BE49-F238E27FC236}">
                <a16:creationId xmlns:a16="http://schemas.microsoft.com/office/drawing/2014/main" id="{05AAC695-417E-4333-A1BA-19DD708BF20A}"/>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Classifier inference runs on CPU. Browser and GPU serving are separate extensions.</a:t>
            </a:r>
          </a:p>
        </p:txBody>
      </p:sp>
      <p:sp>
        <p:nvSpPr>
          <p:cNvPr id="20" name="">
            <a:extLst xmlns:a="http://schemas.openxmlformats.org/drawingml/2006/main">
              <a:ext uri="{FF2B5EF4-FFF2-40B4-BE49-F238E27FC236}">
                <a16:creationId xmlns:a16="http://schemas.microsoft.com/office/drawing/2014/main" id="{529E4F80-64F0-443A-901B-ECCE03116673}"/>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14</a:t>
            </a:r>
          </a:p>
        </p:txBody>
      </p:sp>
    </p:spTree>
    <p:extLst>
      <p:ext uri="{BB962C8B-B14F-4D97-AF65-F5344CB8AC3E}">
        <p14:creationId xmlns:p14="http://schemas.microsoft.com/office/powerpoint/2010/main" val="989823874"/>
      </p:ext>
    </p:extLst>
  </p:cSld>
</p:sld>
</file>

<file path=ppt/slides/slide15.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9090A91-2382-4BC1-BBCE-803CA340CEB1}"/>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A deployment you can operate</a:t>
            </a:r>
          </a:p>
        </p:txBody>
      </p:sp>
      <p:sp>
        <p:nvSpPr>
          <p:cNvPr id="2" name="">
            <a:extLst xmlns:a="http://schemas.openxmlformats.org/drawingml/2006/main">
              <a:ext uri="{FF2B5EF4-FFF2-40B4-BE49-F238E27FC236}">
                <a16:creationId xmlns:a16="http://schemas.microsoft.com/office/drawing/2014/main" id="{DC1F49EC-60FA-4045-A3B2-8D3E6E04B6D9}"/>
              </a:ext>
            </a:extLst>
          </p:cNvPr>
          <p:cNvSpPr>
            <a:spLocks xmlns:a="http://schemas.openxmlformats.org/drawingml/2006/main" noGrp="1"/>
          </p:cNvSpPr>
          <p:nvPr/>
        </p:nvSpPr>
        <p:spPr>
          <a:xfrm xmlns:a="http://schemas.openxmlformats.org/drawingml/2006/main">
            <a:off x="609600" y="1762125"/>
            <a:ext cx="990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D21E"/>
                </a:solidFill>
                <a:latin typeface="Arial"/>
                <a:ea typeface="Arial"/>
                <a:cs typeface="Arial"/>
              </a:defRPr>
            </a:pPr>
            <a:r>
              <a:rPr sz="4350" b="1">
                <a:solidFill>
                  <a:srgbClr val="FFD21E"/>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A8FCFBC-666D-4C26-8EF1-CA8FFE49B03D}"/>
              </a:ext>
            </a:extLst>
          </p:cNvPr>
          <p:cNvSpPr>
            <a:spLocks xmlns:a="http://schemas.openxmlformats.org/drawingml/2006/main" noGrp="1"/>
          </p:cNvSpPr>
          <p:nvPr/>
        </p:nvSpPr>
        <p:spPr>
          <a:xfrm xmlns:a="http://schemas.openxmlformats.org/drawingml/2006/main">
            <a:off x="1876425" y="1800225"/>
            <a:ext cx="9563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9ED"/>
                </a:solidFill>
                <a:latin typeface="Arial"/>
                <a:ea typeface="Arial"/>
                <a:cs typeface="Arial"/>
              </a:defRPr>
            </a:pPr>
            <a:r>
              <a:rPr sz="2550" b="1">
                <a:solidFill>
                  <a:srgbClr val="FFF9ED"/>
                </a:solidFill>
                <a:latin typeface="Arial"/>
                <a:ea typeface="Arial"/>
                <a:cs typeface="Arial"/>
              </a:rPr>
              <a:t>Package the exact candidate</a:t>
            </a:r>
          </a:p>
        </p:txBody>
      </p:sp>
      <p:sp>
        <p:nvSpPr>
          <p:cNvPr id="4" name="">
            <a:extLst xmlns:a="http://schemas.openxmlformats.org/drawingml/2006/main">
              <a:ext uri="{FF2B5EF4-FFF2-40B4-BE49-F238E27FC236}">
                <a16:creationId xmlns:a16="http://schemas.microsoft.com/office/drawing/2014/main" id="{7D8A3754-5ADB-45BB-A032-05F36781F251}"/>
              </a:ext>
            </a:extLst>
          </p:cNvPr>
          <p:cNvSpPr>
            <a:spLocks xmlns:a="http://schemas.openxmlformats.org/drawingml/2006/main" noGrp="1"/>
          </p:cNvSpPr>
          <p:nvPr/>
        </p:nvSpPr>
        <p:spPr>
          <a:xfrm xmlns:a="http://schemas.openxmlformats.org/drawingml/2006/main">
            <a:off x="1876425" y="2333625"/>
            <a:ext cx="9563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9BECA"/>
                </a:solidFill>
                <a:latin typeface="Arial"/>
                <a:ea typeface="Arial"/>
                <a:cs typeface="Arial"/>
              </a:defRPr>
            </a:pPr>
            <a:r>
              <a:rPr sz="2025" b="0">
                <a:solidFill>
                  <a:srgbClr val="B9BECA"/>
                </a:solidFill>
                <a:latin typeface="Arial"/>
                <a:ea typeface="Arial"/>
                <a:cs typeface="Arial"/>
              </a:rPr>
              <a:t>Weights, tokenizer, labels, versions, evaluation record</a:t>
            </a:r>
          </a:p>
        </p:txBody>
      </p:sp>
      <p:sp>
        <p:nvSpPr>
          <p:cNvPr id="5" name="">
            <a:extLst xmlns:a="http://schemas.openxmlformats.org/drawingml/2006/main">
              <a:ext uri="{FF2B5EF4-FFF2-40B4-BE49-F238E27FC236}">
                <a16:creationId xmlns:a16="http://schemas.microsoft.com/office/drawing/2014/main" id="{A8EC3E72-5B60-4049-AFA6-CFE6AACE7D53}"/>
              </a:ext>
            </a:extLst>
          </p:cNvPr>
          <p:cNvSpPr>
            <a:spLocks xmlns:a="http://schemas.openxmlformats.org/drawingml/2006/main" noGrp="1"/>
          </p:cNvSpPr>
          <p:nvPr/>
        </p:nvSpPr>
        <p:spPr>
          <a:xfrm xmlns:a="http://schemas.openxmlformats.org/drawingml/2006/main">
            <a:off x="609600" y="3028950"/>
            <a:ext cx="990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D21E"/>
                </a:solidFill>
                <a:latin typeface="Arial"/>
                <a:ea typeface="Arial"/>
                <a:cs typeface="Arial"/>
              </a:defRPr>
            </a:pPr>
            <a:r>
              <a:rPr sz="4350" b="1">
                <a:solidFill>
                  <a:srgbClr val="FFD21E"/>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B9B5E75-186F-4397-82BD-8ADAEC134DDC}"/>
              </a:ext>
            </a:extLst>
          </p:cNvPr>
          <p:cNvSpPr>
            <a:spLocks xmlns:a="http://schemas.openxmlformats.org/drawingml/2006/main" noGrp="1"/>
          </p:cNvSpPr>
          <p:nvPr/>
        </p:nvSpPr>
        <p:spPr>
          <a:xfrm xmlns:a="http://schemas.openxmlformats.org/drawingml/2006/main">
            <a:off x="1876425" y="3067050"/>
            <a:ext cx="9563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9ED"/>
                </a:solidFill>
                <a:latin typeface="Arial"/>
                <a:ea typeface="Arial"/>
                <a:cs typeface="Arial"/>
              </a:defRPr>
            </a:pPr>
            <a:r>
              <a:rPr sz="2550" b="1">
                <a:solidFill>
                  <a:srgbClr val="FFF9ED"/>
                </a:solidFill>
                <a:latin typeface="Arial"/>
                <a:ea typeface="Arial"/>
                <a:cs typeface="Arial"/>
              </a:rPr>
              <a:t>Serve behind an input contract</a:t>
            </a:r>
          </a:p>
        </p:txBody>
      </p:sp>
      <p:sp>
        <p:nvSpPr>
          <p:cNvPr id="7" name="">
            <a:extLst xmlns:a="http://schemas.openxmlformats.org/drawingml/2006/main">
              <a:ext uri="{FF2B5EF4-FFF2-40B4-BE49-F238E27FC236}">
                <a16:creationId xmlns:a16="http://schemas.microsoft.com/office/drawing/2014/main" id="{84ADDF78-4A3C-4387-BE7B-2DA55E37DAB8}"/>
              </a:ext>
            </a:extLst>
          </p:cNvPr>
          <p:cNvSpPr>
            <a:spLocks xmlns:a="http://schemas.openxmlformats.org/drawingml/2006/main" noGrp="1"/>
          </p:cNvSpPr>
          <p:nvPr/>
        </p:nvSpPr>
        <p:spPr>
          <a:xfrm xmlns:a="http://schemas.openxmlformats.org/drawingml/2006/main">
            <a:off x="1876425" y="3600450"/>
            <a:ext cx="9563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9BECA"/>
                </a:solidFill>
                <a:latin typeface="Arial"/>
                <a:ea typeface="Arial"/>
                <a:cs typeface="Arial"/>
              </a:defRPr>
            </a:pPr>
            <a:r>
              <a:rPr sz="2025" b="0">
                <a:solidFill>
                  <a:srgbClr val="B9BECA"/>
                </a:solidFill>
                <a:latin typeface="Arial"/>
                <a:ea typeface="Arial"/>
                <a:cs typeface="Arial"/>
              </a:rPr>
              <a:t>Length limits, health checks, timeouts, observability</a:t>
            </a:r>
          </a:p>
        </p:txBody>
      </p:sp>
      <p:sp>
        <p:nvSpPr>
          <p:cNvPr id="8" name="">
            <a:extLst xmlns:a="http://schemas.openxmlformats.org/drawingml/2006/main">
              <a:ext uri="{FF2B5EF4-FFF2-40B4-BE49-F238E27FC236}">
                <a16:creationId xmlns:a16="http://schemas.microsoft.com/office/drawing/2014/main" id="{93B87375-27D0-4113-850A-410A08585B42}"/>
              </a:ext>
            </a:extLst>
          </p:cNvPr>
          <p:cNvSpPr>
            <a:spLocks xmlns:a="http://schemas.openxmlformats.org/drawingml/2006/main" noGrp="1"/>
          </p:cNvSpPr>
          <p:nvPr/>
        </p:nvSpPr>
        <p:spPr>
          <a:xfrm xmlns:a="http://schemas.openxmlformats.org/drawingml/2006/main">
            <a:off x="609600" y="4295775"/>
            <a:ext cx="990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D21E"/>
                </a:solidFill>
                <a:latin typeface="Arial"/>
                <a:ea typeface="Arial"/>
                <a:cs typeface="Arial"/>
              </a:defRPr>
            </a:pPr>
            <a:r>
              <a:rPr sz="4350" b="1">
                <a:solidFill>
                  <a:srgbClr val="FFD21E"/>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D11E5E3B-733E-4F4B-B012-BD84706AC89B}"/>
              </a:ext>
            </a:extLst>
          </p:cNvPr>
          <p:cNvSpPr>
            <a:spLocks xmlns:a="http://schemas.openxmlformats.org/drawingml/2006/main" noGrp="1"/>
          </p:cNvSpPr>
          <p:nvPr/>
        </p:nvSpPr>
        <p:spPr>
          <a:xfrm xmlns:a="http://schemas.openxmlformats.org/drawingml/2006/main">
            <a:off x="1876425" y="4333875"/>
            <a:ext cx="9563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FF9ED"/>
                </a:solidFill>
                <a:latin typeface="Arial"/>
                <a:ea typeface="Arial"/>
                <a:cs typeface="Arial"/>
              </a:defRPr>
            </a:pPr>
            <a:r>
              <a:rPr sz="2550" b="1">
                <a:solidFill>
                  <a:srgbClr val="FFF9ED"/>
                </a:solidFill>
                <a:latin typeface="Arial"/>
                <a:ea typeface="Arial"/>
                <a:cs typeface="Arial"/>
              </a:rPr>
              <a:t>Promote with a rollback path</a:t>
            </a:r>
          </a:p>
        </p:txBody>
      </p:sp>
      <p:sp>
        <p:nvSpPr>
          <p:cNvPr id="10" name="">
            <a:extLst xmlns:a="http://schemas.openxmlformats.org/drawingml/2006/main">
              <a:ext uri="{FF2B5EF4-FFF2-40B4-BE49-F238E27FC236}">
                <a16:creationId xmlns:a16="http://schemas.microsoft.com/office/drawing/2014/main" id="{8FB97651-BCE6-454E-BCAE-EE511FB1FC94}"/>
              </a:ext>
            </a:extLst>
          </p:cNvPr>
          <p:cNvSpPr>
            <a:spLocks xmlns:a="http://schemas.openxmlformats.org/drawingml/2006/main" noGrp="1"/>
          </p:cNvSpPr>
          <p:nvPr/>
        </p:nvSpPr>
        <p:spPr>
          <a:xfrm xmlns:a="http://schemas.openxmlformats.org/drawingml/2006/main">
            <a:off x="1876425" y="4867275"/>
            <a:ext cx="9563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9BECA"/>
                </a:solidFill>
                <a:latin typeface="Arial"/>
                <a:ea typeface="Arial"/>
                <a:cs typeface="Arial"/>
              </a:defRPr>
            </a:pPr>
            <a:r>
              <a:rPr sz="2025" b="0">
                <a:solidFill>
                  <a:srgbClr val="B9BECA"/>
                </a:solidFill>
                <a:latin typeface="Arial"/>
                <a:ea typeface="Arial"/>
                <a:cs typeface="Arial"/>
              </a:rPr>
              <a:t>Canary traffic, quality checks, previous revision</a:t>
            </a:r>
          </a:p>
        </p:txBody>
      </p:sp>
      <p:sp>
        <p:nvSpPr>
          <p:cNvPr id="11" name="">
            <a:extLst xmlns:a="http://schemas.openxmlformats.org/drawingml/2006/main">
              <a:ext uri="{FF2B5EF4-FFF2-40B4-BE49-F238E27FC236}">
                <a16:creationId xmlns:a16="http://schemas.microsoft.com/office/drawing/2014/main" id="{FAFA6203-9418-4DEB-9B2C-C07623B0D4D7}"/>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Live: Colab inference uses the exported INT8 artifact.</a:t>
            </a:r>
          </a:p>
        </p:txBody>
      </p:sp>
      <p:sp>
        <p:nvSpPr>
          <p:cNvPr id="12" name="">
            <a:extLst xmlns:a="http://schemas.openxmlformats.org/drawingml/2006/main">
              <a:ext uri="{FF2B5EF4-FFF2-40B4-BE49-F238E27FC236}">
                <a16:creationId xmlns:a16="http://schemas.microsoft.com/office/drawing/2014/main" id="{30B0CBFB-2A4E-4AA5-A05F-4A3D37918722}"/>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15</a:t>
            </a:r>
          </a:p>
        </p:txBody>
      </p:sp>
    </p:spTree>
    <p:extLst>
      <p:ext uri="{BB962C8B-B14F-4D97-AF65-F5344CB8AC3E}">
        <p14:creationId xmlns:p14="http://schemas.microsoft.com/office/powerpoint/2010/main" val="1786216498"/>
      </p:ext>
    </p:extLst>
  </p:cSld>
</p:sld>
</file>

<file path=ppt/slides/slide16.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A2D7EA-A745-45A6-9C96-57F6027A3BA5}"/>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Five more ways to save work</a:t>
            </a:r>
          </a:p>
        </p:txBody>
      </p:sp>
      <p:sp>
        <p:nvSpPr>
          <p:cNvPr id="2" name="">
            <a:extLst xmlns:a="http://schemas.openxmlformats.org/drawingml/2006/main">
              <a:ext uri="{FF2B5EF4-FFF2-40B4-BE49-F238E27FC236}">
                <a16:creationId xmlns:a16="http://schemas.microsoft.com/office/drawing/2014/main" id="{C49813C8-9914-456B-A027-969789D3BA84}"/>
              </a:ext>
            </a:extLst>
          </p:cNvPr>
          <p:cNvSpPr>
            <a:spLocks xmlns:a="http://schemas.openxmlformats.org/drawingml/2006/main" noGrp="1"/>
          </p:cNvSpPr>
          <p:nvPr/>
        </p:nvSpPr>
        <p:spPr>
          <a:xfrm xmlns:a="http://schemas.openxmlformats.org/drawingml/2006/main">
            <a:off x="609600" y="1714500"/>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Datasets streaming</a:t>
            </a:r>
          </a:p>
        </p:txBody>
      </p:sp>
      <p:sp>
        <p:nvSpPr>
          <p:cNvPr id="3" name="">
            <a:extLst xmlns:a="http://schemas.openxmlformats.org/drawingml/2006/main">
              <a:ext uri="{FF2B5EF4-FFF2-40B4-BE49-F238E27FC236}">
                <a16:creationId xmlns:a16="http://schemas.microsoft.com/office/drawing/2014/main" id="{A71B6C12-3289-461F-B32A-145614E7186B}"/>
              </a:ext>
            </a:extLst>
          </p:cNvPr>
          <p:cNvSpPr>
            <a:spLocks xmlns:a="http://schemas.openxmlformats.org/drawingml/2006/main" noGrp="1"/>
          </p:cNvSpPr>
          <p:nvPr/>
        </p:nvSpPr>
        <p:spPr>
          <a:xfrm xmlns:a="http://schemas.openxmlformats.org/drawingml/2006/main">
            <a:off x="5019675" y="1714500"/>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Inspect a large source before a full download</a:t>
            </a:r>
          </a:p>
        </p:txBody>
      </p:sp>
      <p:sp>
        <p:nvSpPr>
          <p:cNvPr id="4" name="">
            <a:extLst xmlns:a="http://schemas.openxmlformats.org/drawingml/2006/main">
              <a:ext uri="{FF2B5EF4-FFF2-40B4-BE49-F238E27FC236}">
                <a16:creationId xmlns:a16="http://schemas.microsoft.com/office/drawing/2014/main" id="{27EAE9C7-CFC7-4E80-82C6-5CBA2E22DAD9}"/>
              </a:ext>
            </a:extLst>
          </p:cNvPr>
          <p:cNvSpPr>
            <a:spLocks xmlns:a="http://schemas.openxmlformats.org/drawingml/2006/main" noGrp="1"/>
          </p:cNvSpPr>
          <p:nvPr/>
        </p:nvSpPr>
        <p:spPr>
          <a:xfrm xmlns:a="http://schemas.openxmlformats.org/drawingml/2006/main">
            <a:off x="609600" y="2486025"/>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Spaces</a:t>
            </a:r>
          </a:p>
        </p:txBody>
      </p:sp>
      <p:sp>
        <p:nvSpPr>
          <p:cNvPr id="5" name="">
            <a:extLst xmlns:a="http://schemas.openxmlformats.org/drawingml/2006/main">
              <a:ext uri="{FF2B5EF4-FFF2-40B4-BE49-F238E27FC236}">
                <a16:creationId xmlns:a16="http://schemas.microsoft.com/office/drawing/2014/main" id="{FAE3BBC6-AAF3-42AB-95F0-F30A0E6580D3}"/>
              </a:ext>
            </a:extLst>
          </p:cNvPr>
          <p:cNvSpPr>
            <a:spLocks xmlns:a="http://schemas.openxmlformats.org/drawingml/2006/main" noGrp="1"/>
          </p:cNvSpPr>
          <p:nvPr/>
        </p:nvSpPr>
        <p:spPr>
          <a:xfrm xmlns:a="http://schemas.openxmlformats.org/drawingml/2006/main">
            <a:off x="5019675" y="2486025"/>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Share a versioned interactive demo</a:t>
            </a:r>
          </a:p>
        </p:txBody>
      </p:sp>
      <p:sp>
        <p:nvSpPr>
          <p:cNvPr id="6" name="">
            <a:extLst xmlns:a="http://schemas.openxmlformats.org/drawingml/2006/main">
              <a:ext uri="{FF2B5EF4-FFF2-40B4-BE49-F238E27FC236}">
                <a16:creationId xmlns:a16="http://schemas.microsoft.com/office/drawing/2014/main" id="{33400118-C4DF-466F-809B-4CEE76B8FF68}"/>
              </a:ext>
            </a:extLst>
          </p:cNvPr>
          <p:cNvSpPr>
            <a:spLocks xmlns:a="http://schemas.openxmlformats.org/drawingml/2006/main" noGrp="1"/>
          </p:cNvSpPr>
          <p:nvPr/>
        </p:nvSpPr>
        <p:spPr>
          <a:xfrm xmlns:a="http://schemas.openxmlformats.org/drawingml/2006/main">
            <a:off x="609600" y="3257550"/>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Jobs</a:t>
            </a:r>
          </a:p>
        </p:txBody>
      </p:sp>
      <p:sp>
        <p:nvSpPr>
          <p:cNvPr id="7" name="">
            <a:extLst xmlns:a="http://schemas.openxmlformats.org/drawingml/2006/main">
              <a:ext uri="{FF2B5EF4-FFF2-40B4-BE49-F238E27FC236}">
                <a16:creationId xmlns:a16="http://schemas.microsoft.com/office/drawing/2014/main" id="{2A8D302A-56AA-4577-A060-7AADD05659ED}"/>
              </a:ext>
            </a:extLst>
          </p:cNvPr>
          <p:cNvSpPr>
            <a:spLocks xmlns:a="http://schemas.openxmlformats.org/drawingml/2006/main" noGrp="1"/>
          </p:cNvSpPr>
          <p:nvPr/>
        </p:nvSpPr>
        <p:spPr>
          <a:xfrm xmlns:a="http://schemas.openxmlformats.org/drawingml/2006/main">
            <a:off x="5019675" y="3257550"/>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Run a script on hosted compute</a:t>
            </a:r>
          </a:p>
        </p:txBody>
      </p:sp>
      <p:sp>
        <p:nvSpPr>
          <p:cNvPr id="8" name="">
            <a:extLst xmlns:a="http://schemas.openxmlformats.org/drawingml/2006/main">
              <a:ext uri="{FF2B5EF4-FFF2-40B4-BE49-F238E27FC236}">
                <a16:creationId xmlns:a16="http://schemas.microsoft.com/office/drawing/2014/main" id="{47784A49-97F8-4E20-9ABA-C25043A83BDC}"/>
              </a:ext>
            </a:extLst>
          </p:cNvPr>
          <p:cNvSpPr>
            <a:spLocks xmlns:a="http://schemas.openxmlformats.org/drawingml/2006/main" noGrp="1"/>
          </p:cNvSpPr>
          <p:nvPr/>
        </p:nvSpPr>
        <p:spPr>
          <a:xfrm xmlns:a="http://schemas.openxmlformats.org/drawingml/2006/main">
            <a:off x="609600" y="4029075"/>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Inference Providers</a:t>
            </a:r>
          </a:p>
        </p:txBody>
      </p:sp>
      <p:sp>
        <p:nvSpPr>
          <p:cNvPr id="9" name="">
            <a:extLst xmlns:a="http://schemas.openxmlformats.org/drawingml/2006/main">
              <a:ext uri="{FF2B5EF4-FFF2-40B4-BE49-F238E27FC236}">
                <a16:creationId xmlns:a16="http://schemas.microsoft.com/office/drawing/2014/main" id="{85BF9FD9-8528-42A4-A499-6B90380297E1}"/>
              </a:ext>
            </a:extLst>
          </p:cNvPr>
          <p:cNvSpPr>
            <a:spLocks xmlns:a="http://schemas.openxmlformats.org/drawingml/2006/main" noGrp="1"/>
          </p:cNvSpPr>
          <p:nvPr/>
        </p:nvSpPr>
        <p:spPr>
          <a:xfrm xmlns:a="http://schemas.openxmlformats.org/drawingml/2006/main">
            <a:off x="5019675" y="4029075"/>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Compare supported hosted models through one client</a:t>
            </a:r>
          </a:p>
        </p:txBody>
      </p:sp>
      <p:sp>
        <p:nvSpPr>
          <p:cNvPr id="10" name="">
            <a:extLst xmlns:a="http://schemas.openxmlformats.org/drawingml/2006/main">
              <a:ext uri="{FF2B5EF4-FFF2-40B4-BE49-F238E27FC236}">
                <a16:creationId xmlns:a16="http://schemas.microsoft.com/office/drawing/2014/main" id="{9B2EC5E8-35AD-42C3-988F-C0BC5F4C3FEA}"/>
              </a:ext>
            </a:extLst>
          </p:cNvPr>
          <p:cNvSpPr>
            <a:spLocks xmlns:a="http://schemas.openxmlformats.org/drawingml/2006/main" noGrp="1"/>
          </p:cNvSpPr>
          <p:nvPr/>
        </p:nvSpPr>
        <p:spPr>
          <a:xfrm xmlns:a="http://schemas.openxmlformats.org/drawingml/2006/main">
            <a:off x="609600" y="4800600"/>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Collections and model cards</a:t>
            </a:r>
          </a:p>
        </p:txBody>
      </p:sp>
      <p:sp>
        <p:nvSpPr>
          <p:cNvPr id="11" name="">
            <a:extLst xmlns:a="http://schemas.openxmlformats.org/drawingml/2006/main">
              <a:ext uri="{FF2B5EF4-FFF2-40B4-BE49-F238E27FC236}">
                <a16:creationId xmlns:a16="http://schemas.microsoft.com/office/drawing/2014/main" id="{C4C7BF91-281E-4FB6-8C6A-31E9A039F78F}"/>
              </a:ext>
            </a:extLst>
          </p:cNvPr>
          <p:cNvSpPr>
            <a:spLocks xmlns:a="http://schemas.openxmlformats.org/drawingml/2006/main" noGrp="1"/>
          </p:cNvSpPr>
          <p:nvPr/>
        </p:nvSpPr>
        <p:spPr>
          <a:xfrm xmlns:a="http://schemas.openxmlformats.org/drawingml/2006/main">
            <a:off x="5019675" y="4800600"/>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9ED"/>
                </a:solidFill>
                <a:latin typeface="Arial"/>
                <a:ea typeface="Arial"/>
                <a:cs typeface="Arial"/>
              </a:defRPr>
            </a:pPr>
            <a:r>
              <a:rPr sz="2100" b="0">
                <a:solidFill>
                  <a:srgbClr val="FFF9ED"/>
                </a:solidFill>
                <a:latin typeface="Arial"/>
                <a:ea typeface="Arial"/>
                <a:cs typeface="Arial"/>
              </a:rPr>
              <a:t>Give collaborators a useful starting point</a:t>
            </a:r>
          </a:p>
        </p:txBody>
      </p:sp>
      <p:sp>
        <p:nvSpPr>
          <p:cNvPr id="12" name="">
            <a:extLst xmlns:a="http://schemas.openxmlformats.org/drawingml/2006/main">
              <a:ext uri="{FF2B5EF4-FFF2-40B4-BE49-F238E27FC236}">
                <a16:creationId xmlns:a16="http://schemas.microsoft.com/office/drawing/2014/main" id="{05185CC5-214D-4689-9470-5AA55F2FA696}"/>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Choose by the engineering job. Hardware and hosting can incur charges.</a:t>
            </a:r>
          </a:p>
        </p:txBody>
      </p:sp>
      <p:sp>
        <p:nvSpPr>
          <p:cNvPr id="13" name="">
            <a:extLst xmlns:a="http://schemas.openxmlformats.org/drawingml/2006/main">
              <a:ext uri="{FF2B5EF4-FFF2-40B4-BE49-F238E27FC236}">
                <a16:creationId xmlns:a16="http://schemas.microsoft.com/office/drawing/2014/main" id="{E09BB2FB-898B-4036-B701-85F88A920D85}"/>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16</a:t>
            </a:r>
          </a:p>
        </p:txBody>
      </p:sp>
    </p:spTree>
    <p:extLst>
      <p:ext uri="{BB962C8B-B14F-4D97-AF65-F5344CB8AC3E}">
        <p14:creationId xmlns:p14="http://schemas.microsoft.com/office/powerpoint/2010/main" val="912319801"/>
      </p:ext>
    </p:extLst>
  </p:cSld>
</p:sld>
</file>

<file path=ppt/slides/slide17.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D19E94-143E-4076-AB76-57AF218660AD}"/>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The workflow to take home</a:t>
            </a:r>
          </a:p>
        </p:txBody>
      </p:sp>
      <p:sp>
        <p:nvSpPr>
          <p:cNvPr id="2" name="">
            <a:extLst xmlns:a="http://schemas.openxmlformats.org/drawingml/2006/main">
              <a:ext uri="{FF2B5EF4-FFF2-40B4-BE49-F238E27FC236}">
                <a16:creationId xmlns:a16="http://schemas.microsoft.com/office/drawing/2014/main" id="{34458BB5-09A8-4857-B7C4-3DC8DAF3234C}"/>
              </a:ext>
            </a:extLst>
          </p:cNvPr>
          <p:cNvSpPr>
            <a:spLocks xmlns:a="http://schemas.openxmlformats.org/drawingml/2006/main" noGrp="1"/>
          </p:cNvSpPr>
          <p:nvPr/>
        </p:nvSpPr>
        <p:spPr>
          <a:xfrm xmlns:a="http://schemas.openxmlformats.org/drawingml/2006/main">
            <a:off x="609600" y="19431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For students</a:t>
            </a:r>
          </a:p>
        </p:txBody>
      </p:sp>
      <p:sp>
        <p:nvSpPr>
          <p:cNvPr id="3" name="">
            <a:extLst xmlns:a="http://schemas.openxmlformats.org/drawingml/2006/main">
              <a:ext uri="{FF2B5EF4-FFF2-40B4-BE49-F238E27FC236}">
                <a16:creationId xmlns:a16="http://schemas.microsoft.com/office/drawing/2014/main" id="{D3FDA98D-AD25-48DD-B8ED-B478138AEC75}"/>
              </a:ext>
            </a:extLst>
          </p:cNvPr>
          <p:cNvSpPr>
            <a:spLocks xmlns:a="http://schemas.openxmlformats.org/drawingml/2006/main" noGrp="1"/>
          </p:cNvSpPr>
          <p:nvPr/>
        </p:nvSpPr>
        <p:spPr>
          <a:xfrm xmlns:a="http://schemas.openxmlformats.org/drawingml/2006/main">
            <a:off x="609600" y="2571750"/>
            <a:ext cx="50101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Run one small task end to end.</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Explain one failure.</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Share a reproducible artifact.</a:t>
            </a:r>
          </a:p>
        </p:txBody>
      </p:sp>
      <p:sp>
        <p:nvSpPr>
          <p:cNvPr id="4" name="">
            <a:extLst xmlns:a="http://schemas.openxmlformats.org/drawingml/2006/main">
              <a:ext uri="{FF2B5EF4-FFF2-40B4-BE49-F238E27FC236}">
                <a16:creationId xmlns:a16="http://schemas.microsoft.com/office/drawing/2014/main" id="{5E42012B-CCCC-4804-9F66-93B9E13568FB}"/>
              </a:ext>
            </a:extLst>
          </p:cNvPr>
          <p:cNvSpPr>
            <a:spLocks xmlns:a="http://schemas.openxmlformats.org/drawingml/2006/main" noGrp="1"/>
          </p:cNvSpPr>
          <p:nvPr/>
        </p:nvSpPr>
        <p:spPr>
          <a:xfrm xmlns:a="http://schemas.openxmlformats.org/drawingml/2006/main">
            <a:off x="6610350" y="194310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For ML engineers</a:t>
            </a:r>
          </a:p>
        </p:txBody>
      </p:sp>
      <p:sp>
        <p:nvSpPr>
          <p:cNvPr id="5" name="">
            <a:extLst xmlns:a="http://schemas.openxmlformats.org/drawingml/2006/main">
              <a:ext uri="{FF2B5EF4-FFF2-40B4-BE49-F238E27FC236}">
                <a16:creationId xmlns:a16="http://schemas.microsoft.com/office/drawing/2014/main" id="{AA723B19-8E4B-4CE0-8B82-E94155BBDD50}"/>
              </a:ext>
            </a:extLst>
          </p:cNvPr>
          <p:cNvSpPr>
            <a:spLocks xmlns:a="http://schemas.openxmlformats.org/drawingml/2006/main" noGrp="1"/>
          </p:cNvSpPr>
          <p:nvPr/>
        </p:nvSpPr>
        <p:spPr>
          <a:xfrm xmlns:a="http://schemas.openxmlformats.org/drawingml/2006/main">
            <a:off x="6610350" y="2571750"/>
            <a:ext cx="49720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Version the whole release.</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Gate quality after optimization.</a:t>
            </a:r>
          </a:p>
          <a:p xmlns:a="http://schemas.openxmlformats.org/drawingml/2006/main">
            <a:r>
              <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Measure the target workload.</a:t>
            </a:r>
          </a:p>
        </p:txBody>
      </p:sp>
      <p:sp>
        <p:nvSpPr>
          <p:cNvPr id="6" name="">
            <a:extLst xmlns:a="http://schemas.openxmlformats.org/drawingml/2006/main">
              <a:ext uri="{FF2B5EF4-FFF2-40B4-BE49-F238E27FC236}">
                <a16:creationId xmlns:a16="http://schemas.microsoft.com/office/drawing/2014/main" id="{367EDCD4-883B-4F35-8B8E-0CE9886DB581}"/>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Hub + adaptation + evidence + the right runtime</a:t>
            </a:r>
          </a:p>
        </p:txBody>
      </p:sp>
      <p:sp>
        <p:nvSpPr>
          <p:cNvPr id="7" name="">
            <a:extLst xmlns:a="http://schemas.openxmlformats.org/drawingml/2006/main">
              <a:ext uri="{FF2B5EF4-FFF2-40B4-BE49-F238E27FC236}">
                <a16:creationId xmlns:a16="http://schemas.microsoft.com/office/drawing/2014/main" id="{1D1E3E4E-E9F4-4DFC-A119-42F4A337CB7B}"/>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17</a:t>
            </a:r>
          </a:p>
        </p:txBody>
      </p:sp>
    </p:spTree>
    <p:extLst>
      <p:ext uri="{BB962C8B-B14F-4D97-AF65-F5344CB8AC3E}">
        <p14:creationId xmlns:p14="http://schemas.microsoft.com/office/powerpoint/2010/main" val="307533881"/>
      </p:ext>
    </p:extLst>
  </p:cSld>
</p:sld>
</file>

<file path=ppt/slides/slide18.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92B7CF-564A-4C8C-9B64-453D898F989A}"/>
              </a:ext>
            </a:extLst>
          </p:cNvPr>
          <p:cNvSpPr>
            <a:spLocks xmlns:a="http://schemas.openxmlformats.org/drawingml/2006/main" noGrp="1"/>
          </p:cNvSpPr>
          <p:nvPr/>
        </p:nvSpPr>
        <p:spPr>
          <a:xfrm xmlns:a="http://schemas.openxmlformats.org/drawingml/2006/main">
            <a:off x="609600" y="104775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200" b="1">
                <a:solidFill>
                  <a:srgbClr val="FFD21E"/>
                </a:solidFill>
                <a:latin typeface="Arial"/>
                <a:ea typeface="Arial"/>
                <a:cs typeface="Arial"/>
              </a:defRPr>
            </a:pPr>
            <a:r>
              <a:rPr sz="7200" b="1">
                <a:solidFill>
                  <a:srgbClr val="FFD21E"/>
                </a:solidFill>
                <a:latin typeface="Arial"/>
                <a:ea typeface="Arial"/>
                <a:cs typeface="Arial"/>
              </a:rPr>
              <a:t>Questions</a:t>
            </a:r>
          </a:p>
        </p:txBody>
      </p:sp>
      <p:sp>
        <p:nvSpPr>
          <p:cNvPr id="2" name="">
            <a:extLst xmlns:a="http://schemas.openxmlformats.org/drawingml/2006/main">
              <a:ext uri="{FF2B5EF4-FFF2-40B4-BE49-F238E27FC236}">
                <a16:creationId xmlns:a16="http://schemas.microsoft.com/office/drawing/2014/main" id="{709A3FC9-EE59-421D-A968-9CC645FB6940}"/>
              </a:ext>
            </a:extLst>
          </p:cNvPr>
          <p:cNvSpPr>
            <a:spLocks xmlns:a="http://schemas.openxmlformats.org/drawingml/2006/main" noGrp="1"/>
          </p:cNvSpPr>
          <p:nvPr/>
        </p:nvSpPr>
        <p:spPr>
          <a:xfrm xmlns:a="http://schemas.openxmlformats.org/drawingml/2006/main">
            <a:off x="647700" y="27813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0">
                <a:solidFill>
                  <a:srgbClr val="FFF9ED"/>
                </a:solidFill>
                <a:latin typeface="Arial"/>
                <a:ea typeface="Arial"/>
                <a:cs typeface="Arial"/>
              </a:defRPr>
            </a:pPr>
            <a:r>
              <a:rPr sz="3900" b="0">
                <a:solidFill>
                  <a:srgbClr val="FFF9ED"/>
                </a:solidFill>
                <a:latin typeface="Arial"/>
                <a:ea typeface="Arial"/>
                <a:cs typeface="Arial"/>
              </a:rPr>
              <a:t>What would block this model</a:t>
            </a:r>
          </a:p>
          <a:p xmlns:a="http://schemas.openxmlformats.org/drawingml/2006/main">
            <a:pPr>
              <a:defRPr sz="3900" b="0">
                <a:solidFill>
                  <a:srgbClr val="FFF9ED"/>
                </a:solidFill>
                <a:latin typeface="Arial"/>
                <a:ea typeface="Arial"/>
                <a:cs typeface="Arial"/>
              </a:defRPr>
            </a:pPr>
            <a:r>
              <a:rPr sz="3900" b="0">
                <a:solidFill>
                  <a:srgbClr val="FFF9ED"/>
                </a:solidFill>
                <a:latin typeface="Arial"/>
                <a:ea typeface="Arial"/>
                <a:cs typeface="Arial"/>
              </a:rPr>
              <a:t>from shipping in your project?</a:t>
            </a:r>
          </a:p>
        </p:txBody>
      </p:sp>
      <p:sp>
        <p:nvSpPr>
          <p:cNvPr id="3" name="">
            <a:extLst xmlns:a="http://schemas.openxmlformats.org/drawingml/2006/main">
              <a:ext uri="{FF2B5EF4-FFF2-40B4-BE49-F238E27FC236}">
                <a16:creationId xmlns:a16="http://schemas.microsoft.com/office/drawing/2014/main" id="{95C68754-ACC5-4D7F-8B5A-26720BA20024}"/>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Muntaser Syed     huggingface.co/Jemsbhai</a:t>
            </a:r>
          </a:p>
        </p:txBody>
      </p:sp>
      <p:sp>
        <p:nvSpPr>
          <p:cNvPr id="4" name="">
            <a:extLst xmlns:a="http://schemas.openxmlformats.org/drawingml/2006/main">
              <a:ext uri="{FF2B5EF4-FFF2-40B4-BE49-F238E27FC236}">
                <a16:creationId xmlns:a16="http://schemas.microsoft.com/office/drawing/2014/main" id="{7FC30439-EB61-49FF-8DE7-273172B4ABC7}"/>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18</a:t>
            </a:r>
          </a:p>
        </p:txBody>
      </p:sp>
    </p:spTree>
    <p:extLst>
      <p:ext uri="{BB962C8B-B14F-4D97-AF65-F5344CB8AC3E}">
        <p14:creationId xmlns:p14="http://schemas.microsoft.com/office/powerpoint/2010/main" val="1778946715"/>
      </p:ext>
    </p:extLst>
  </p:cSld>
</p:sld>
</file>

<file path=ppt/slides/slide19.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B123EA-AFB3-487D-AA70-AA29674812A7}"/>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Appendix: QLoRA for a causal LLM</a:t>
            </a:r>
          </a:p>
        </p:txBody>
      </p:sp>
      <p:sp>
        <p:nvSpPr>
          <p:cNvPr id="2" name="">
            <a:extLst xmlns:a="http://schemas.openxmlformats.org/drawingml/2006/main">
              <a:ext uri="{FF2B5EF4-FFF2-40B4-BE49-F238E27FC236}">
                <a16:creationId xmlns:a16="http://schemas.microsoft.com/office/drawing/2014/main" id="{0F746DCC-C7AE-4E08-B144-4C4BF82648D5}"/>
              </a:ext>
            </a:extLst>
          </p:cNvPr>
          <p:cNvSpPr>
            <a:spLocks xmlns:a="http://schemas.openxmlformats.org/drawingml/2006/main" noGrp="1"/>
          </p:cNvSpPr>
          <p:nvPr/>
        </p:nvSpPr>
        <p:spPr>
          <a:xfrm xmlns:a="http://schemas.openxmlformats.org/drawingml/2006/main">
            <a:off x="609600" y="17907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Training path</a:t>
            </a:r>
          </a:p>
        </p:txBody>
      </p:sp>
      <p:sp>
        <p:nvSpPr>
          <p:cNvPr id="3" name="">
            <a:extLst xmlns:a="http://schemas.openxmlformats.org/drawingml/2006/main">
              <a:ext uri="{FF2B5EF4-FFF2-40B4-BE49-F238E27FC236}">
                <a16:creationId xmlns:a16="http://schemas.microsoft.com/office/drawing/2014/main" id="{C1F94A5D-11B0-4143-A81C-B11D18AE94F9}"/>
              </a:ext>
            </a:extLst>
          </p:cNvPr>
          <p:cNvSpPr>
            <a:spLocks xmlns:a="http://schemas.openxmlformats.org/drawingml/2006/main" noGrp="1"/>
          </p:cNvSpPr>
          <p:nvPr/>
        </p:nvSpPr>
        <p:spPr>
          <a:xfrm xmlns:a="http://schemas.openxmlformats.org/drawingml/2006/main">
            <a:off x="609600" y="2419350"/>
            <a:ext cx="50101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Load a supported base in 4-bit.</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Prepare it for low-bit training.</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Attach LoRA adapters.</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Train on task-formatted examples.</a:t>
            </a:r>
          </a:p>
        </p:txBody>
      </p:sp>
      <p:sp>
        <p:nvSpPr>
          <p:cNvPr id="4" name="">
            <a:extLst xmlns:a="http://schemas.openxmlformats.org/drawingml/2006/main">
              <a:ext uri="{FF2B5EF4-FFF2-40B4-BE49-F238E27FC236}">
                <a16:creationId xmlns:a16="http://schemas.microsoft.com/office/drawing/2014/main" id="{D910BFB6-35D6-4DD5-A74F-689CDBEFC6CA}"/>
              </a:ext>
            </a:extLst>
          </p:cNvPr>
          <p:cNvSpPr>
            <a:spLocks xmlns:a="http://schemas.openxmlformats.org/drawingml/2006/main" noGrp="1"/>
          </p:cNvSpPr>
          <p:nvPr/>
        </p:nvSpPr>
        <p:spPr>
          <a:xfrm xmlns:a="http://schemas.openxmlformats.org/drawingml/2006/main">
            <a:off x="6610350" y="179070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FD21E"/>
                </a:solidFill>
                <a:latin typeface="Arial"/>
                <a:ea typeface="Arial"/>
                <a:cs typeface="Arial"/>
              </a:defRPr>
            </a:pPr>
            <a:r>
              <a:rPr sz="2400" b="1">
                <a:solidFill>
                  <a:srgbClr val="FFD21E"/>
                </a:solidFill>
                <a:latin typeface="Arial"/>
                <a:ea typeface="Arial"/>
                <a:cs typeface="Arial"/>
              </a:rPr>
              <a:t>Extra decisions</a:t>
            </a:r>
          </a:p>
        </p:txBody>
      </p:sp>
      <p:sp>
        <p:nvSpPr>
          <p:cNvPr id="5" name="">
            <a:extLst xmlns:a="http://schemas.openxmlformats.org/drawingml/2006/main">
              <a:ext uri="{FF2B5EF4-FFF2-40B4-BE49-F238E27FC236}">
                <a16:creationId xmlns:a16="http://schemas.microsoft.com/office/drawing/2014/main" id="{E30CE951-0623-4896-A5C2-6E55F1CEF383}"/>
              </a:ext>
            </a:extLst>
          </p:cNvPr>
          <p:cNvSpPr>
            <a:spLocks xmlns:a="http://schemas.openxmlformats.org/drawingml/2006/main" noGrp="1"/>
          </p:cNvSpPr>
          <p:nvPr/>
        </p:nvSpPr>
        <p:spPr>
          <a:xfrm xmlns:a="http://schemas.openxmlformats.org/drawingml/2006/main">
            <a:off x="6610350" y="2419350"/>
            <a:ext cx="497205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Chat template and tokenization</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Target modules and sequence length</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Hardware / library compatibility</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Task-specific evaluation</a:t>
            </a:r>
          </a:p>
          <a:p xmlns:a="http://schemas.openxmlformats.org/drawingml/2006/main">
            <a:pPr>
              <a:defRPr sz="2250" b="0">
                <a:solidFill>
                  <a:srgbClr val="FFF9ED"/>
                </a:solidFill>
                <a:latin typeface="Arial"/>
                <a:ea typeface="Arial"/>
                <a:cs typeface="Arial"/>
              </a:defRPr>
            </a:pPr>
            <a:r>
              <a:rPr sz="2250" b="0">
                <a:solidFill>
                  <a:srgbClr val="FFF9ED"/>
                </a:solidFill>
                <a:latin typeface="Arial"/>
                <a:ea typeface="Arial"/>
                <a:cs typeface="Arial"/>
              </a:rPr>
              <a:t>Adapter loading or merge strategy</a:t>
            </a:r>
          </a:p>
        </p:txBody>
      </p:sp>
      <p:sp>
        <p:nvSpPr>
          <p:cNvPr id="6" name="">
            <a:extLst xmlns:a="http://schemas.openxmlformats.org/drawingml/2006/main">
              <a:ext uri="{FF2B5EF4-FFF2-40B4-BE49-F238E27FC236}">
                <a16:creationId xmlns:a16="http://schemas.microsoft.com/office/drawing/2014/main" id="{D6FB70E7-7B85-47D2-8C43-3929F440A6BF}"/>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Extension recipe. The main classifier demo uses ordinary LoRA.</a:t>
            </a:r>
          </a:p>
        </p:txBody>
      </p:sp>
      <p:sp>
        <p:nvSpPr>
          <p:cNvPr id="7" name="">
            <a:extLst xmlns:a="http://schemas.openxmlformats.org/drawingml/2006/main">
              <a:ext uri="{FF2B5EF4-FFF2-40B4-BE49-F238E27FC236}">
                <a16:creationId xmlns:a16="http://schemas.microsoft.com/office/drawing/2014/main" id="{0D7A7845-8B5B-45D5-B003-B85EC63AF02F}"/>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19</a:t>
            </a:r>
          </a:p>
        </p:txBody>
      </p:sp>
    </p:spTree>
    <p:extLst>
      <p:ext uri="{BB962C8B-B14F-4D97-AF65-F5344CB8AC3E}">
        <p14:creationId xmlns:p14="http://schemas.microsoft.com/office/powerpoint/2010/main" val="11283441"/>
      </p:ext>
    </p:extLst>
  </p:cSld>
</p:sld>
</file>

<file path=ppt/slides/slide20.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B800AB-196C-471A-9658-BFA7C8689589}"/>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Appendix: what a second GPU solves</a:t>
            </a:r>
          </a:p>
        </p:txBody>
      </p:sp>
      <p:graphicFrame>
        <p:nvGraphicFramePr>
          <p:cNvPr id="6" name=""/>
          <p:cNvGraphicFramePr/>
          <p:nvPr/>
        </p:nvGraphicFramePr>
        <p:xfrm>
          <a:off xmlns:a="http://schemas.openxmlformats.org/drawingml/2006/main" x="609600" y="1695450"/>
          <a:ext xmlns:a="http://schemas.openxmlformats.org/drawingml/2006/main" cx="10972800" cy="3752850"/>
        </p:xfrm>
        <a:graphic xmlns:a="http://schemas.openxmlformats.org/drawingml/2006/main">
          <a:graphicData uri="http://schemas.openxmlformats.org/drawingml/2006/table">
            <a:tbl>
              <a:tblPr/>
              <a:tblGrid>
                <a:gridCol w="2714625"/>
                <a:gridCol w="3857625"/>
                <a:gridCol w="4400550"/>
              </a:tblGrid>
              <a:tr h="750570">
                <a:tc>
                  <a:txBody>
                    <a:bodyPr/>
                    <a:lstStyle/>
                    <a:p>
                      <a:r>
                        <a:rPr sz="2025" b="1">
                          <a:solidFill>
                            <a:srgbClr val="FFD21E"/>
                          </a:solidFill>
                          <a:latin typeface="Arial"/>
                          <a:ea typeface="Arial"/>
                          <a:cs typeface="Arial"/>
                        </a:rPr>
                        <a:t>Need</a:t>
                      </a:r>
                    </a:p>
                  </a:txBody>
                  <a:tcPr marL="133350" marR="152400" marT="95250" marB="95250" anchor="ctr">
                    <a:solidFill>
                      <a:srgbClr val="20242E"/>
                    </a:solidFill>
                  </a:tcPr>
                </a:tc>
                <a:tc>
                  <a:txBody>
                    <a:bodyPr/>
                    <a:lstStyle/>
                    <a:p>
                      <a:r>
                        <a:rPr sz="2025" b="1">
                          <a:solidFill>
                            <a:srgbClr val="FFD21E"/>
                          </a:solidFill>
                          <a:latin typeface="Arial"/>
                          <a:ea typeface="Arial"/>
                          <a:cs typeface="Arial"/>
                        </a:rPr>
                        <a:t>Strategy</a:t>
                      </a:r>
                    </a:p>
                  </a:txBody>
                  <a:tcPr marL="133350" marR="152400" marT="95250" marB="95250" anchor="ctr">
                    <a:solidFill>
                      <a:srgbClr val="20242E"/>
                    </a:solidFill>
                  </a:tcPr>
                </a:tc>
                <a:tc>
                  <a:txBody>
                    <a:bodyPr/>
                    <a:lstStyle/>
                    <a:p>
                      <a:r>
                        <a:rPr sz="2025" b="1">
                          <a:solidFill>
                            <a:srgbClr val="FFD21E"/>
                          </a:solidFill>
                          <a:latin typeface="Arial"/>
                          <a:ea typeface="Arial"/>
                          <a:cs typeface="Arial"/>
                        </a:rPr>
                        <a:t>Important limit</a:t>
                      </a:r>
                    </a:p>
                  </a:txBody>
                  <a:tcPr marL="133350" marR="152400" marT="95250" marB="95250" anchor="ctr">
                    <a:solidFill>
                      <a:srgbClr val="20242E"/>
                    </a:solidFill>
                  </a:tcPr>
                </a:tc>
              </a:tr>
              <a:tr h="750570">
                <a:tc>
                  <a:txBody>
                    <a:bodyPr/>
                    <a:lstStyle/>
                    <a:p>
                      <a:r>
                        <a:rPr sz="1950">
                          <a:solidFill>
                            <a:srgbClr val="FFF9ED"/>
                          </a:solidFill>
                          <a:latin typeface="Arial"/>
                          <a:ea typeface="Arial"/>
                          <a:cs typeface="Arial"/>
                        </a:rPr>
                        <a:t>Train faster, model fits</a:t>
                      </a:r>
                    </a:p>
                  </a:txBody>
                  <a:tcPr marL="133350" marR="152400" marT="95250" marB="95250" anchor="ctr">
                    <a:solidFill>
                      <a:srgbClr val="151820"/>
                    </a:solidFill>
                  </a:tcPr>
                </a:tc>
                <a:tc>
                  <a:txBody>
                    <a:bodyPr/>
                    <a:lstStyle/>
                    <a:p>
                      <a:r>
                        <a:rPr sz="1950">
                          <a:solidFill>
                            <a:srgbClr val="FFF9ED"/>
                          </a:solidFill>
                          <a:latin typeface="Arial"/>
                          <a:ea typeface="Arial"/>
                          <a:cs typeface="Arial"/>
                        </a:rPr>
                        <a:t>Distributed data parallel</a:t>
                      </a:r>
                    </a:p>
                  </a:txBody>
                  <a:tcPr marL="133350" marR="152400" marT="95250" marB="95250" anchor="ctr">
                    <a:solidFill>
                      <a:srgbClr val="151820"/>
                    </a:solidFill>
                  </a:tcPr>
                </a:tc>
                <a:tc>
                  <a:txBody>
                    <a:bodyPr/>
                    <a:lstStyle/>
                    <a:p>
                      <a:r>
                        <a:rPr sz="1950">
                          <a:solidFill>
                            <a:srgbClr val="FFF9ED"/>
                          </a:solidFill>
                          <a:latin typeface="Arial"/>
                          <a:ea typeface="Arial"/>
                          <a:cs typeface="Arial"/>
                        </a:rPr>
                        <a:t>Model copy per GPU, communication</a:t>
                      </a:r>
                    </a:p>
                  </a:txBody>
                  <a:tcPr marL="133350" marR="152400" marT="95250" marB="95250" anchor="ctr">
                    <a:solidFill>
                      <a:srgbClr val="151820"/>
                    </a:solidFill>
                  </a:tcPr>
                </a:tc>
              </a:tr>
              <a:tr h="750570">
                <a:tc>
                  <a:txBody>
                    <a:bodyPr/>
                    <a:lstStyle/>
                    <a:p>
                      <a:r>
                        <a:rPr sz="1950">
                          <a:solidFill>
                            <a:srgbClr val="FFF9ED"/>
                          </a:solidFill>
                          <a:latin typeface="Arial"/>
                          <a:ea typeface="Arial"/>
                          <a:cs typeface="Arial"/>
                        </a:rPr>
                        <a:t>Train a larger model</a:t>
                      </a:r>
                    </a:p>
                  </a:txBody>
                  <a:tcPr marL="133350" marR="152400" marT="95250" marB="95250" anchor="ctr">
                    <a:solidFill>
                      <a:srgbClr val="20242E"/>
                    </a:solidFill>
                  </a:tcPr>
                </a:tc>
                <a:tc>
                  <a:txBody>
                    <a:bodyPr/>
                    <a:lstStyle/>
                    <a:p>
                      <a:r>
                        <a:rPr sz="1950">
                          <a:solidFill>
                            <a:srgbClr val="FFF9ED"/>
                          </a:solidFill>
                          <a:latin typeface="Arial"/>
                          <a:ea typeface="Arial"/>
                          <a:cs typeface="Arial"/>
                        </a:rPr>
                        <a:t>FSDP / DeepSpeed sharding</a:t>
                      </a:r>
                    </a:p>
                  </a:txBody>
                  <a:tcPr marL="133350" marR="152400" marT="95250" marB="95250" anchor="ctr">
                    <a:solidFill>
                      <a:srgbClr val="20242E"/>
                    </a:solidFill>
                  </a:tcPr>
                </a:tc>
                <a:tc>
                  <a:txBody>
                    <a:bodyPr/>
                    <a:lstStyle/>
                    <a:p>
                      <a:r>
                        <a:rPr sz="1950">
                          <a:solidFill>
                            <a:srgbClr val="FFF9ED"/>
                          </a:solidFill>
                          <a:latin typeface="Arial"/>
                          <a:ea typeface="Arial"/>
                          <a:cs typeface="Arial"/>
                        </a:rPr>
                        <a:t>Configuration and interconnect</a:t>
                      </a:r>
                    </a:p>
                  </a:txBody>
                  <a:tcPr marL="133350" marR="152400" marT="95250" marB="95250" anchor="ctr">
                    <a:solidFill>
                      <a:srgbClr val="20242E"/>
                    </a:solidFill>
                  </a:tcPr>
                </a:tc>
              </a:tr>
              <a:tr h="750570">
                <a:tc>
                  <a:txBody>
                    <a:bodyPr/>
                    <a:lstStyle/>
                    <a:p>
                      <a:r>
                        <a:rPr sz="1950">
                          <a:solidFill>
                            <a:srgbClr val="FFF9ED"/>
                          </a:solidFill>
                          <a:latin typeface="Arial"/>
                          <a:ea typeface="Arial"/>
                          <a:cs typeface="Arial"/>
                        </a:rPr>
                        <a:t>Serve a large LLM</a:t>
                      </a:r>
                    </a:p>
                  </a:txBody>
                  <a:tcPr marL="133350" marR="152400" marT="95250" marB="95250" anchor="ctr">
                    <a:solidFill>
                      <a:srgbClr val="151820"/>
                    </a:solidFill>
                  </a:tcPr>
                </a:tc>
                <a:tc>
                  <a:txBody>
                    <a:bodyPr/>
                    <a:lstStyle/>
                    <a:p>
                      <a:r>
                        <a:rPr sz="1950">
                          <a:solidFill>
                            <a:srgbClr val="FFF9ED"/>
                          </a:solidFill>
                          <a:latin typeface="Arial"/>
                          <a:ea typeface="Arial"/>
                          <a:cs typeface="Arial"/>
                        </a:rPr>
                        <a:t>Tensor / pipeline parallelism</a:t>
                      </a:r>
                    </a:p>
                  </a:txBody>
                  <a:tcPr marL="133350" marR="152400" marT="95250" marB="95250" anchor="ctr">
                    <a:solidFill>
                      <a:srgbClr val="151820"/>
                    </a:solidFill>
                  </a:tcPr>
                </a:tc>
                <a:tc>
                  <a:txBody>
                    <a:bodyPr/>
                    <a:lstStyle/>
                    <a:p>
                      <a:r>
                        <a:rPr sz="1950">
                          <a:solidFill>
                            <a:srgbClr val="FFF9ED"/>
                          </a:solidFill>
                          <a:latin typeface="Arial"/>
                          <a:ea typeface="Arial"/>
                          <a:cs typeface="Arial"/>
                        </a:rPr>
                        <a:t>KV cache and runtime support</a:t>
                      </a:r>
                    </a:p>
                  </a:txBody>
                  <a:tcPr marL="133350" marR="152400" marT="95250" marB="95250" anchor="ctr">
                    <a:solidFill>
                      <a:srgbClr val="151820"/>
                    </a:solidFill>
                  </a:tcPr>
                </a:tc>
              </a:tr>
              <a:tr h="750570">
                <a:tc>
                  <a:txBody>
                    <a:bodyPr/>
                    <a:lstStyle/>
                    <a:p>
                      <a:r>
                        <a:rPr sz="1950">
                          <a:solidFill>
                            <a:srgbClr val="FFF9ED"/>
                          </a:solidFill>
                          <a:latin typeface="Arial"/>
                          <a:ea typeface="Arial"/>
                          <a:cs typeface="Arial"/>
                        </a:rPr>
                        <a:t>Serve more requests</a:t>
                      </a:r>
                    </a:p>
                  </a:txBody>
                  <a:tcPr marL="133350" marR="152400" marT="95250" marB="95250" anchor="ctr">
                    <a:solidFill>
                      <a:srgbClr val="20242E"/>
                    </a:solidFill>
                  </a:tcPr>
                </a:tc>
                <a:tc>
                  <a:txBody>
                    <a:bodyPr/>
                    <a:lstStyle/>
                    <a:p>
                      <a:r>
                        <a:rPr sz="1950">
                          <a:solidFill>
                            <a:srgbClr val="FFF9ED"/>
                          </a:solidFill>
                          <a:latin typeface="Arial"/>
                          <a:ea typeface="Arial"/>
                          <a:cs typeface="Arial"/>
                        </a:rPr>
                        <a:t>Replicas and batching</a:t>
                      </a:r>
                    </a:p>
                  </a:txBody>
                  <a:tcPr marL="133350" marR="152400" marT="95250" marB="95250" anchor="ctr">
                    <a:solidFill>
                      <a:srgbClr val="20242E"/>
                    </a:solidFill>
                  </a:tcPr>
                </a:tc>
                <a:tc>
                  <a:txBody>
                    <a:bodyPr/>
                    <a:lstStyle/>
                    <a:p>
                      <a:r>
                        <a:rPr sz="1950">
                          <a:solidFill>
                            <a:srgbClr val="FFF9ED"/>
                          </a:solidFill>
                          <a:latin typeface="Arial"/>
                          <a:ea typeface="Arial"/>
                          <a:cs typeface="Arial"/>
                        </a:rPr>
                        <a:t>Tail latency under concurrency</a:t>
                      </a:r>
                    </a:p>
                  </a:txBody>
                  <a:tcPr marL="133350" marR="152400" marT="95250" marB="95250" anchor="ctr">
                    <a:solidFill>
                      <a:srgbClr val="20242E"/>
                    </a:solidFill>
                  </a:tcPr>
                </a:tc>
              </a:tr>
            </a:tbl>
          </a:graphicData>
        </a:graphic>
      </p:graphicFrame>
      <p:sp>
        <p:nvSpPr>
          <p:cNvPr id="3" name="">
            <a:extLst xmlns:a="http://schemas.openxmlformats.org/drawingml/2006/main">
              <a:ext uri="{FF2B5EF4-FFF2-40B4-BE49-F238E27FC236}">
                <a16:creationId xmlns:a16="http://schemas.microsoft.com/office/drawing/2014/main" id="{5D04431F-87C3-4A1A-AF2E-D177ECB5D4E2}"/>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accelerate launch and vllm serve solve different stages.</a:t>
            </a:r>
          </a:p>
        </p:txBody>
      </p:sp>
      <p:sp>
        <p:nvSpPr>
          <p:cNvPr id="4" name="">
            <a:extLst xmlns:a="http://schemas.openxmlformats.org/drawingml/2006/main">
              <a:ext uri="{FF2B5EF4-FFF2-40B4-BE49-F238E27FC236}">
                <a16:creationId xmlns:a16="http://schemas.microsoft.com/office/drawing/2014/main" id="{179C5CB5-0786-4C7C-A74C-F47172A93F5C}"/>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20</a:t>
            </a:r>
          </a:p>
        </p:txBody>
      </p:sp>
    </p:spTree>
    <p:extLst>
      <p:ext uri="{BB962C8B-B14F-4D97-AF65-F5344CB8AC3E}">
        <p14:creationId xmlns:p14="http://schemas.microsoft.com/office/powerpoint/2010/main" val="1142441564"/>
      </p:ext>
    </p:extLst>
  </p:cSld>
</p:sld>
</file>

<file path=ppt/slides/slide21.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445548-7898-4855-87FF-D660237EFA00}"/>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Appendix: evaluation follows the task</a:t>
            </a:r>
          </a:p>
        </p:txBody>
      </p:sp>
      <p:graphicFrame>
        <p:nvGraphicFramePr>
          <p:cNvPr id="6" name=""/>
          <p:cNvGraphicFramePr/>
          <p:nvPr/>
        </p:nvGraphicFramePr>
        <p:xfrm>
          <a:off xmlns:a="http://schemas.openxmlformats.org/drawingml/2006/main" x="609600" y="1695450"/>
          <a:ext xmlns:a="http://schemas.openxmlformats.org/drawingml/2006/main" cx="10972800" cy="3752850"/>
        </p:xfrm>
        <a:graphic xmlns:a="http://schemas.openxmlformats.org/drawingml/2006/main">
          <a:graphicData uri="http://schemas.openxmlformats.org/drawingml/2006/table">
            <a:tbl>
              <a:tblPr/>
              <a:tblGrid>
                <a:gridCol w="2714625"/>
                <a:gridCol w="3857625"/>
                <a:gridCol w="4400550"/>
              </a:tblGrid>
              <a:tr h="750570">
                <a:tc>
                  <a:txBody>
                    <a:bodyPr/>
                    <a:lstStyle/>
                    <a:p>
                      <a:r>
                        <a:rPr sz="2025" b="1">
                          <a:solidFill>
                            <a:srgbClr val="FFD21E"/>
                          </a:solidFill>
                          <a:latin typeface="Arial"/>
                          <a:ea typeface="Arial"/>
                          <a:cs typeface="Arial"/>
                        </a:rPr>
                        <a:t>Task</a:t>
                      </a:r>
                    </a:p>
                  </a:txBody>
                  <a:tcPr marL="133350" marR="152400" marT="95250" marB="95250" anchor="ctr">
                    <a:solidFill>
                      <a:srgbClr val="20242E"/>
                    </a:solidFill>
                  </a:tcPr>
                </a:tc>
                <a:tc>
                  <a:txBody>
                    <a:bodyPr/>
                    <a:lstStyle/>
                    <a:p>
                      <a:r>
                        <a:rPr sz="2025" b="1">
                          <a:solidFill>
                            <a:srgbClr val="FFD21E"/>
                          </a:solidFill>
                          <a:latin typeface="Arial"/>
                          <a:ea typeface="Arial"/>
                          <a:cs typeface="Arial"/>
                        </a:rPr>
                        <a:t>Useful evidence</a:t>
                      </a:r>
                    </a:p>
                  </a:txBody>
                  <a:tcPr marL="133350" marR="152400" marT="95250" marB="95250" anchor="ctr">
                    <a:solidFill>
                      <a:srgbClr val="20242E"/>
                    </a:solidFill>
                  </a:tcPr>
                </a:tc>
                <a:tc>
                  <a:txBody>
                    <a:bodyPr/>
                    <a:lstStyle/>
                    <a:p>
                      <a:r>
                        <a:rPr sz="2025" b="1">
                          <a:solidFill>
                            <a:srgbClr val="FFD21E"/>
                          </a:solidFill>
                          <a:latin typeface="Arial"/>
                          <a:ea typeface="Arial"/>
                          <a:cs typeface="Arial"/>
                        </a:rPr>
                        <a:t>Common blind spot</a:t>
                      </a:r>
                    </a:p>
                  </a:txBody>
                  <a:tcPr marL="133350" marR="152400" marT="95250" marB="95250" anchor="ctr">
                    <a:solidFill>
                      <a:srgbClr val="20242E"/>
                    </a:solidFill>
                  </a:tcPr>
                </a:tc>
              </a:tr>
              <a:tr h="750570">
                <a:tc>
                  <a:txBody>
                    <a:bodyPr/>
                    <a:lstStyle/>
                    <a:p>
                      <a:r>
                        <a:rPr sz="1950">
                          <a:solidFill>
                            <a:srgbClr val="FFF9ED"/>
                          </a:solidFill>
                          <a:latin typeface="Arial"/>
                          <a:ea typeface="Arial"/>
                          <a:cs typeface="Arial"/>
                        </a:rPr>
                        <a:t>Classification</a:t>
                      </a:r>
                    </a:p>
                  </a:txBody>
                  <a:tcPr marL="133350" marR="152400" marT="95250" marB="95250" anchor="ctr">
                    <a:solidFill>
                      <a:srgbClr val="151820"/>
                    </a:solidFill>
                  </a:tcPr>
                </a:tc>
                <a:tc>
                  <a:txBody>
                    <a:bodyPr/>
                    <a:lstStyle/>
                    <a:p>
                      <a:r>
                        <a:rPr sz="1950">
                          <a:solidFill>
                            <a:srgbClr val="FFF9ED"/>
                          </a:solidFill>
                          <a:latin typeface="Arial"/>
                          <a:ea typeface="Arial"/>
                          <a:cs typeface="Arial"/>
                        </a:rPr>
                        <a:t>Macro-F1, recall by class, confusion</a:t>
                      </a:r>
                    </a:p>
                  </a:txBody>
                  <a:tcPr marL="133350" marR="152400" marT="95250" marB="95250" anchor="ctr">
                    <a:solidFill>
                      <a:srgbClr val="151820"/>
                    </a:solidFill>
                  </a:tcPr>
                </a:tc>
                <a:tc>
                  <a:txBody>
                    <a:bodyPr/>
                    <a:lstStyle/>
                    <a:p>
                      <a:r>
                        <a:rPr sz="1950">
                          <a:solidFill>
                            <a:srgbClr val="FFF9ED"/>
                          </a:solidFill>
                          <a:latin typeface="Arial"/>
                          <a:ea typeface="Arial"/>
                          <a:cs typeface="Arial"/>
                        </a:rPr>
                        <a:t>Rare classes and distribution shift</a:t>
                      </a:r>
                    </a:p>
                  </a:txBody>
                  <a:tcPr marL="133350" marR="152400" marT="95250" marB="95250" anchor="ctr">
                    <a:solidFill>
                      <a:srgbClr val="151820"/>
                    </a:solidFill>
                  </a:tcPr>
                </a:tc>
              </a:tr>
              <a:tr h="750570">
                <a:tc>
                  <a:txBody>
                    <a:bodyPr/>
                    <a:lstStyle/>
                    <a:p>
                      <a:r>
                        <a:rPr sz="1950">
                          <a:solidFill>
                            <a:srgbClr val="FFF9ED"/>
                          </a:solidFill>
                          <a:latin typeface="Arial"/>
                          <a:ea typeface="Arial"/>
                          <a:cs typeface="Arial"/>
                        </a:rPr>
                        <a:t>Retrieval / RAG</a:t>
                      </a:r>
                    </a:p>
                  </a:txBody>
                  <a:tcPr marL="133350" marR="152400" marT="95250" marB="95250" anchor="ctr">
                    <a:solidFill>
                      <a:srgbClr val="20242E"/>
                    </a:solidFill>
                  </a:tcPr>
                </a:tc>
                <a:tc>
                  <a:txBody>
                    <a:bodyPr/>
                    <a:lstStyle/>
                    <a:p>
                      <a:r>
                        <a:rPr sz="1950">
                          <a:solidFill>
                            <a:srgbClr val="FFF9ED"/>
                          </a:solidFill>
                          <a:latin typeface="Arial"/>
                          <a:ea typeface="Arial"/>
                          <a:cs typeface="Arial"/>
                        </a:rPr>
                        <a:t>Recall@k, answer support, citations</a:t>
                      </a:r>
                    </a:p>
                  </a:txBody>
                  <a:tcPr marL="133350" marR="152400" marT="95250" marB="95250" anchor="ctr">
                    <a:solidFill>
                      <a:srgbClr val="20242E"/>
                    </a:solidFill>
                  </a:tcPr>
                </a:tc>
                <a:tc>
                  <a:txBody>
                    <a:bodyPr/>
                    <a:lstStyle/>
                    <a:p>
                      <a:r>
                        <a:rPr sz="1950">
                          <a:solidFill>
                            <a:srgbClr val="FFF9ED"/>
                          </a:solidFill>
                          <a:latin typeface="Arial"/>
                          <a:ea typeface="Arial"/>
                          <a:cs typeface="Arial"/>
                        </a:rPr>
                        <a:t>Correct answer from wrong evidence</a:t>
                      </a:r>
                    </a:p>
                  </a:txBody>
                  <a:tcPr marL="133350" marR="152400" marT="95250" marB="95250" anchor="ctr">
                    <a:solidFill>
                      <a:srgbClr val="20242E"/>
                    </a:solidFill>
                  </a:tcPr>
                </a:tc>
              </a:tr>
              <a:tr h="750570">
                <a:tc>
                  <a:txBody>
                    <a:bodyPr/>
                    <a:lstStyle/>
                    <a:p>
                      <a:r>
                        <a:rPr sz="1950">
                          <a:solidFill>
                            <a:srgbClr val="FFF9ED"/>
                          </a:solidFill>
                          <a:latin typeface="Arial"/>
                          <a:ea typeface="Arial"/>
                          <a:cs typeface="Arial"/>
                        </a:rPr>
                        <a:t>Structured generation</a:t>
                      </a:r>
                    </a:p>
                  </a:txBody>
                  <a:tcPr marL="133350" marR="152400" marT="95250" marB="95250" anchor="ctr">
                    <a:solidFill>
                      <a:srgbClr val="151820"/>
                    </a:solidFill>
                  </a:tcPr>
                </a:tc>
                <a:tc>
                  <a:txBody>
                    <a:bodyPr/>
                    <a:lstStyle/>
                    <a:p>
                      <a:r>
                        <a:rPr sz="1950">
                          <a:solidFill>
                            <a:srgbClr val="FFF9ED"/>
                          </a:solidFill>
                          <a:latin typeface="Arial"/>
                          <a:ea typeface="Arial"/>
                          <a:cs typeface="Arial"/>
                        </a:rPr>
                        <a:t>Schema validity, exact field match</a:t>
                      </a:r>
                    </a:p>
                  </a:txBody>
                  <a:tcPr marL="133350" marR="152400" marT="95250" marB="95250" anchor="ctr">
                    <a:solidFill>
                      <a:srgbClr val="151820"/>
                    </a:solidFill>
                  </a:tcPr>
                </a:tc>
                <a:tc>
                  <a:txBody>
                    <a:bodyPr/>
                    <a:lstStyle/>
                    <a:p>
                      <a:r>
                        <a:rPr sz="1950">
                          <a:solidFill>
                            <a:srgbClr val="FFF9ED"/>
                          </a:solidFill>
                          <a:latin typeface="Arial"/>
                          <a:ea typeface="Arial"/>
                          <a:cs typeface="Arial"/>
                        </a:rPr>
                        <a:t>Valid JSON with incorrect values</a:t>
                      </a:r>
                    </a:p>
                  </a:txBody>
                  <a:tcPr marL="133350" marR="152400" marT="95250" marB="95250" anchor="ctr">
                    <a:solidFill>
                      <a:srgbClr val="151820"/>
                    </a:solidFill>
                  </a:tcPr>
                </a:tc>
              </a:tr>
              <a:tr h="750570">
                <a:tc>
                  <a:txBody>
                    <a:bodyPr/>
                    <a:lstStyle/>
                    <a:p>
                      <a:r>
                        <a:rPr sz="1950">
                          <a:solidFill>
                            <a:srgbClr val="FFF9ED"/>
                          </a:solidFill>
                          <a:latin typeface="Arial"/>
                          <a:ea typeface="Arial"/>
                          <a:cs typeface="Arial"/>
                        </a:rPr>
                        <a:t>Open-ended generation</a:t>
                      </a:r>
                    </a:p>
                  </a:txBody>
                  <a:tcPr marL="133350" marR="152400" marT="95250" marB="95250" anchor="ctr">
                    <a:solidFill>
                      <a:srgbClr val="20242E"/>
                    </a:solidFill>
                  </a:tcPr>
                </a:tc>
                <a:tc>
                  <a:txBody>
                    <a:bodyPr/>
                    <a:lstStyle/>
                    <a:p>
                      <a:r>
                        <a:rPr sz="1950">
                          <a:solidFill>
                            <a:srgbClr val="FFF9ED"/>
                          </a:solidFill>
                          <a:latin typeface="Arial"/>
                          <a:ea typeface="Arial"/>
                          <a:cs typeface="Arial"/>
                        </a:rPr>
                        <a:t>Task rubrics, human review, calibrated judges</a:t>
                      </a:r>
                    </a:p>
                  </a:txBody>
                  <a:tcPr marL="133350" marR="152400" marT="95250" marB="95250" anchor="ctr">
                    <a:solidFill>
                      <a:srgbClr val="20242E"/>
                    </a:solidFill>
                  </a:tcPr>
                </a:tc>
                <a:tc>
                  <a:txBody>
                    <a:bodyPr/>
                    <a:lstStyle/>
                    <a:p>
                      <a:r>
                        <a:rPr sz="1950">
                          <a:solidFill>
                            <a:srgbClr val="FFF9ED"/>
                          </a:solidFill>
                          <a:latin typeface="Arial"/>
                          <a:ea typeface="Arial"/>
                          <a:cs typeface="Arial"/>
                        </a:rPr>
                        <a:t>Judge bias and unstable prompts</a:t>
                      </a:r>
                    </a:p>
                  </a:txBody>
                  <a:tcPr marL="133350" marR="152400" marT="95250" marB="95250" anchor="ctr">
                    <a:solidFill>
                      <a:srgbClr val="20242E"/>
                    </a:solidFill>
                  </a:tcPr>
                </a:tc>
              </a:tr>
            </a:tbl>
          </a:graphicData>
        </a:graphic>
      </p:graphicFrame>
      <p:sp>
        <p:nvSpPr>
          <p:cNvPr id="3" name="">
            <a:extLst xmlns:a="http://schemas.openxmlformats.org/drawingml/2006/main">
              <a:ext uri="{FF2B5EF4-FFF2-40B4-BE49-F238E27FC236}">
                <a16:creationId xmlns:a16="http://schemas.microsoft.com/office/drawing/2014/main" id="{C404341A-2C4A-4FEF-9E12-B18540B33BFD}"/>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LightEval helps run LLM evaluations. The release policy remains yours.</a:t>
            </a:r>
          </a:p>
        </p:txBody>
      </p:sp>
      <p:sp>
        <p:nvSpPr>
          <p:cNvPr id="4" name="">
            <a:extLst xmlns:a="http://schemas.openxmlformats.org/drawingml/2006/main">
              <a:ext uri="{FF2B5EF4-FFF2-40B4-BE49-F238E27FC236}">
                <a16:creationId xmlns:a16="http://schemas.microsoft.com/office/drawing/2014/main" id="{7422ADEC-915C-4F2E-8C20-B5BD2C951C3A}"/>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21</a:t>
            </a:r>
          </a:p>
        </p:txBody>
      </p:sp>
    </p:spTree>
    <p:extLst>
      <p:ext uri="{BB962C8B-B14F-4D97-AF65-F5344CB8AC3E}">
        <p14:creationId xmlns:p14="http://schemas.microsoft.com/office/powerpoint/2010/main" val="613288384"/>
      </p:ext>
    </p:extLst>
  </p:cSld>
</p:sld>
</file>

<file path=ppt/slides/slide22.xml><?xml version="1.0" encoding="utf-8"?>
<p:sld xmlns:p="http://schemas.openxmlformats.org/presentationml/2006/main">
  <p:cSld>
    <p:bg>
      <p:bgPr>
        <a:solidFill xmlns:a="http://schemas.openxmlformats.org/drawingml/2006/main">
          <a:srgbClr val="15182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0BF508C-B205-45DA-AF7E-C693F989C889}"/>
              </a:ext>
            </a:extLst>
          </p:cNvPr>
          <p:cNvSpPr>
            <a:spLocks xmlns:a="http://schemas.openxmlformats.org/drawingml/2006/main" noGrp="1"/>
          </p:cNvSpPr>
          <p:nvPr/>
        </p:nvSpPr>
        <p:spPr>
          <a:xfrm xmlns:a="http://schemas.openxmlformats.org/drawingml/2006/main">
            <a:off x="609600" y="51435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FFF9ED"/>
                </a:solidFill>
                <a:latin typeface="Arial"/>
                <a:ea typeface="Arial"/>
                <a:cs typeface="Arial"/>
              </a:defRPr>
            </a:pPr>
            <a:r>
              <a:rPr sz="3450" b="1">
                <a:solidFill>
                  <a:srgbClr val="FFF9ED"/>
                </a:solidFill>
                <a:latin typeface="Arial"/>
                <a:ea typeface="Arial"/>
                <a:cs typeface="Arial"/>
              </a:rPr>
              <a:t>Appendix: useful starting points</a:t>
            </a:r>
          </a:p>
        </p:txBody>
      </p:sp>
      <p:sp>
        <p:nvSpPr>
          <p:cNvPr id="2" name="">
            <a:extLst xmlns:a="http://schemas.openxmlformats.org/drawingml/2006/main">
              <a:ext uri="{FF2B5EF4-FFF2-40B4-BE49-F238E27FC236}">
                <a16:creationId xmlns:a16="http://schemas.microsoft.com/office/drawing/2014/main" id="{06E96627-FABE-4E3A-9940-23764F4E6CA9}"/>
              </a:ext>
            </a:extLst>
          </p:cNvPr>
          <p:cNvSpPr>
            <a:spLocks xmlns:a="http://schemas.openxmlformats.org/drawingml/2006/main" noGrp="1"/>
          </p:cNvSpPr>
          <p:nvPr/>
        </p:nvSpPr>
        <p:spPr>
          <a:xfrm xmlns:a="http://schemas.openxmlformats.org/drawingml/2006/main">
            <a:off x="609600" y="1714500"/>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Your speaker’s models and datasets</a:t>
            </a:r>
          </a:p>
        </p:txBody>
      </p:sp>
      <p:sp>
        <p:nvSpPr>
          <p:cNvPr id="3" name="">
            <a:extLst xmlns:a="http://schemas.openxmlformats.org/drawingml/2006/main">
              <a:ext uri="{FF2B5EF4-FFF2-40B4-BE49-F238E27FC236}">
                <a16:creationId xmlns:a16="http://schemas.microsoft.com/office/drawing/2014/main" id="{95656F46-8AF0-4C58-B70E-D740889598B7}"/>
              </a:ext>
            </a:extLst>
          </p:cNvPr>
          <p:cNvSpPr>
            <a:spLocks xmlns:a="http://schemas.openxmlformats.org/drawingml/2006/main" noGrp="1"/>
          </p:cNvSpPr>
          <p:nvPr/>
        </p:nvSpPr>
        <p:spPr>
          <a:xfrm xmlns:a="http://schemas.openxmlformats.org/drawingml/2006/main">
            <a:off x="5019675" y="1714500"/>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9ED"/>
                </a:solidFill>
                <a:latin typeface="Arial"/>
                <a:ea typeface="Arial"/>
                <a:cs typeface="Arial"/>
              </a:defRPr>
            </a:pPr>
            <a:r>
              <a:rPr sz="2025" b="0">
                <a:solidFill>
                  <a:srgbClr val="FFF9ED"/>
                </a:solidFill>
                <a:latin typeface="Arial"/>
                <a:ea typeface="Arial"/>
                <a:cs typeface="Arial"/>
              </a:rPr>
              <a:t>huggingface.co/Jemsbhai</a:t>
            </a:r>
          </a:p>
        </p:txBody>
      </p:sp>
      <p:sp>
        <p:nvSpPr>
          <p:cNvPr id="4" name="">
            <a:extLst xmlns:a="http://schemas.openxmlformats.org/drawingml/2006/main">
              <a:ext uri="{FF2B5EF4-FFF2-40B4-BE49-F238E27FC236}">
                <a16:creationId xmlns:a16="http://schemas.microsoft.com/office/drawing/2014/main" id="{99E94F49-99F2-4B41-B160-1AD2CA492D0A}"/>
              </a:ext>
            </a:extLst>
          </p:cNvPr>
          <p:cNvSpPr>
            <a:spLocks xmlns:a="http://schemas.openxmlformats.org/drawingml/2006/main" noGrp="1"/>
          </p:cNvSpPr>
          <p:nvPr/>
        </p:nvSpPr>
        <p:spPr>
          <a:xfrm xmlns:a="http://schemas.openxmlformats.org/drawingml/2006/main">
            <a:off x="609600" y="2486025"/>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Adapter training</a:t>
            </a:r>
          </a:p>
        </p:txBody>
      </p:sp>
      <p:sp>
        <p:nvSpPr>
          <p:cNvPr id="5" name="">
            <a:extLst xmlns:a="http://schemas.openxmlformats.org/drawingml/2006/main">
              <a:ext uri="{FF2B5EF4-FFF2-40B4-BE49-F238E27FC236}">
                <a16:creationId xmlns:a16="http://schemas.microsoft.com/office/drawing/2014/main" id="{E7666EDC-4E67-42B2-B208-62DC27C50758}"/>
              </a:ext>
            </a:extLst>
          </p:cNvPr>
          <p:cNvSpPr>
            <a:spLocks xmlns:a="http://schemas.openxmlformats.org/drawingml/2006/main" noGrp="1"/>
          </p:cNvSpPr>
          <p:nvPr/>
        </p:nvSpPr>
        <p:spPr>
          <a:xfrm xmlns:a="http://schemas.openxmlformats.org/drawingml/2006/main">
            <a:off x="5019675" y="2486025"/>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9ED"/>
                </a:solidFill>
                <a:latin typeface="Arial"/>
                <a:ea typeface="Arial"/>
                <a:cs typeface="Arial"/>
              </a:defRPr>
            </a:pPr>
            <a:r>
              <a:rPr sz="2025" b="0">
                <a:solidFill>
                  <a:srgbClr val="FFF9ED"/>
                </a:solidFill>
                <a:latin typeface="Arial"/>
                <a:ea typeface="Arial"/>
                <a:cs typeface="Arial"/>
              </a:rPr>
              <a:t>huggingface.co/docs/peft</a:t>
            </a:r>
          </a:p>
        </p:txBody>
      </p:sp>
      <p:sp>
        <p:nvSpPr>
          <p:cNvPr id="6" name="">
            <a:extLst xmlns:a="http://schemas.openxmlformats.org/drawingml/2006/main">
              <a:ext uri="{FF2B5EF4-FFF2-40B4-BE49-F238E27FC236}">
                <a16:creationId xmlns:a16="http://schemas.microsoft.com/office/drawing/2014/main" id="{3388C9DB-81EB-47A4-9B82-1748728B4F3F}"/>
              </a:ext>
            </a:extLst>
          </p:cNvPr>
          <p:cNvSpPr>
            <a:spLocks xmlns:a="http://schemas.openxmlformats.org/drawingml/2006/main" noGrp="1"/>
          </p:cNvSpPr>
          <p:nvPr/>
        </p:nvSpPr>
        <p:spPr>
          <a:xfrm xmlns:a="http://schemas.openxmlformats.org/drawingml/2006/main">
            <a:off x="609600" y="3257550"/>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Training execution</a:t>
            </a:r>
          </a:p>
        </p:txBody>
      </p:sp>
      <p:sp>
        <p:nvSpPr>
          <p:cNvPr id="7" name="">
            <a:extLst xmlns:a="http://schemas.openxmlformats.org/drawingml/2006/main">
              <a:ext uri="{FF2B5EF4-FFF2-40B4-BE49-F238E27FC236}">
                <a16:creationId xmlns:a16="http://schemas.microsoft.com/office/drawing/2014/main" id="{20868F1A-AF0C-4E8E-AFFA-3625E252F922}"/>
              </a:ext>
            </a:extLst>
          </p:cNvPr>
          <p:cNvSpPr>
            <a:spLocks xmlns:a="http://schemas.openxmlformats.org/drawingml/2006/main" noGrp="1"/>
          </p:cNvSpPr>
          <p:nvPr/>
        </p:nvSpPr>
        <p:spPr>
          <a:xfrm xmlns:a="http://schemas.openxmlformats.org/drawingml/2006/main">
            <a:off x="5019675" y="3257550"/>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9ED"/>
                </a:solidFill>
                <a:latin typeface="Arial"/>
                <a:ea typeface="Arial"/>
                <a:cs typeface="Arial"/>
              </a:defRPr>
            </a:pPr>
            <a:r>
              <a:rPr sz="2025" b="0">
                <a:solidFill>
                  <a:srgbClr val="FFF9ED"/>
                </a:solidFill>
                <a:latin typeface="Arial"/>
                <a:ea typeface="Arial"/>
                <a:cs typeface="Arial"/>
              </a:rPr>
              <a:t>huggingface.co/docs/accelerate</a:t>
            </a:r>
          </a:p>
        </p:txBody>
      </p:sp>
      <p:sp>
        <p:nvSpPr>
          <p:cNvPr id="8" name="">
            <a:extLst xmlns:a="http://schemas.openxmlformats.org/drawingml/2006/main">
              <a:ext uri="{FF2B5EF4-FFF2-40B4-BE49-F238E27FC236}">
                <a16:creationId xmlns:a16="http://schemas.microsoft.com/office/drawing/2014/main" id="{4974F09B-7771-43EC-953E-D3112AC3CF4C}"/>
              </a:ext>
            </a:extLst>
          </p:cNvPr>
          <p:cNvSpPr>
            <a:spLocks xmlns:a="http://schemas.openxmlformats.org/drawingml/2006/main" noGrp="1"/>
          </p:cNvSpPr>
          <p:nvPr/>
        </p:nvSpPr>
        <p:spPr>
          <a:xfrm xmlns:a="http://schemas.openxmlformats.org/drawingml/2006/main">
            <a:off x="609600" y="4029075"/>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CPU export and quantization</a:t>
            </a:r>
          </a:p>
        </p:txBody>
      </p:sp>
      <p:sp>
        <p:nvSpPr>
          <p:cNvPr id="9" name="">
            <a:extLst xmlns:a="http://schemas.openxmlformats.org/drawingml/2006/main">
              <a:ext uri="{FF2B5EF4-FFF2-40B4-BE49-F238E27FC236}">
                <a16:creationId xmlns:a16="http://schemas.microsoft.com/office/drawing/2014/main" id="{33003BB1-FFA6-4AC7-A2CC-26F8E91DD87A}"/>
              </a:ext>
            </a:extLst>
          </p:cNvPr>
          <p:cNvSpPr>
            <a:spLocks xmlns:a="http://schemas.openxmlformats.org/drawingml/2006/main" noGrp="1"/>
          </p:cNvSpPr>
          <p:nvPr/>
        </p:nvSpPr>
        <p:spPr>
          <a:xfrm xmlns:a="http://schemas.openxmlformats.org/drawingml/2006/main">
            <a:off x="5019675" y="4029075"/>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9ED"/>
                </a:solidFill>
                <a:latin typeface="Arial"/>
                <a:ea typeface="Arial"/>
                <a:cs typeface="Arial"/>
              </a:defRPr>
            </a:pPr>
            <a:r>
              <a:rPr sz="2025" b="0">
                <a:solidFill>
                  <a:srgbClr val="FFF9ED"/>
                </a:solidFill>
                <a:latin typeface="Arial"/>
                <a:ea typeface="Arial"/>
                <a:cs typeface="Arial"/>
              </a:rPr>
              <a:t>huggingface.co/docs/optimum-onnx</a:t>
            </a:r>
          </a:p>
        </p:txBody>
      </p:sp>
      <p:sp>
        <p:nvSpPr>
          <p:cNvPr id="10" name="">
            <a:extLst xmlns:a="http://schemas.openxmlformats.org/drawingml/2006/main">
              <a:ext uri="{FF2B5EF4-FFF2-40B4-BE49-F238E27FC236}">
                <a16:creationId xmlns:a16="http://schemas.microsoft.com/office/drawing/2014/main" id="{84008222-181F-42C3-9FCD-BD5FC227777A}"/>
              </a:ext>
            </a:extLst>
          </p:cNvPr>
          <p:cNvSpPr>
            <a:spLocks xmlns:a="http://schemas.openxmlformats.org/drawingml/2006/main" noGrp="1"/>
          </p:cNvSpPr>
          <p:nvPr/>
        </p:nvSpPr>
        <p:spPr>
          <a:xfrm xmlns:a="http://schemas.openxmlformats.org/drawingml/2006/main">
            <a:off x="609600" y="4800600"/>
            <a:ext cx="407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FFD21E"/>
                </a:solidFill>
                <a:latin typeface="Arial"/>
                <a:ea typeface="Arial"/>
                <a:cs typeface="Arial"/>
              </a:defRPr>
            </a:pPr>
            <a:r>
              <a:rPr sz="2100" b="1">
                <a:solidFill>
                  <a:srgbClr val="FFD21E"/>
                </a:solidFill>
                <a:latin typeface="Arial"/>
                <a:ea typeface="Arial"/>
                <a:cs typeface="Arial"/>
              </a:rPr>
              <a:t>Hands-on courses</a:t>
            </a:r>
          </a:p>
        </p:txBody>
      </p:sp>
      <p:sp>
        <p:nvSpPr>
          <p:cNvPr id="11" name="">
            <a:extLst xmlns:a="http://schemas.openxmlformats.org/drawingml/2006/main">
              <a:ext uri="{FF2B5EF4-FFF2-40B4-BE49-F238E27FC236}">
                <a16:creationId xmlns:a16="http://schemas.microsoft.com/office/drawing/2014/main" id="{91D2DE7F-309C-4754-90A3-AA293BC8DA6D}"/>
              </a:ext>
            </a:extLst>
          </p:cNvPr>
          <p:cNvSpPr>
            <a:spLocks xmlns:a="http://schemas.openxmlformats.org/drawingml/2006/main" noGrp="1"/>
          </p:cNvSpPr>
          <p:nvPr/>
        </p:nvSpPr>
        <p:spPr>
          <a:xfrm xmlns:a="http://schemas.openxmlformats.org/drawingml/2006/main">
            <a:off x="5019675" y="4800600"/>
            <a:ext cx="6543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9ED"/>
                </a:solidFill>
                <a:latin typeface="Arial"/>
                <a:ea typeface="Arial"/>
                <a:cs typeface="Arial"/>
              </a:defRPr>
            </a:pPr>
            <a:r>
              <a:rPr sz="2025" b="0">
                <a:solidFill>
                  <a:srgbClr val="FFF9ED"/>
                </a:solidFill>
                <a:latin typeface="Arial"/>
                <a:ea typeface="Arial"/>
                <a:cs typeface="Arial"/>
              </a:rPr>
              <a:t>huggingface.co/learn</a:t>
            </a:r>
          </a:p>
        </p:txBody>
      </p:sp>
      <p:sp>
        <p:nvSpPr>
          <p:cNvPr id="12" name="">
            <a:extLst xmlns:a="http://schemas.openxmlformats.org/drawingml/2006/main">
              <a:ext uri="{FF2B5EF4-FFF2-40B4-BE49-F238E27FC236}">
                <a16:creationId xmlns:a16="http://schemas.microsoft.com/office/drawing/2014/main" id="{40A382B5-E54D-4768-B657-0345603FE1BF}"/>
              </a:ext>
            </a:extLst>
          </p:cNvPr>
          <p:cNvSpPr>
            <a:spLocks xmlns:a="http://schemas.openxmlformats.org/drawingml/2006/main" noGrp="1"/>
          </p:cNvSpPr>
          <p:nvPr/>
        </p:nvSpPr>
        <p:spPr>
          <a:xfrm xmlns:a="http://schemas.openxmlformats.org/drawingml/2006/main">
            <a:off x="609600" y="5953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B9BECA"/>
                </a:solidFill>
                <a:latin typeface="Arial"/>
                <a:ea typeface="Arial"/>
                <a:cs typeface="Arial"/>
              </a:defRPr>
            </a:pPr>
            <a:r>
              <a:rPr sz="1650" b="0">
                <a:solidFill>
                  <a:srgbClr val="B9BECA"/>
                </a:solidFill>
                <a:latin typeface="Arial"/>
                <a:ea typeface="Arial"/>
                <a:cs typeface="Arial"/>
              </a:rPr>
              <a:t>The companion handout includes direct links and exercises.</a:t>
            </a:r>
          </a:p>
        </p:txBody>
      </p:sp>
      <p:sp>
        <p:nvSpPr>
          <p:cNvPr id="13" name="">
            <a:extLst xmlns:a="http://schemas.openxmlformats.org/drawingml/2006/main">
              <a:ext uri="{FF2B5EF4-FFF2-40B4-BE49-F238E27FC236}">
                <a16:creationId xmlns:a16="http://schemas.microsoft.com/office/drawing/2014/main" id="{429B3502-1BFC-4543-9F89-F4AD89082E2B}"/>
              </a:ext>
            </a:extLst>
          </p:cNvPr>
          <p:cNvSpPr>
            <a:spLocks xmlns:a="http://schemas.openxmlformats.org/drawingml/2006/main" noGrp="1"/>
          </p:cNvSpPr>
          <p:nvPr/>
        </p:nvSpPr>
        <p:spPr>
          <a:xfrm xmlns:a="http://schemas.openxmlformats.org/drawingml/2006/main">
            <a:off x="114300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B9BECA"/>
                </a:solidFill>
                <a:latin typeface="Arial"/>
                <a:ea typeface="Arial"/>
                <a:cs typeface="Arial"/>
              </a:defRPr>
            </a:pPr>
            <a:r>
              <a:rPr sz="1350" b="0">
                <a:solidFill>
                  <a:srgbClr val="B9BECA"/>
                </a:solidFill>
                <a:latin typeface="Arial"/>
                <a:ea typeface="Arial"/>
                <a:cs typeface="Arial"/>
              </a:rPr>
              <a:t>22</a:t>
            </a:r>
          </a:p>
        </p:txBody>
      </p:sp>
    </p:spTree>
    <p:extLst>
      <p:ext uri="{BB962C8B-B14F-4D97-AF65-F5344CB8AC3E}">
        <p14:creationId xmlns:p14="http://schemas.microsoft.com/office/powerpoint/2010/main" val="14024635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2026-09-17T18:21:58.2140000Z</dcterms:created>
  <dcterms:modified xsi:type="dcterms:W3CDTF">2026-09-17T18:21:58.2140000Z</dcterms:modified>
</coreProperties>
</file>